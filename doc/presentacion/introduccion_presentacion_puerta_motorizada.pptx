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27940">
            <a:solidFill>
              <a:srgbClr val="33D6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6656832"/>
            <a:ext cx="11548872" cy="0"/>
          </a:xfrm>
          <a:prstGeom prst="line">
            <a:avLst/>
          </a:prstGeom>
          <a:noFill/>
          <a:ln w="10160">
            <a:solidFill>
              <a:srgbClr val="1436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6684264"/>
            <a:ext cx="7680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" dirty="0">
                <a:solidFill>
                  <a:srgbClr val="6E819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Trabajo práctico integrador · Ingeniería Electrónica · Puerta motorizada de paso</a:t>
            </a:r>
            <a:endParaRPr lang="en-US" sz="5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32004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6E8193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32004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6E8193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57607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D6D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Presentación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Puerta motorizada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4F7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 paso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4160520" cy="8412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Estrategia de desarrollo de un proyecto real de I+D aplicado como trabajo práctico integrador de Ingeniería Electrónica.</a:t>
            </a:r>
            <a:endParaRPr lang="en-US" sz="1320" dirty="0"/>
          </a:p>
        </p:txBody>
      </p:sp>
      <p:sp>
        <p:nvSpPr>
          <p:cNvPr id="5" name="Shape 3"/>
          <p:cNvSpPr/>
          <p:nvPr/>
        </p:nvSpPr>
        <p:spPr>
          <a:xfrm>
            <a:off x="640080" y="3401568"/>
            <a:ext cx="987552" cy="320040"/>
          </a:xfrm>
          <a:prstGeom prst="roundRect">
            <a:avLst>
              <a:gd name="adj" fmla="val 14286"/>
            </a:avLst>
          </a:prstGeom>
          <a:solidFill>
            <a:srgbClr val="0D1B29"/>
          </a:solidFill>
          <a:ln w="12700">
            <a:solidFill>
              <a:srgbClr val="50D5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474720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50D56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Mecánica</a:t>
            </a:r>
            <a:endParaRPr lang="en-US" sz="760" dirty="0"/>
          </a:p>
        </p:txBody>
      </p:sp>
      <p:sp>
        <p:nvSpPr>
          <p:cNvPr id="7" name="Shape 5"/>
          <p:cNvSpPr/>
          <p:nvPr/>
        </p:nvSpPr>
        <p:spPr>
          <a:xfrm>
            <a:off x="1719072" y="3401568"/>
            <a:ext cx="1124712" cy="320040"/>
          </a:xfrm>
          <a:prstGeom prst="roundRect">
            <a:avLst>
              <a:gd name="adj" fmla="val 14286"/>
            </a:avLst>
          </a:prstGeom>
          <a:solidFill>
            <a:srgbClr val="0D1B29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64792" y="3474720"/>
            <a:ext cx="1033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F8C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Electrónica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2935224" y="3401568"/>
            <a:ext cx="1078992" cy="320040"/>
          </a:xfrm>
          <a:prstGeom prst="roundRect">
            <a:avLst>
              <a:gd name="adj" fmla="val 14286"/>
            </a:avLst>
          </a:prstGeom>
          <a:solidFill>
            <a:srgbClr val="0D1B29"/>
          </a:solidFill>
          <a:ln w="12700">
            <a:solidFill>
              <a:srgbClr val="9C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80944" y="347472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9C6B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Firmware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4105656" y="3401568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0D1B29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51376" y="347472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2C94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Control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4233672" cy="1298448"/>
          </a:xfrm>
          <a:prstGeom prst="roundRect">
            <a:avLst>
              <a:gd name="adj" fmla="val 4225"/>
            </a:avLst>
          </a:prstGeom>
          <a:solidFill>
            <a:srgbClr val="091A28"/>
          </a:solidFill>
          <a:ln w="12700">
            <a:solidFill>
              <a:srgbClr val="1B41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42793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33D6D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Idea central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850392" y="4599432"/>
            <a:ext cx="3675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mostrar solamente el resultado final, sino el proceso: decisiones de diseño, ensayos, problemas, retrocesos y construcción progresiva de una base técnica confiable.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38928" y="566928"/>
            <a:ext cx="6400800" cy="5440680"/>
          </a:xfrm>
          <a:prstGeom prst="roundRect">
            <a:avLst>
              <a:gd name="adj" fmla="val 1345"/>
            </a:avLst>
          </a:prstGeom>
          <a:solidFill>
            <a:srgbClr val="06101D"/>
          </a:solidFill>
          <a:ln w="13970">
            <a:solidFill>
              <a:srgbClr val="163B56"/>
            </a:solidFill>
            <a:prstDash val="solid"/>
          </a:ln>
        </p:spPr>
      </p:sp>
      <p:pic>
        <p:nvPicPr>
          <p:cNvPr id="17" name="Image 0" descr="/mnt/data/conc_unpack/ppt/media/image-1-1.png">    </p:cNvPr>
          <p:cNvPicPr>
            <a:picLocks noChangeAspect="1"/>
          </p:cNvPicPr>
          <p:nvPr/>
        </p:nvPicPr>
        <p:blipFill>
          <a:blip r:embed="rId1"/>
          <a:srcRect l="20000" r="32079" t="16000" b="12000"/>
          <a:stretch/>
        </p:blipFill>
        <p:spPr>
          <a:xfrm>
            <a:off x="5230368" y="658368"/>
            <a:ext cx="6217920" cy="52578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440680" y="5577840"/>
            <a:ext cx="5413248" cy="384048"/>
          </a:xfrm>
          <a:prstGeom prst="roundRect">
            <a:avLst>
              <a:gd name="adj" fmla="val 14286"/>
            </a:avLst>
          </a:prstGeom>
          <a:solidFill>
            <a:srgbClr val="06212B">
              <a:alpha val="92000"/>
            </a:srgbClr>
          </a:solidFill>
          <a:ln w="10160">
            <a:solidFill>
              <a:srgbClr val="33D6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77840" y="568756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3D6D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Del prototipo funcional a una arquitectura medible, controlable y operable.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32004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6E8193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11109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F4F7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1. Punto de partida: un requerimiento real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3776" y="713232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92A4B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 trabajo nace de una necesidad de producto y se transforma en una experiencia de I+D a escala.</a:t>
            </a:r>
            <a:endParaRPr lang="en-US" sz="870" dirty="0"/>
          </a:p>
        </p:txBody>
      </p:sp>
      <p:sp>
        <p:nvSpPr>
          <p:cNvPr id="4" name="Shape 2"/>
          <p:cNvSpPr/>
          <p:nvPr/>
        </p:nvSpPr>
        <p:spPr>
          <a:xfrm>
            <a:off x="475488" y="987552"/>
            <a:ext cx="10991088" cy="0"/>
          </a:xfrm>
          <a:prstGeom prst="line">
            <a:avLst/>
          </a:prstGeom>
          <a:noFill/>
          <a:ln w="14605">
            <a:solidFill>
              <a:srgbClr val="33D6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234440"/>
            <a:ext cx="4937760" cy="4526280"/>
          </a:xfrm>
          <a:prstGeom prst="roundRect">
            <a:avLst>
              <a:gd name="adj" fmla="val 1212"/>
            </a:avLst>
          </a:prstGeom>
          <a:solidFill>
            <a:srgbClr val="0B1A2B"/>
          </a:solidFill>
          <a:ln w="12700">
            <a:solidFill>
              <a:srgbClr val="163B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527048"/>
            <a:ext cx="1371600" cy="265176"/>
          </a:xfrm>
          <a:prstGeom prst="roundRect">
            <a:avLst>
              <a:gd name="adj" fmla="val 27586"/>
            </a:avLst>
          </a:prstGeom>
          <a:solidFill>
            <a:srgbClr val="0A2137"/>
          </a:solidFill>
          <a:ln w="10160">
            <a:solidFill>
              <a:srgbClr val="2F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581912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F8C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REQUERIMIENTO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822960" y="1938528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F4F7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Puerta motorizada de paso para control de acceso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68680" y="2889504"/>
            <a:ext cx="73152" cy="73152"/>
          </a:xfrm>
          <a:prstGeom prst="ellipse">
            <a:avLst/>
          </a:prstGeom>
          <a:solidFill>
            <a:srgbClr val="33D6DD"/>
          </a:solidFill>
          <a:ln w="12700">
            <a:solidFill>
              <a:srgbClr val="33D6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" y="281635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Diseño elegante para edificios y espacios de alta categoría.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868680" y="3438144"/>
            <a:ext cx="73152" cy="73152"/>
          </a:xfrm>
          <a:prstGeom prst="ellipse">
            <a:avLst/>
          </a:prstGeom>
          <a:solidFill>
            <a:srgbClr val="50D56A"/>
          </a:solidFill>
          <a:ln w="12700">
            <a:solidFill>
              <a:srgbClr val="50D5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4984" y="336499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Apertura automática y movimiento controlado de la hoja.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868680" y="3986784"/>
            <a:ext cx="73152" cy="73152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4984" y="391363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Indicadores luminosos asociados al tránsito y al estado.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868680" y="4535424"/>
            <a:ext cx="73152" cy="73152"/>
          </a:xfrm>
          <a:prstGeom prst="ellipse">
            <a:avLst/>
          </a:prstGeom>
          <a:solidFill>
            <a:srgbClr val="9C6BFF"/>
          </a:solidFill>
          <a:ln w="12700">
            <a:solidFill>
              <a:srgbClr val="9C6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4984" y="446227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Una solución mecatrónica donde mecánica, electrónica y software deben convivir.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5715000" y="1234440"/>
            <a:ext cx="5897880" cy="4526280"/>
          </a:xfrm>
          <a:prstGeom prst="roundRect">
            <a:avLst>
              <a:gd name="adj" fmla="val 1212"/>
            </a:avLst>
          </a:prstGeom>
          <a:solidFill>
            <a:srgbClr val="091623"/>
          </a:solidFill>
          <a:ln w="12700">
            <a:solidFill>
              <a:srgbClr val="2544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508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3D6D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Referencia visual y funcional</a:t>
            </a:r>
            <a:endParaRPr lang="en-US" sz="1020" dirty="0"/>
          </a:p>
        </p:txBody>
      </p:sp>
      <p:pic>
        <p:nvPicPr>
          <p:cNvPr id="19" name="Image 0" descr="/mnt/data/pdfimg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2360" y="1828800"/>
            <a:ext cx="3343160" cy="33375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099048" y="5230368"/>
            <a:ext cx="5138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92A4B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 referencia sirve para definir el tipo de producto; el objetivo académico es reproducir funciones esenciales y recorrer el proceso de desarrollo.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1188720" y="5916168"/>
            <a:ext cx="9829800" cy="438912"/>
          </a:xfrm>
          <a:prstGeom prst="roundRect">
            <a:avLst>
              <a:gd name="adj" fmla="val 12500"/>
            </a:avLst>
          </a:prstGeom>
          <a:solidFill>
            <a:srgbClr val="07252E"/>
          </a:solidFill>
          <a:ln w="12700">
            <a:solidFill>
              <a:srgbClr val="33D6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371600" y="6053328"/>
            <a:ext cx="9464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3D6D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 proyecto no busca copiar una puerta comercial: busca aprender cómo se construye una solución técnica justificable.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32004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6E8193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11109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F4F7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2. Objetivo del trabajo práctico integrador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3776" y="713232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92A4B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Construir un prototipo funcional a escala que permita experimentar, medir y tomar decisiones de ingeniería.</a:t>
            </a:r>
            <a:endParaRPr lang="en-US" sz="870" dirty="0"/>
          </a:p>
        </p:txBody>
      </p:sp>
      <p:sp>
        <p:nvSpPr>
          <p:cNvPr id="4" name="Shape 2"/>
          <p:cNvSpPr/>
          <p:nvPr/>
        </p:nvSpPr>
        <p:spPr>
          <a:xfrm>
            <a:off x="475488" y="987552"/>
            <a:ext cx="10991088" cy="0"/>
          </a:xfrm>
          <a:prstGeom prst="line">
            <a:avLst/>
          </a:prstGeom>
          <a:noFill/>
          <a:ln w="14605">
            <a:solidFill>
              <a:srgbClr val="33D6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371600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F4F7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Desarrollar una puerta motorizada de paso con señalización luminosa capaz de reproducir las funciones esenciales del producto real.</a:t>
            </a:r>
            <a:endParaRPr lang="en-US" sz="2050" dirty="0"/>
          </a:p>
        </p:txBody>
      </p:sp>
      <p:sp>
        <p:nvSpPr>
          <p:cNvPr id="6" name="Shape 4"/>
          <p:cNvSpPr/>
          <p:nvPr/>
        </p:nvSpPr>
        <p:spPr>
          <a:xfrm>
            <a:off x="658368" y="2487168"/>
            <a:ext cx="2350008" cy="2148840"/>
          </a:xfrm>
          <a:prstGeom prst="roundRect">
            <a:avLst>
              <a:gd name="adj" fmla="val 2553"/>
            </a:avLst>
          </a:prstGeom>
          <a:solidFill>
            <a:srgbClr val="0B1B2B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660904"/>
            <a:ext cx="384048" cy="384048"/>
          </a:xfrm>
          <a:prstGeom prst="ellipse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70662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822960" y="31821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2F8C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Prototipo funcional</a:t>
            </a:r>
            <a:endParaRPr lang="en-US" sz="1210" dirty="0"/>
          </a:p>
        </p:txBody>
      </p:sp>
      <p:sp>
        <p:nvSpPr>
          <p:cNvPr id="10" name="Text 8"/>
          <p:cNvSpPr/>
          <p:nvPr/>
        </p:nvSpPr>
        <p:spPr>
          <a:xfrm>
            <a:off x="859536" y="3694176"/>
            <a:ext cx="19385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Movimiento físico reproducible sobre una maqueta a escala.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93008" y="2487168"/>
            <a:ext cx="2350008" cy="2148840"/>
          </a:xfrm>
          <a:prstGeom prst="roundRect">
            <a:avLst>
              <a:gd name="adj" fmla="val 2553"/>
            </a:avLst>
          </a:prstGeom>
          <a:solidFill>
            <a:srgbClr val="0B1B2B"/>
          </a:solidFill>
          <a:ln w="12700">
            <a:solidFill>
              <a:srgbClr val="50D5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39312" y="2660904"/>
            <a:ext cx="384048" cy="384048"/>
          </a:xfrm>
          <a:prstGeom prst="ellipse">
            <a:avLst/>
          </a:prstGeom>
          <a:solidFill>
            <a:srgbClr val="50D56A"/>
          </a:solidFill>
          <a:ln w="12700">
            <a:solidFill>
              <a:srgbClr val="50D5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9312" y="270662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3657600" y="31821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50D56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Posición y control</a:t>
            </a:r>
            <a:endParaRPr lang="en-US" sz="1210" dirty="0"/>
          </a:p>
        </p:txBody>
      </p:sp>
      <p:sp>
        <p:nvSpPr>
          <p:cNvPr id="15" name="Text 13"/>
          <p:cNvSpPr/>
          <p:nvPr/>
        </p:nvSpPr>
        <p:spPr>
          <a:xfrm>
            <a:off x="3694176" y="3694176"/>
            <a:ext cx="19385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Medición de posición, error, sobrepaso y estrategias de control.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27648" y="2487168"/>
            <a:ext cx="2350008" cy="2148840"/>
          </a:xfrm>
          <a:prstGeom prst="roundRect">
            <a:avLst>
              <a:gd name="adj" fmla="val 2553"/>
            </a:avLst>
          </a:prstGeom>
          <a:solidFill>
            <a:srgbClr val="0B1B2B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3952" y="2660904"/>
            <a:ext cx="384048" cy="384048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270662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6492240" y="31821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2C94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Señalización</a:t>
            </a:r>
            <a:endParaRPr lang="en-US" sz="1210" dirty="0"/>
          </a:p>
        </p:txBody>
      </p:sp>
      <p:sp>
        <p:nvSpPr>
          <p:cNvPr id="20" name="Text 18"/>
          <p:cNvSpPr/>
          <p:nvPr/>
        </p:nvSpPr>
        <p:spPr>
          <a:xfrm>
            <a:off x="6528816" y="3694176"/>
            <a:ext cx="19385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Indicadores luminosos vinculados al estado y al movimiento.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162288" y="2487168"/>
            <a:ext cx="2350008" cy="2148840"/>
          </a:xfrm>
          <a:prstGeom prst="roundRect">
            <a:avLst>
              <a:gd name="adj" fmla="val 2553"/>
            </a:avLst>
          </a:prstGeom>
          <a:solidFill>
            <a:srgbClr val="0B1B2B"/>
          </a:solidFill>
          <a:ln w="12700">
            <a:solidFill>
              <a:srgbClr val="9C6B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08592" y="2660904"/>
            <a:ext cx="384048" cy="384048"/>
          </a:xfrm>
          <a:prstGeom prst="ellipse">
            <a:avLst/>
          </a:prstGeom>
          <a:solidFill>
            <a:srgbClr val="9C6BFF"/>
          </a:solidFill>
          <a:ln w="12700">
            <a:solidFill>
              <a:srgbClr val="9C6B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08592" y="270662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9326880" y="31821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9C6B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Operación y diagnóstico</a:t>
            </a:r>
            <a:endParaRPr lang="en-US" sz="1210" dirty="0"/>
          </a:p>
        </p:txBody>
      </p:sp>
      <p:sp>
        <p:nvSpPr>
          <p:cNvPr id="25" name="Text 23"/>
          <p:cNvSpPr/>
          <p:nvPr/>
        </p:nvSpPr>
        <p:spPr>
          <a:xfrm>
            <a:off x="9363456" y="3694176"/>
            <a:ext cx="19385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Comandos, configuración, monitoreo y herramientas de prueba.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2688" y="4956048"/>
            <a:ext cx="10332720" cy="1005840"/>
          </a:xfrm>
          <a:prstGeom prst="roundRect">
            <a:avLst>
              <a:gd name="adj" fmla="val 5455"/>
            </a:avLst>
          </a:prstGeom>
          <a:solidFill>
            <a:srgbClr val="091825"/>
          </a:solidFill>
          <a:ln w="12700">
            <a:solidFill>
              <a:srgbClr val="1B415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61288" y="519379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D6D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Competencia profesional buscada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46120" y="513892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Diseñar, construir, programar, experimentar, validar y justificar decisiones frente a un problema abierto de I+D.</a:t>
            </a:r>
            <a:endParaRPr lang="en-US" sz="11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32004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6E8193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11109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F4F7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3. Una integración real de competencias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3776" y="713232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92A4B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 valor del proyecto está en la interacción entre áreas, no en estudiar cada disciplina de manera aislada.</a:t>
            </a:r>
            <a:endParaRPr lang="en-US" sz="870" dirty="0"/>
          </a:p>
        </p:txBody>
      </p:sp>
      <p:sp>
        <p:nvSpPr>
          <p:cNvPr id="4" name="Shape 2"/>
          <p:cNvSpPr/>
          <p:nvPr/>
        </p:nvSpPr>
        <p:spPr>
          <a:xfrm>
            <a:off x="475488" y="987552"/>
            <a:ext cx="10991088" cy="0"/>
          </a:xfrm>
          <a:prstGeom prst="line">
            <a:avLst/>
          </a:prstGeom>
          <a:noFill/>
          <a:ln w="14605">
            <a:solidFill>
              <a:srgbClr val="33D6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1417320"/>
            <a:ext cx="3429000" cy="1572768"/>
          </a:xfrm>
          <a:prstGeom prst="roundRect">
            <a:avLst>
              <a:gd name="adj" fmla="val 3488"/>
            </a:avLst>
          </a:prstGeom>
          <a:solidFill>
            <a:srgbClr val="0B1A2A"/>
          </a:solidFill>
          <a:ln w="12700">
            <a:solidFill>
              <a:srgbClr val="50D5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581912"/>
            <a:ext cx="512064" cy="512064"/>
          </a:xfrm>
          <a:prstGeom prst="roundRect">
            <a:avLst>
              <a:gd name="adj" fmla="val 12500"/>
            </a:avLst>
          </a:prstGeom>
          <a:solidFill>
            <a:srgbClr val="50D56A">
              <a:alpha val="95000"/>
            </a:srgbClr>
          </a:solidFill>
          <a:ln w="12700">
            <a:solidFill>
              <a:srgbClr val="50D5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70078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444752" y="1618488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D56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Diseño + fabricación 3D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44752" y="211226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estructura, puerta, soportes, mecanismos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4425696" y="1417320"/>
            <a:ext cx="3429000" cy="1572768"/>
          </a:xfrm>
          <a:prstGeom prst="roundRect">
            <a:avLst>
              <a:gd name="adj" fmla="val 3488"/>
            </a:avLst>
          </a:prstGeom>
          <a:solidFill>
            <a:srgbClr val="0B1A2A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1581912"/>
            <a:ext cx="512064" cy="512064"/>
          </a:xfrm>
          <a:prstGeom prst="roundRect">
            <a:avLst>
              <a:gd name="adj" fmla="val 12500"/>
            </a:avLst>
          </a:prstGeom>
          <a:solidFill>
            <a:srgbClr val="2F8CFF">
              <a:alpha val="95000"/>
            </a:srgbClr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70078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266944" y="1618488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C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Hardware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66944" y="211226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controlador, driver, motor, sensor, LED y seguridad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247888" y="1417320"/>
            <a:ext cx="3429000" cy="1572768"/>
          </a:xfrm>
          <a:prstGeom prst="roundRect">
            <a:avLst>
              <a:gd name="adj" fmla="val 3488"/>
            </a:avLst>
          </a:prstGeom>
          <a:solidFill>
            <a:srgbClr val="0B1A2A"/>
          </a:solidFill>
          <a:ln w="12700">
            <a:solidFill>
              <a:srgbClr val="9C6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1581912"/>
            <a:ext cx="512064" cy="512064"/>
          </a:xfrm>
          <a:prstGeom prst="roundRect">
            <a:avLst>
              <a:gd name="adj" fmla="val 12500"/>
            </a:avLst>
          </a:prstGeom>
          <a:solidFill>
            <a:srgbClr val="9C6BFF">
              <a:alpha val="95000"/>
            </a:srgbClr>
          </a:solidFill>
          <a:ln w="12700">
            <a:solidFill>
              <a:srgbClr val="9C6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170078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089136" y="1618488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6B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Firmware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89136" y="211226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drivers, comandos, máquinas de estados y configuración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603504" y="3474720"/>
            <a:ext cx="3429000" cy="1572768"/>
          </a:xfrm>
          <a:prstGeom prst="roundRect">
            <a:avLst>
              <a:gd name="adj" fmla="val 3488"/>
            </a:avLst>
          </a:prstGeom>
          <a:solidFill>
            <a:srgbClr val="0B1A2A"/>
          </a:solidFill>
          <a:ln w="12700">
            <a:solidFill>
              <a:srgbClr val="FF98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" y="3639312"/>
            <a:ext cx="512064" cy="512064"/>
          </a:xfrm>
          <a:prstGeom prst="roundRect">
            <a:avLst>
              <a:gd name="adj" fmla="val 12500"/>
            </a:avLst>
          </a:prstGeom>
          <a:solidFill>
            <a:srgbClr val="FF9849">
              <a:alpha val="95000"/>
            </a:srgbClr>
          </a:solidFill>
          <a:ln w="12700">
            <a:solidFill>
              <a:srgbClr val="FF98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75818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444752" y="3675888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84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Automatización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44752" y="416966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tareas concurrentes, temporización y respuesta segura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4425696" y="3474720"/>
            <a:ext cx="3429000" cy="1572768"/>
          </a:xfrm>
          <a:prstGeom prst="roundRect">
            <a:avLst>
              <a:gd name="adj" fmla="val 3488"/>
            </a:avLst>
          </a:prstGeom>
          <a:solidFill>
            <a:srgbClr val="0B1A2A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0288" y="3639312"/>
            <a:ext cx="512064" cy="512064"/>
          </a:xfrm>
          <a:prstGeom prst="roundRect">
            <a:avLst>
              <a:gd name="adj" fmla="val 12500"/>
            </a:avLst>
          </a:prstGeom>
          <a:solidFill>
            <a:srgbClr val="F2C94C">
              <a:alpha val="95000"/>
            </a:srgbClr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0288" y="375818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266944" y="3675888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Sistemas de control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66944" y="416966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planta, realimentación, P / PD / PID y validación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8247888" y="3474720"/>
            <a:ext cx="3429000" cy="1572768"/>
          </a:xfrm>
          <a:prstGeom prst="roundRect">
            <a:avLst>
              <a:gd name="adj" fmla="val 3488"/>
            </a:avLst>
          </a:prstGeom>
          <a:solidFill>
            <a:srgbClr val="0B1A2A"/>
          </a:solidFill>
          <a:ln w="12700">
            <a:solidFill>
              <a:srgbClr val="33D6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12480" y="3639312"/>
            <a:ext cx="512064" cy="512064"/>
          </a:xfrm>
          <a:prstGeom prst="roundRect">
            <a:avLst>
              <a:gd name="adj" fmla="val 12500"/>
            </a:avLst>
          </a:prstGeom>
          <a:solidFill>
            <a:srgbClr val="33D6DD">
              <a:alpha val="95000"/>
            </a:srgbClr>
          </a:solidFill>
          <a:ln w="12700">
            <a:solidFill>
              <a:srgbClr val="33D6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0" y="375818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6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089136" y="3675888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D6D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Aplicación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089136" y="416966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operación, configuración, visualización y diagnóstico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1234440" y="5532120"/>
            <a:ext cx="9738360" cy="0"/>
          </a:xfrm>
          <a:prstGeom prst="line">
            <a:avLst/>
          </a:prstGeom>
          <a:noFill/>
          <a:ln w="15240">
            <a:solidFill>
              <a:srgbClr val="33D6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61288" y="5458968"/>
            <a:ext cx="146304" cy="146304"/>
          </a:xfrm>
          <a:prstGeom prst="ellipse">
            <a:avLst/>
          </a:prstGeom>
          <a:solidFill>
            <a:srgbClr val="50D56A"/>
          </a:solidFill>
          <a:ln w="12700">
            <a:solidFill>
              <a:srgbClr val="50D56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81528" y="5458968"/>
            <a:ext cx="146304" cy="146304"/>
          </a:xfrm>
          <a:prstGeom prst="ellipse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01768" y="5458968"/>
            <a:ext cx="146304" cy="146304"/>
          </a:xfrm>
          <a:prstGeom prst="ellipse">
            <a:avLst/>
          </a:prstGeom>
          <a:solidFill>
            <a:srgbClr val="9C6BFF"/>
          </a:solidFill>
          <a:ln w="12700">
            <a:solidFill>
              <a:srgbClr val="9C6B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22008" y="5458968"/>
            <a:ext cx="146304" cy="146304"/>
          </a:xfrm>
          <a:prstGeom prst="ellipse">
            <a:avLst/>
          </a:prstGeom>
          <a:solidFill>
            <a:srgbClr val="FF9849"/>
          </a:solidFill>
          <a:ln w="12700">
            <a:solidFill>
              <a:srgbClr val="FF984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842248" y="5458968"/>
            <a:ext cx="146304" cy="146304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899648" y="5458968"/>
            <a:ext cx="146304" cy="146304"/>
          </a:xfrm>
          <a:prstGeom prst="ellipse">
            <a:avLst/>
          </a:prstGeom>
          <a:solidFill>
            <a:srgbClr val="33D6DD"/>
          </a:solidFill>
          <a:ln w="12700">
            <a:solidFill>
              <a:srgbClr val="33D6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0" y="5742432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33D6D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 puerta obliga a integrar hardware, software y mecánica dentro de un único sistema observable.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32004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6E8193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11109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F4F7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4. Preguntas que guían el proyecto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3776" y="713232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92A4B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Las decisiones de control se plantean como preguntas verificables, no como una receta predeterminada.</a:t>
            </a:r>
            <a:endParaRPr lang="en-US" sz="870" dirty="0"/>
          </a:p>
        </p:txBody>
      </p:sp>
      <p:sp>
        <p:nvSpPr>
          <p:cNvPr id="4" name="Shape 2"/>
          <p:cNvSpPr/>
          <p:nvPr/>
        </p:nvSpPr>
        <p:spPr>
          <a:xfrm>
            <a:off x="475488" y="987552"/>
            <a:ext cx="10991088" cy="0"/>
          </a:xfrm>
          <a:prstGeom prst="line">
            <a:avLst/>
          </a:prstGeom>
          <a:noFill/>
          <a:ln w="14605">
            <a:solidFill>
              <a:srgbClr val="33D6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389888"/>
            <a:ext cx="10771632" cy="1042416"/>
          </a:xfrm>
          <a:prstGeom prst="roundRect">
            <a:avLst>
              <a:gd name="adj" fmla="val 5263"/>
            </a:avLst>
          </a:prstGeom>
          <a:solidFill>
            <a:srgbClr val="0B1B2B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" y="1719072"/>
            <a:ext cx="384048" cy="384048"/>
          </a:xfrm>
          <a:prstGeom prst="ellipse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764792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1600200" y="160020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F4F7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¿Qué problemas busca resolver un controlador PID en una puerta motorizada real?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713232" y="2779776"/>
            <a:ext cx="10771632" cy="1042416"/>
          </a:xfrm>
          <a:prstGeom prst="roundRect">
            <a:avLst>
              <a:gd name="adj" fmla="val 5263"/>
            </a:avLst>
          </a:prstGeom>
          <a:solidFill>
            <a:srgbClr val="0B1B2B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3108960"/>
            <a:ext cx="384048" cy="384048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3154680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1600200" y="2990088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F4F7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¿Hasta qué punto puede verificarse funcionalmente el uso del PID mediante el prototipo 3D a escala?</a:t>
            </a:r>
            <a:endParaRPr lang="en-US" sz="1360" dirty="0"/>
          </a:p>
        </p:txBody>
      </p:sp>
      <p:sp>
        <p:nvSpPr>
          <p:cNvPr id="13" name="Shape 11"/>
          <p:cNvSpPr/>
          <p:nvPr/>
        </p:nvSpPr>
        <p:spPr>
          <a:xfrm>
            <a:off x="713232" y="4169664"/>
            <a:ext cx="10771632" cy="1042416"/>
          </a:xfrm>
          <a:prstGeom prst="roundRect">
            <a:avLst>
              <a:gd name="adj" fmla="val 5263"/>
            </a:avLst>
          </a:prstGeom>
          <a:solidFill>
            <a:srgbClr val="0B1B2B"/>
          </a:solidFill>
          <a:ln w="12700">
            <a:solidFill>
              <a:srgbClr val="50D5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9264" y="4498848"/>
            <a:ext cx="384048" cy="384048"/>
          </a:xfrm>
          <a:prstGeom prst="ellipse">
            <a:avLst/>
          </a:prstGeom>
          <a:solidFill>
            <a:srgbClr val="50D56A"/>
          </a:solidFill>
          <a:ln w="12700">
            <a:solidFill>
              <a:srgbClr val="50D5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4544568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1600200" y="4379976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F4F7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¿Qué resultados del prototipo pueden transferirse al producto real y cuáles deben validarse nuevamente?</a:t>
            </a:r>
            <a:endParaRPr lang="en-US" sz="1360" dirty="0"/>
          </a:p>
        </p:txBody>
      </p:sp>
      <p:sp>
        <p:nvSpPr>
          <p:cNvPr id="17" name="Text 15"/>
          <p:cNvSpPr/>
          <p:nvPr/>
        </p:nvSpPr>
        <p:spPr>
          <a:xfrm>
            <a:off x="749808" y="554126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92A4B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Variables observadas durante los ensayos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749808" y="5879592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0D1B29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595274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F8C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posición angular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1773936" y="5879592"/>
            <a:ext cx="1325880" cy="320040"/>
          </a:xfrm>
          <a:prstGeom prst="roundRect">
            <a:avLst>
              <a:gd name="adj" fmla="val 14286"/>
            </a:avLst>
          </a:prstGeom>
          <a:solidFill>
            <a:srgbClr val="0D1B29"/>
          </a:solidFill>
          <a:ln w="12700">
            <a:solidFill>
              <a:srgbClr val="50D5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19656" y="5952744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50D56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error de posición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3209544" y="5879592"/>
            <a:ext cx="749808" cy="320040"/>
          </a:xfrm>
          <a:prstGeom prst="roundRect">
            <a:avLst>
              <a:gd name="adj" fmla="val 14286"/>
            </a:avLst>
          </a:prstGeom>
          <a:solidFill>
            <a:srgbClr val="0D1B29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55264" y="595274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2C94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tiempo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4069080" y="5879592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0D1B29"/>
          </a:solidFill>
          <a:ln w="12700">
            <a:solidFill>
              <a:srgbClr val="9C6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595274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9C6B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sobrepaso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5093208" y="5879592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0D1B29"/>
          </a:solidFill>
          <a:ln w="12700">
            <a:solidFill>
              <a:srgbClr val="FF98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8928" y="5952744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984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señal de control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6437376" y="5879592"/>
            <a:ext cx="1024128" cy="320040"/>
          </a:xfrm>
          <a:prstGeom prst="roundRect">
            <a:avLst>
              <a:gd name="adj" fmla="val 14286"/>
            </a:avLst>
          </a:prstGeom>
          <a:solidFill>
            <a:srgbClr val="0D1B29"/>
          </a:solidFill>
          <a:ln w="12700">
            <a:solidFill>
              <a:srgbClr val="33D6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83096" y="5952744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33D6D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repetibilidad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7571232" y="5879592"/>
            <a:ext cx="1965960" cy="320040"/>
          </a:xfrm>
          <a:prstGeom prst="roundRect">
            <a:avLst>
              <a:gd name="adj" fmla="val 14286"/>
            </a:avLst>
          </a:prstGeom>
          <a:solidFill>
            <a:srgbClr val="0D1B29"/>
          </a:solidFill>
          <a:ln w="12700">
            <a:solidFill>
              <a:srgbClr val="F05A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16952" y="5952744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05A6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carga / rozamiento / sentido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32004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6E8193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11109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F4F7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5. Estrategia de desarrollo: avanzar sobre evidencia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3776" y="713232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92A4B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Primero se valida una base mínima; después se agregan complejidad y nuevas preguntas sin perder lo que ya funciona.</a:t>
            </a:r>
            <a:endParaRPr lang="en-US" sz="870" dirty="0"/>
          </a:p>
        </p:txBody>
      </p:sp>
      <p:sp>
        <p:nvSpPr>
          <p:cNvPr id="4" name="Shape 2"/>
          <p:cNvSpPr/>
          <p:nvPr/>
        </p:nvSpPr>
        <p:spPr>
          <a:xfrm>
            <a:off x="475488" y="987552"/>
            <a:ext cx="10991088" cy="0"/>
          </a:xfrm>
          <a:prstGeom prst="line">
            <a:avLst/>
          </a:prstGeom>
          <a:noFill/>
          <a:ln w="14605">
            <a:solidFill>
              <a:srgbClr val="33D6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828800"/>
            <a:ext cx="1554480" cy="2331720"/>
          </a:xfrm>
          <a:prstGeom prst="roundRect">
            <a:avLst>
              <a:gd name="adj" fmla="val 3529"/>
            </a:avLst>
          </a:prstGeom>
          <a:solidFill>
            <a:srgbClr val="0A1928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2002536"/>
            <a:ext cx="384048" cy="384048"/>
          </a:xfrm>
          <a:prstGeom prst="ellipse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48256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566928" y="2633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F8C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Mecánica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621792" y="3108960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¿Se puede mover físicamente?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066544" y="274320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819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414016" y="1828800"/>
            <a:ext cx="1554480" cy="2331720"/>
          </a:xfrm>
          <a:prstGeom prst="roundRect">
            <a:avLst>
              <a:gd name="adj" fmla="val 3529"/>
            </a:avLst>
          </a:prstGeom>
          <a:solidFill>
            <a:srgbClr val="0A1928"/>
          </a:solidFill>
          <a:ln w="12700">
            <a:solidFill>
              <a:srgbClr val="50D5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90088" y="2002536"/>
            <a:ext cx="384048" cy="384048"/>
          </a:xfrm>
          <a:prstGeom prst="ellipse">
            <a:avLst/>
          </a:prstGeom>
          <a:solidFill>
            <a:srgbClr val="50D56A"/>
          </a:solidFill>
          <a:ln w="12700">
            <a:solidFill>
              <a:srgbClr val="50D5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0088" y="2048256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2505456" y="2633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50D56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Componentes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2560320" y="3108960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¿Cada parte funciona por separado?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005072" y="274320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819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352544" y="1828800"/>
            <a:ext cx="1554480" cy="2331720"/>
          </a:xfrm>
          <a:prstGeom prst="roundRect">
            <a:avLst>
              <a:gd name="adj" fmla="val 3529"/>
            </a:avLst>
          </a:prstGeom>
          <a:solidFill>
            <a:srgbClr val="0A1928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28616" y="2002536"/>
            <a:ext cx="384048" cy="384048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28616" y="2048256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4443984" y="2633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2C94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Firmware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4498848" y="3108960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¿Podemos comandar y medir?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943600" y="274320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819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291072" y="1828800"/>
            <a:ext cx="1554480" cy="2331720"/>
          </a:xfrm>
          <a:prstGeom prst="roundRect">
            <a:avLst>
              <a:gd name="adj" fmla="val 3529"/>
            </a:avLst>
          </a:prstGeom>
          <a:solidFill>
            <a:srgbClr val="0A1928"/>
          </a:solidFill>
          <a:ln w="12700">
            <a:solidFill>
              <a:srgbClr val="9C6B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67144" y="2002536"/>
            <a:ext cx="384048" cy="384048"/>
          </a:xfrm>
          <a:prstGeom prst="ellipse">
            <a:avLst/>
          </a:prstGeom>
          <a:solidFill>
            <a:srgbClr val="9C6BFF"/>
          </a:solidFill>
          <a:ln w="12700">
            <a:solidFill>
              <a:srgbClr val="9C6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67144" y="2048256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6382512" y="2633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9C6B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Arquitectura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6437376" y="3108960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¿Podemos evolucionar sin romper?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882128" y="274320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819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229600" y="1828800"/>
            <a:ext cx="1554480" cy="2331720"/>
          </a:xfrm>
          <a:prstGeom prst="roundRect">
            <a:avLst>
              <a:gd name="adj" fmla="val 3529"/>
            </a:avLst>
          </a:prstGeom>
          <a:solidFill>
            <a:srgbClr val="0A1928"/>
          </a:solidFill>
          <a:ln w="12700">
            <a:solidFill>
              <a:srgbClr val="FF984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05672" y="2002536"/>
            <a:ext cx="384048" cy="384048"/>
          </a:xfrm>
          <a:prstGeom prst="ellipse">
            <a:avLst/>
          </a:prstGeom>
          <a:solidFill>
            <a:srgbClr val="FF9849"/>
          </a:solidFill>
          <a:ln w="12700">
            <a:solidFill>
              <a:srgbClr val="FF98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05672" y="2048256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8321040" y="2633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984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Control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8375904" y="3108960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¿Podemos mejorar el comportamiento?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820656" y="274320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819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0168128" y="1828800"/>
            <a:ext cx="1554480" cy="2331720"/>
          </a:xfrm>
          <a:prstGeom prst="roundRect">
            <a:avLst>
              <a:gd name="adj" fmla="val 3529"/>
            </a:avLst>
          </a:prstGeom>
          <a:solidFill>
            <a:srgbClr val="0A1928"/>
          </a:solidFill>
          <a:ln w="12700">
            <a:solidFill>
              <a:srgbClr val="33D6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744200" y="2002536"/>
            <a:ext cx="384048" cy="384048"/>
          </a:xfrm>
          <a:prstGeom prst="ellipse">
            <a:avLst/>
          </a:prstGeom>
          <a:solidFill>
            <a:srgbClr val="33D6DD"/>
          </a:solidFill>
          <a:ln w="12700">
            <a:solidFill>
              <a:srgbClr val="33D6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44200" y="2048256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6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10259568" y="2633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33D6D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Aplicación</a:t>
            </a:r>
            <a:endParaRPr lang="en-US" sz="1120" dirty="0"/>
          </a:p>
        </p:txBody>
      </p:sp>
      <p:sp>
        <p:nvSpPr>
          <p:cNvPr id="39" name="Text 37"/>
          <p:cNvSpPr/>
          <p:nvPr/>
        </p:nvSpPr>
        <p:spPr>
          <a:xfrm>
            <a:off x="10314432" y="3108960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¿Podemos operar y diagnosticar?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60120" y="4617720"/>
            <a:ext cx="10287000" cy="1143000"/>
          </a:xfrm>
          <a:prstGeom prst="roundRect">
            <a:avLst>
              <a:gd name="adj" fmla="val 4800"/>
            </a:avLst>
          </a:prstGeom>
          <a:solidFill>
            <a:srgbClr val="091822"/>
          </a:solidFill>
          <a:ln w="12700">
            <a:solidFill>
              <a:srgbClr val="2246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34440" y="48737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FF984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I+D no lineal</a:t>
            </a:r>
            <a:endParaRPr lang="en-US" sz="1260" dirty="0"/>
          </a:p>
        </p:txBody>
      </p:sp>
      <p:sp>
        <p:nvSpPr>
          <p:cNvPr id="42" name="Text 40"/>
          <p:cNvSpPr/>
          <p:nvPr/>
        </p:nvSpPr>
        <p:spPr>
          <a:xfrm>
            <a:off x="2743200" y="4800600"/>
            <a:ext cx="7909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Una nueva prueba puede revelar una limitación mecánica, electrónica o de software y obligar a revisar decisiones anteriores. Por eso se conservan versiones funcionales como puntos de referencia.</a:t>
            </a:r>
            <a:endParaRPr lang="en-US" sz="1040" dirty="0"/>
          </a:p>
        </p:txBody>
      </p:sp>
      <p:sp>
        <p:nvSpPr>
          <p:cNvPr id="43" name="Shape 41"/>
          <p:cNvSpPr/>
          <p:nvPr/>
        </p:nvSpPr>
        <p:spPr>
          <a:xfrm>
            <a:off x="1051560" y="5577840"/>
            <a:ext cx="10012680" cy="502920"/>
          </a:xfrm>
          <a:prstGeom prst="arc">
            <a:avLst/>
          </a:prstGeom>
          <a:solidFill>
            <a:srgbClr val="071321">
              <a:alpha val="0"/>
            </a:srgbClr>
          </a:solidFill>
          <a:ln w="12700">
            <a:solidFill>
              <a:srgbClr val="FF9849">
                <a:alpha val="8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29000" y="5925312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984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medir → interpretar → decidir → probar de nuevo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32004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6E8193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11109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F4F7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6. Qué puede validar la maqueta - y qué no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3776" y="713232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92A4B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 escala reducida acelera el aprendizaje, pero no reemplaza la validación de un producto industrial.</a:t>
            </a:r>
            <a:endParaRPr lang="en-US" sz="870" dirty="0"/>
          </a:p>
        </p:txBody>
      </p:sp>
      <p:sp>
        <p:nvSpPr>
          <p:cNvPr id="4" name="Shape 2"/>
          <p:cNvSpPr/>
          <p:nvPr/>
        </p:nvSpPr>
        <p:spPr>
          <a:xfrm>
            <a:off x="475488" y="987552"/>
            <a:ext cx="10991088" cy="0"/>
          </a:xfrm>
          <a:prstGeom prst="line">
            <a:avLst/>
          </a:prstGeom>
          <a:noFill/>
          <a:ln w="14605">
            <a:solidFill>
              <a:srgbClr val="33D6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89888"/>
            <a:ext cx="5349240" cy="4315968"/>
          </a:xfrm>
          <a:prstGeom prst="roundRect">
            <a:avLst>
              <a:gd name="adj" fmla="val 1271"/>
            </a:avLst>
          </a:prstGeom>
          <a:solidFill>
            <a:srgbClr val="0A1C20"/>
          </a:solidFill>
          <a:ln w="12700">
            <a:solidFill>
              <a:srgbClr val="50D5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64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dirty="0">
                <a:solidFill>
                  <a:srgbClr val="50D56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 PUEDE VALIDAR</a:t>
            </a:r>
            <a:endParaRPr lang="en-US" sz="121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73152" cy="73152"/>
          </a:xfrm>
          <a:prstGeom prst="ellipse">
            <a:avLst/>
          </a:prstGeom>
          <a:solidFill>
            <a:srgbClr val="50D56A"/>
          </a:solidFill>
          <a:ln w="12700">
            <a:solidFill>
              <a:srgbClr val="50D5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2212848"/>
            <a:ext cx="4471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Principios funcionales del movimiento.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914400" y="2889504"/>
            <a:ext cx="73152" cy="73152"/>
          </a:xfrm>
          <a:prstGeom prst="ellipse">
            <a:avLst/>
          </a:prstGeom>
          <a:solidFill>
            <a:srgbClr val="50D56A"/>
          </a:solidFill>
          <a:ln w="12700">
            <a:solidFill>
              <a:srgbClr val="50D5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816352"/>
            <a:ext cx="4471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Integración entre hardware, firmware y mecánica.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914400" y="3493008"/>
            <a:ext cx="73152" cy="73152"/>
          </a:xfrm>
          <a:prstGeom prst="ellipse">
            <a:avLst/>
          </a:prstGeom>
          <a:solidFill>
            <a:srgbClr val="50D56A"/>
          </a:solidFill>
          <a:ln w="12700">
            <a:solidFill>
              <a:srgbClr val="50D5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419856"/>
            <a:ext cx="4471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Lectura de posición y comportamiento del control.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914400" y="4096512"/>
            <a:ext cx="73152" cy="73152"/>
          </a:xfrm>
          <a:prstGeom prst="ellipse">
            <a:avLst/>
          </a:prstGeom>
          <a:solidFill>
            <a:srgbClr val="50D56A"/>
          </a:solidFill>
          <a:ln w="12700">
            <a:solidFill>
              <a:srgbClr val="50D5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4023360"/>
            <a:ext cx="4471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Coordinación de tareas, comandos y señalización.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914400" y="4700016"/>
            <a:ext cx="73152" cy="73152"/>
          </a:xfrm>
          <a:prstGeom prst="ellipse">
            <a:avLst/>
          </a:prstGeom>
          <a:solidFill>
            <a:srgbClr val="50D56A"/>
          </a:solidFill>
          <a:ln w="12700">
            <a:solidFill>
              <a:srgbClr val="50D5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4626864"/>
            <a:ext cx="4471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Repetibilidad y respuesta ante cambios de carga.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6199632" y="1389888"/>
            <a:ext cx="5349240" cy="4315968"/>
          </a:xfrm>
          <a:prstGeom prst="roundRect">
            <a:avLst>
              <a:gd name="adj" fmla="val 1271"/>
            </a:avLst>
          </a:prstGeom>
          <a:solidFill>
            <a:srgbClr val="201A13"/>
          </a:solidFill>
          <a:ln w="12700">
            <a:solidFill>
              <a:srgbClr val="FF98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55664" y="1664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dirty="0">
                <a:solidFill>
                  <a:srgbClr val="FF984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DEBE VALIDARSE NUEVAMENTE</a:t>
            </a:r>
            <a:endParaRPr lang="en-US" sz="1210" dirty="0"/>
          </a:p>
        </p:txBody>
      </p:sp>
      <p:sp>
        <p:nvSpPr>
          <p:cNvPr id="19" name="Shape 17"/>
          <p:cNvSpPr/>
          <p:nvPr/>
        </p:nvSpPr>
        <p:spPr>
          <a:xfrm>
            <a:off x="6455664" y="2286000"/>
            <a:ext cx="73152" cy="73152"/>
          </a:xfrm>
          <a:prstGeom prst="ellipse">
            <a:avLst/>
          </a:prstGeom>
          <a:solidFill>
            <a:srgbClr val="FF9849"/>
          </a:solidFill>
          <a:ln w="12700">
            <a:solidFill>
              <a:srgbClr val="FF98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1968" y="2212848"/>
            <a:ext cx="4471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Dimensiones y materiales de la puerta real.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6455664" y="2889504"/>
            <a:ext cx="73152" cy="73152"/>
          </a:xfrm>
          <a:prstGeom prst="ellipse">
            <a:avLst/>
          </a:prstGeom>
          <a:solidFill>
            <a:srgbClr val="FF9849"/>
          </a:solidFill>
          <a:ln w="12700">
            <a:solidFill>
              <a:srgbClr val="FF98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01968" y="2816352"/>
            <a:ext cx="4471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Resistencia estructural y desgaste.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6455664" y="3493008"/>
            <a:ext cx="73152" cy="73152"/>
          </a:xfrm>
          <a:prstGeom prst="ellipse">
            <a:avLst/>
          </a:prstGeom>
          <a:solidFill>
            <a:srgbClr val="FF9849"/>
          </a:solidFill>
          <a:ln w="12700">
            <a:solidFill>
              <a:srgbClr val="FF98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01968" y="3419856"/>
            <a:ext cx="4471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Seguridad de personas y normativa aplicable.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6455664" y="4096512"/>
            <a:ext cx="73152" cy="73152"/>
          </a:xfrm>
          <a:prstGeom prst="ellipse">
            <a:avLst/>
          </a:prstGeom>
          <a:solidFill>
            <a:srgbClr val="FF9849"/>
          </a:solidFill>
          <a:ln w="12700">
            <a:solidFill>
              <a:srgbClr val="FF98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01968" y="4023360"/>
            <a:ext cx="4471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Tolerancias de fabricación y montaje.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6455664" y="4700016"/>
            <a:ext cx="73152" cy="73152"/>
          </a:xfrm>
          <a:prstGeom prst="ellipse">
            <a:avLst/>
          </a:prstGeom>
          <a:solidFill>
            <a:srgbClr val="FF9849"/>
          </a:solidFill>
          <a:ln w="12700">
            <a:solidFill>
              <a:srgbClr val="FF98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01968" y="4626864"/>
            <a:ext cx="4471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Durabilidad y comportamiento en uso prolongado.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1097280" y="5925312"/>
            <a:ext cx="9985248" cy="429768"/>
          </a:xfrm>
          <a:prstGeom prst="roundRect">
            <a:avLst>
              <a:gd name="adj" fmla="val 12766"/>
            </a:avLst>
          </a:prstGeom>
          <a:solidFill>
            <a:srgbClr val="08222B"/>
          </a:solidFill>
          <a:ln w="12700">
            <a:solidFill>
              <a:srgbClr val="33D6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98448" y="6053328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33D6D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 maqueta permite aprender y descartar hipótesis con bajo costo; no certifica la puerta final.</a:t>
            </a:r>
            <a:endParaRPr lang="en-US" sz="9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32004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6E8193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11109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F4F7F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7. Recorrido de la serie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3776" y="713232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92A4B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 presentación fija el problema. Los conceptos explican las herramientas. Las etapas muestran cómo se aplicaron.</a:t>
            </a:r>
            <a:endParaRPr lang="en-US" sz="870" dirty="0"/>
          </a:p>
        </p:txBody>
      </p:sp>
      <p:sp>
        <p:nvSpPr>
          <p:cNvPr id="4" name="Shape 2"/>
          <p:cNvSpPr/>
          <p:nvPr/>
        </p:nvSpPr>
        <p:spPr>
          <a:xfrm>
            <a:off x="475488" y="987552"/>
            <a:ext cx="10991088" cy="0"/>
          </a:xfrm>
          <a:prstGeom prst="line">
            <a:avLst/>
          </a:prstGeom>
          <a:noFill/>
          <a:ln w="14605">
            <a:solidFill>
              <a:srgbClr val="33D6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64208"/>
            <a:ext cx="1609344" cy="2834640"/>
          </a:xfrm>
          <a:prstGeom prst="roundRect">
            <a:avLst>
              <a:gd name="adj" fmla="val 3409"/>
            </a:avLst>
          </a:prstGeom>
          <a:solidFill>
            <a:srgbClr val="0A1826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" y="1883664"/>
            <a:ext cx="384048" cy="384048"/>
          </a:xfrm>
          <a:prstGeom prst="ellipse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192938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566928" y="254203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2F8C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Etapa 1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585216" y="3127248"/>
            <a:ext cx="13533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Validación de hardware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y firmware monolítico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2084832" y="288950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E819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404872" y="1664208"/>
            <a:ext cx="1609344" cy="2834640"/>
          </a:xfrm>
          <a:prstGeom prst="roundRect">
            <a:avLst>
              <a:gd name="adj" fmla="val 3409"/>
            </a:avLst>
          </a:prstGeom>
          <a:solidFill>
            <a:srgbClr val="0A1826"/>
          </a:solidFill>
          <a:ln w="12700">
            <a:solidFill>
              <a:srgbClr val="50D5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1883664"/>
            <a:ext cx="384048" cy="384048"/>
          </a:xfrm>
          <a:prstGeom prst="ellipse">
            <a:avLst/>
          </a:prstGeom>
          <a:solidFill>
            <a:srgbClr val="50D56A"/>
          </a:solidFill>
          <a:ln w="12700">
            <a:solidFill>
              <a:srgbClr val="50D5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192938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2514600" y="254203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50D56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Etapa 2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2532888" y="3127248"/>
            <a:ext cx="13533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Arquitectura modular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y control configurable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4032504" y="288950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E819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352544" y="1664208"/>
            <a:ext cx="1609344" cy="2834640"/>
          </a:xfrm>
          <a:prstGeom prst="roundRect">
            <a:avLst>
              <a:gd name="adj" fmla="val 3409"/>
            </a:avLst>
          </a:prstGeom>
          <a:solidFill>
            <a:srgbClr val="0A1826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65192" y="1883664"/>
            <a:ext cx="384048" cy="384048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192938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4462272" y="254203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2C94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Etapa 3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4480560" y="3127248"/>
            <a:ext cx="13533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Identificación de planta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 instrumentación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5980176" y="288950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E819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→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300216" y="1664208"/>
            <a:ext cx="1609344" cy="2834640"/>
          </a:xfrm>
          <a:prstGeom prst="roundRect">
            <a:avLst>
              <a:gd name="adj" fmla="val 3409"/>
            </a:avLst>
          </a:prstGeom>
          <a:solidFill>
            <a:srgbClr val="0A1826"/>
          </a:solidFill>
          <a:ln w="12700">
            <a:solidFill>
              <a:srgbClr val="9C6B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12864" y="1883664"/>
            <a:ext cx="384048" cy="384048"/>
          </a:xfrm>
          <a:prstGeom prst="ellipse">
            <a:avLst/>
          </a:prstGeom>
          <a:solidFill>
            <a:srgbClr val="9C6BFF"/>
          </a:solidFill>
          <a:ln w="12700">
            <a:solidFill>
              <a:srgbClr val="9C6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12864" y="192938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6409944" y="254203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9C6B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Etapa 4</a:t>
            </a:r>
            <a:endParaRPr lang="en-US" sz="1130" dirty="0"/>
          </a:p>
        </p:txBody>
      </p:sp>
      <p:sp>
        <p:nvSpPr>
          <p:cNvPr id="27" name="Text 25"/>
          <p:cNvSpPr/>
          <p:nvPr/>
        </p:nvSpPr>
        <p:spPr>
          <a:xfrm>
            <a:off x="6428232" y="3127248"/>
            <a:ext cx="13533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Simulación y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validación PID</a:t>
            </a:r>
            <a:endParaRPr lang="en-US" sz="870" dirty="0"/>
          </a:p>
        </p:txBody>
      </p:sp>
      <p:sp>
        <p:nvSpPr>
          <p:cNvPr id="28" name="Text 26"/>
          <p:cNvSpPr/>
          <p:nvPr/>
        </p:nvSpPr>
        <p:spPr>
          <a:xfrm>
            <a:off x="7927848" y="288950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E819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→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247888" y="1664208"/>
            <a:ext cx="1609344" cy="2834640"/>
          </a:xfrm>
          <a:prstGeom prst="roundRect">
            <a:avLst>
              <a:gd name="adj" fmla="val 3409"/>
            </a:avLst>
          </a:prstGeom>
          <a:solidFill>
            <a:srgbClr val="0A1826"/>
          </a:solidFill>
          <a:ln w="12700">
            <a:solidFill>
              <a:srgbClr val="FF984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60536" y="1883664"/>
            <a:ext cx="384048" cy="384048"/>
          </a:xfrm>
          <a:prstGeom prst="ellipse">
            <a:avLst/>
          </a:prstGeom>
          <a:solidFill>
            <a:srgbClr val="FF9849"/>
          </a:solidFill>
          <a:ln w="12700">
            <a:solidFill>
              <a:srgbClr val="FF98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60536" y="192938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8357616" y="254203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984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Etapa 5</a:t>
            </a:r>
            <a:endParaRPr lang="en-US" sz="1130" dirty="0"/>
          </a:p>
        </p:txBody>
      </p:sp>
      <p:sp>
        <p:nvSpPr>
          <p:cNvPr id="33" name="Text 31"/>
          <p:cNvSpPr/>
          <p:nvPr/>
        </p:nvSpPr>
        <p:spPr>
          <a:xfrm>
            <a:off x="8375904" y="3127248"/>
            <a:ext cx="13533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Cambio de motor,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diagnóstico y mejoras</a:t>
            </a:r>
            <a:endParaRPr lang="en-US" sz="870" dirty="0"/>
          </a:p>
        </p:txBody>
      </p:sp>
      <p:sp>
        <p:nvSpPr>
          <p:cNvPr id="34" name="Text 32"/>
          <p:cNvSpPr/>
          <p:nvPr/>
        </p:nvSpPr>
        <p:spPr>
          <a:xfrm>
            <a:off x="9875520" y="288950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E819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→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10195560" y="1664208"/>
            <a:ext cx="1609344" cy="2834640"/>
          </a:xfrm>
          <a:prstGeom prst="roundRect">
            <a:avLst>
              <a:gd name="adj" fmla="val 3409"/>
            </a:avLst>
          </a:prstGeom>
          <a:solidFill>
            <a:srgbClr val="0A1826"/>
          </a:solidFill>
          <a:ln w="12700">
            <a:solidFill>
              <a:srgbClr val="33D6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08208" y="1883664"/>
            <a:ext cx="384048" cy="384048"/>
          </a:xfrm>
          <a:prstGeom prst="ellipse">
            <a:avLst/>
          </a:prstGeom>
          <a:solidFill>
            <a:srgbClr val="33D6DD"/>
          </a:solidFill>
          <a:ln w="12700">
            <a:solidFill>
              <a:srgbClr val="33D6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808208" y="192938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6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10305288" y="254203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33D6D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Etapa 6</a:t>
            </a:r>
            <a:endParaRPr lang="en-US" sz="1130" dirty="0"/>
          </a:p>
        </p:txBody>
      </p:sp>
      <p:sp>
        <p:nvSpPr>
          <p:cNvPr id="39" name="Text 37"/>
          <p:cNvSpPr/>
          <p:nvPr/>
        </p:nvSpPr>
        <p:spPr>
          <a:xfrm>
            <a:off x="10323576" y="3127248"/>
            <a:ext cx="13533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Aplicación de escritorio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DCE5E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y operación integral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804672" y="4919472"/>
            <a:ext cx="10588752" cy="987552"/>
          </a:xfrm>
          <a:prstGeom prst="roundRect">
            <a:avLst>
              <a:gd name="adj" fmla="val 5556"/>
            </a:avLst>
          </a:prstGeom>
          <a:solidFill>
            <a:srgbClr val="0A1925"/>
          </a:solidFill>
          <a:ln w="12700">
            <a:solidFill>
              <a:srgbClr val="21465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78992" y="5239512"/>
            <a:ext cx="1389888" cy="265176"/>
          </a:xfrm>
          <a:prstGeom prst="roundRect">
            <a:avLst>
              <a:gd name="adj" fmla="val 27586"/>
            </a:avLst>
          </a:prstGeom>
          <a:solidFill>
            <a:srgbClr val="09232D"/>
          </a:solidFill>
          <a:ln w="10160">
            <a:solidFill>
              <a:srgbClr val="33D6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33856" y="5294376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33D6D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PRESENTACIÓN</a:t>
            </a:r>
            <a:endParaRPr lang="en-US" sz="690" dirty="0"/>
          </a:p>
        </p:txBody>
      </p:sp>
      <p:sp>
        <p:nvSpPr>
          <p:cNvPr id="43" name="Text 41"/>
          <p:cNvSpPr/>
          <p:nvPr/>
        </p:nvSpPr>
        <p:spPr>
          <a:xfrm>
            <a:off x="2542032" y="523951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819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→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880360" y="5239512"/>
            <a:ext cx="2011680" cy="265176"/>
          </a:xfrm>
          <a:prstGeom prst="roundRect">
            <a:avLst>
              <a:gd name="adj" fmla="val 27586"/>
            </a:avLst>
          </a:prstGeom>
          <a:solidFill>
            <a:srgbClr val="28230D"/>
          </a:solidFill>
          <a:ln w="10160">
            <a:solidFill>
              <a:srgbClr val="F2C94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35224" y="5294376"/>
            <a:ext cx="1901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2C94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CONCEPTOS DE CONTROL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4983480" y="523951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819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→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321808" y="5239512"/>
            <a:ext cx="1325880" cy="265176"/>
          </a:xfrm>
          <a:prstGeom prst="roundRect">
            <a:avLst>
              <a:gd name="adj" fmla="val 27586"/>
            </a:avLst>
          </a:prstGeom>
          <a:solidFill>
            <a:srgbClr val="102417"/>
          </a:solidFill>
          <a:ln w="10160">
            <a:solidFill>
              <a:srgbClr val="50D56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76672" y="52943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50D56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ETAPAS 1 - 6</a:t>
            </a:r>
            <a:endParaRPr lang="en-US" sz="690" dirty="0"/>
          </a:p>
        </p:txBody>
      </p:sp>
      <p:sp>
        <p:nvSpPr>
          <p:cNvPr id="49" name="Text 47"/>
          <p:cNvSpPr/>
          <p:nvPr/>
        </p:nvSpPr>
        <p:spPr>
          <a:xfrm>
            <a:off x="6739128" y="523951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819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→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7077456" y="5239512"/>
            <a:ext cx="1737360" cy="265176"/>
          </a:xfrm>
          <a:prstGeom prst="roundRect">
            <a:avLst>
              <a:gd name="adj" fmla="val 27586"/>
            </a:avLst>
          </a:prstGeom>
          <a:solidFill>
            <a:srgbClr val="21172F"/>
          </a:solidFill>
          <a:ln w="10160">
            <a:solidFill>
              <a:srgbClr val="9C6B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32320" y="5294376"/>
            <a:ext cx="1627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9C6B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FSM / ARQUITECTURA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8906256" y="523951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819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→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9244584" y="5239512"/>
            <a:ext cx="1417320" cy="265176"/>
          </a:xfrm>
          <a:prstGeom prst="roundRect">
            <a:avLst>
              <a:gd name="adj" fmla="val 27586"/>
            </a:avLst>
          </a:prstGeom>
          <a:solidFill>
            <a:srgbClr val="2A1A10"/>
          </a:solidFill>
          <a:ln w="10160">
            <a:solidFill>
              <a:srgbClr val="FF984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99448" y="5294376"/>
            <a:ext cx="1307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984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CONCLUSIONES</a:t>
            </a:r>
            <a:endParaRPr lang="en-US" sz="690" dirty="0"/>
          </a:p>
        </p:txBody>
      </p:sp>
      <p:sp>
        <p:nvSpPr>
          <p:cNvPr id="55" name="Text 53"/>
          <p:cNvSpPr/>
          <p:nvPr/>
        </p:nvSpPr>
        <p:spPr>
          <a:xfrm>
            <a:off x="1600200" y="6144768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D6D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 material queda organizado como una historia técnica: problema → fundamentos → evidencia → arquitectura → resultado.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5976"/>
            <a:ext cx="32004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6E8193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m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m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Trabajo práctico integrador - Ingeniería Electrónica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Puerta motorizada de paso - Presentación y estrategia de desarrollo</dc:title>
  <dc:subject>Presentación y estrategia de desarrollo - Puerta motorizada de paso</dc:subject>
  <dc:creator>OpenAI</dc:creator>
  <cp:lastModifiedBy>OpenAI</cp:lastModifiedBy>
  <cp:revision>1</cp:revision>
  <dcterms:created xsi:type="dcterms:W3CDTF">2026-09-16T10:42:38Z</dcterms:created>
  <dcterms:modified xsi:type="dcterms:W3CDTF">2026-09-16T10:42:38Z</dcterms:modified>
</cp:coreProperties>
</file>