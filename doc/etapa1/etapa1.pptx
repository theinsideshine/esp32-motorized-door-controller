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Etapa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69494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4F7FB"/>
                </a:solidFill>
                <a:latin typeface="Aptos"/>
              </a:rPr>
              <a:t>Validación inicial de hardware
y plataforma electromecánica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58568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BBCD4"/>
                </a:solidFill>
                <a:latin typeface="Aptos"/>
              </a:rPr>
              <a:t>Del diseño CAD a la primera plataforma física gobernada por firmware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62072"/>
            <a:ext cx="7040880" cy="2157984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39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27248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RESUMEN DE LA ETAPA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93008"/>
            <a:ext cx="6355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4F7FB"/>
                </a:solidFill>
                <a:latin typeface="Aptos"/>
              </a:rPr>
              <a:t>Primero se validó la física: diseño 3D, montaje, selección de componentes y prueba directa del N20 a 6 V. Luego se integró el hardware y se desarrolló un primer firmware monolítico para mover, medir y observar el sistema.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Aptos"/>
              </a:rPr>
              <a:t>Resultado: plataforma operativa + primer aprendizaje de control.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960120"/>
            <a:ext cx="3611880" cy="4069080"/>
          </a:xfrm>
          <a:prstGeom prst="roundRect">
            <a:avLst/>
          </a:prstGeom>
          <a:solidFill>
            <a:srgbClr val="0B162A"/>
          </a:solidFill>
          <a:ln w="12700">
            <a:solidFill>
              <a:srgbClr val="39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75320" y="1325880"/>
            <a:ext cx="493776" cy="493776"/>
          </a:xfrm>
          <a:prstGeom prst="ellipse">
            <a:avLst/>
          </a:prstGeom>
          <a:solidFill>
            <a:srgbClr val="22C55E"/>
          </a:solidFill>
          <a:ln w="19050">
            <a:solidFill>
              <a:srgbClr val="1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469075"/>
            <a:ext cx="347472" cy="207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4F7FB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2832" y="1435607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CAD / 3D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22208" y="1828800"/>
            <a:ext cx="0" cy="292608"/>
          </a:xfrm>
          <a:prstGeom prst="line">
            <a:avLst/>
          </a:prstGeom>
          <a:ln w="25400">
            <a:solidFill>
              <a:srgbClr val="AB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275320" y="2020824"/>
            <a:ext cx="493776" cy="493776"/>
          </a:xfrm>
          <a:prstGeom prst="ellipse">
            <a:avLst/>
          </a:prstGeom>
          <a:solidFill>
            <a:srgbClr val="3B82F6"/>
          </a:solidFill>
          <a:ln w="19050">
            <a:solidFill>
              <a:srgbClr val="1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2164019"/>
            <a:ext cx="347472" cy="207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4F7FB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2832" y="2130552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Hardware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22208" y="2523744"/>
            <a:ext cx="0" cy="292608"/>
          </a:xfrm>
          <a:prstGeom prst="line">
            <a:avLst/>
          </a:prstGeom>
          <a:ln w="25400">
            <a:solidFill>
              <a:srgbClr val="AB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275320" y="2715768"/>
            <a:ext cx="493776" cy="49377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2858963"/>
            <a:ext cx="347472" cy="207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4F7FB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2832" y="2825496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6 V directo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22208" y="3218687"/>
            <a:ext cx="0" cy="292609"/>
          </a:xfrm>
          <a:prstGeom prst="line">
            <a:avLst/>
          </a:prstGeom>
          <a:ln w="25400">
            <a:solidFill>
              <a:srgbClr val="AB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275320" y="3410711"/>
            <a:ext cx="493776" cy="493776"/>
          </a:xfrm>
          <a:prstGeom prst="ellipse">
            <a:avLst/>
          </a:prstGeom>
          <a:solidFill>
            <a:srgbClr val="8B5CF6"/>
          </a:solidFill>
          <a:ln w="19050">
            <a:solidFill>
              <a:srgbClr val="1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2" y="3553907"/>
            <a:ext cx="347472" cy="207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4F7FB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3520439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Firmware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522208" y="3913631"/>
            <a:ext cx="0" cy="292609"/>
          </a:xfrm>
          <a:prstGeom prst="line">
            <a:avLst/>
          </a:prstGeom>
          <a:ln w="25400">
            <a:solidFill>
              <a:srgbClr val="AB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275320" y="4105655"/>
            <a:ext cx="493776" cy="493776"/>
          </a:xfrm>
          <a:prstGeom prst="ellipse">
            <a:avLst/>
          </a:prstGeom>
          <a:solidFill>
            <a:srgbClr val="2DD4BF"/>
          </a:solidFill>
          <a:ln w="19050">
            <a:solidFill>
              <a:srgbClr val="1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8472" y="4248851"/>
            <a:ext cx="347472" cy="207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4F7FB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42832" y="4215383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Ensayo PWM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47104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BBCD4"/>
                </a:solidFill>
                <a:latin typeface="Aptos"/>
              </a:rPr>
              <a:t>esp32-motorized-door-controller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47104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BBCD4"/>
                </a:solidFill>
                <a:latin typeface="Aptos"/>
              </a:rPr>
              <a:t>Etapa 1 · 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6144768"/>
            <a:ext cx="7132320" cy="301752"/>
          </a:xfrm>
          <a:prstGeom prst="roundRect">
            <a:avLst/>
          </a:prstGeom>
          <a:solidFill>
            <a:srgbClr val="0C2539"/>
          </a:solidFill>
          <a:ln>
            <a:solidFill>
              <a:srgbClr val="1F6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6208776"/>
            <a:ext cx="6903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CECE0"/>
                </a:solidFill>
                <a:latin typeface="Aptos"/>
              </a:rPr>
              <a:t>Materias: Sistemas de Representación · Electrónica I/II/III · Automatización · Fundamentos de Programación · Programación Avanzada · Sistemas de Control · Proyecto 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1. Diseño mecánico previo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BBCD4"/>
                </a:solidFill>
                <a:latin typeface="Aptos"/>
              </a:rPr>
              <a:t>El primer riesgo era que el mecanismo simplemente no pudiera moverse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52144"/>
            <a:ext cx="11082528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0352" y="1389888"/>
            <a:ext cx="6144768" cy="4425696"/>
          </a:xfrm>
          <a:prstGeom prst="roundRect">
            <a:avLst/>
          </a:prstGeom>
          <a:solidFill>
            <a:srgbClr val="0B162A"/>
          </a:solidFill>
          <a:ln w="12700">
            <a:solidFill>
              <a:srgbClr val="39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usion_model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627632"/>
            <a:ext cx="5669280" cy="3246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8" y="5001768"/>
            <a:ext cx="5577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BBCD4"/>
                </a:solidFill>
                <a:latin typeface="Aptos"/>
              </a:rPr>
              <a:t>Ensamblaje CAD utilizado para verificar posiciones, soportes, amure del motor y espacio para los componentes.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31152" y="1389888"/>
            <a:ext cx="4690872" cy="4425696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39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51192" y="1719072"/>
            <a:ext cx="1645920" cy="34747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51192" y="1778507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4F7FB"/>
                </a:solidFill>
                <a:latin typeface="Aptos"/>
              </a:rPr>
              <a:t>HITO MECÁNICO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1192" y="2221992"/>
            <a:ext cx="3977639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7FB"/>
                </a:solidFill>
                <a:latin typeface="Aptos"/>
              </a:rPr>
              <a:t>Motor centrado + mecanismo libre + puerta/aguja montable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51192" y="3063240"/>
            <a:ext cx="3886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• Modelado de base, soporte de motor, puerta, sensor, switch y fijaciones.</a:t>
            </a:r>
          </a:p>
          <a:p>
            <a:pPr>
              <a:spcAft>
                <a:spcPts val="6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• El amure y el centrado son críticos: una desalineación agrega rozamiento y esfuerzos laterales.</a:t>
            </a:r>
          </a:p>
          <a:p>
            <a:pPr>
              <a:spcAft>
                <a:spcPts val="6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• La impresión 3D permite iterar rápido, pero cada cota crítica debe validarse sobre el montaje real.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BBCD4"/>
                </a:solidFill>
                <a:latin typeface="Aptos"/>
              </a:rPr>
              <a:t>esp32-motorized-door-controller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547104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BBCD4"/>
                </a:solidFill>
                <a:latin typeface="Aptos"/>
              </a:rPr>
              <a:t>Etapa 1 ·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6144768"/>
            <a:ext cx="3470148" cy="301752"/>
          </a:xfrm>
          <a:prstGeom prst="roundRect">
            <a:avLst/>
          </a:prstGeom>
          <a:solidFill>
            <a:srgbClr val="0C2539"/>
          </a:solidFill>
          <a:ln>
            <a:solidFill>
              <a:srgbClr val="1F6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6208776"/>
            <a:ext cx="32415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CECE0"/>
                </a:solidFill>
                <a:latin typeface="Aptos"/>
              </a:rPr>
              <a:t>Materias: Sistemas de Representación · Modelado/Fabricación 3D · Automatización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2. Hardware y esquemático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BBCD4"/>
                </a:solidFill>
                <a:latin typeface="Aptos"/>
              </a:rPr>
              <a:t>Probar por partes no significa diseñar sin una arquitectura documentada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52144"/>
            <a:ext cx="11082528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0352" y="1389888"/>
            <a:ext cx="6492240" cy="4370832"/>
          </a:xfrm>
          <a:prstGeom prst="roundRect">
            <a:avLst/>
          </a:prstGeom>
          <a:solidFill>
            <a:srgbClr val="0B162A"/>
          </a:solidFill>
          <a:ln w="12700">
            <a:solidFill>
              <a:srgbClr val="39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hematic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08076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" y="5294376"/>
            <a:ext cx="5943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BBCD4"/>
                </a:solidFill>
                <a:latin typeface="Aptos"/>
              </a:rPr>
              <a:t>Esquemático de referencia: incluso usando módulos comerciales, conviene documentar la arquitectura completa.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51192" y="1389888"/>
            <a:ext cx="4370832" cy="4370832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39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62088" y="1709928"/>
            <a:ext cx="1645920" cy="34747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62088" y="1769364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4F7FB"/>
                </a:solidFill>
                <a:latin typeface="Aptos"/>
              </a:rPr>
              <a:t>BUENA PRÁCTICA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2088" y="2267712"/>
            <a:ext cx="3611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• ESP32-S3 + DRV8833 + motor N20 6 V.</a:t>
            </a:r>
          </a:p>
          <a:p>
            <a:pPr>
              <a:spcAft>
                <a:spcPts val="6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• AS5048A para posición absoluta y final de carrera como entrada adicional.</a:t>
            </a:r>
          </a:p>
          <a:p>
            <a:pPr>
              <a:spcAft>
                <a:spcPts val="6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• Fuente de 6 V y masa común documentadas desde el inicio.</a:t>
            </a:r>
          </a:p>
          <a:p>
            <a:pPr>
              <a:spcAft>
                <a:spcPts val="6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• El montaje con módulos es prototipo; el esquemático es la base del futuro PCB del producto.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BBCD4"/>
                </a:solidFill>
                <a:latin typeface="Aptos"/>
              </a:rPr>
              <a:t>esp32-motorized-door-controller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547104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BBCD4"/>
                </a:solidFill>
                <a:latin typeface="Aptos"/>
              </a:rPr>
              <a:t>Etapa 1 ·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6144768"/>
            <a:ext cx="3470148" cy="301752"/>
          </a:xfrm>
          <a:prstGeom prst="roundRect">
            <a:avLst/>
          </a:prstGeom>
          <a:solidFill>
            <a:srgbClr val="0C2539"/>
          </a:solidFill>
          <a:ln>
            <a:solidFill>
              <a:srgbClr val="1F6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6208776"/>
            <a:ext cx="32415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CECE0"/>
                </a:solidFill>
                <a:latin typeface="Aptos"/>
              </a:rPr>
              <a:t>Materias: Electrónica I, II y III · Sistemas de Representación · Proyecto Final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3. BOM aproximado de la plataforma inicial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BBCD4"/>
                </a:solidFill>
                <a:latin typeface="Aptos"/>
              </a:rPr>
              <a:t>Lista preliminar obtenida del ensamblaje 3D y del esquemático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52144"/>
            <a:ext cx="11082528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36192"/>
            <a:ext cx="3264408" cy="4251960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39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810512"/>
            <a:ext cx="1143000" cy="34747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69948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4F7FB"/>
                </a:solidFill>
                <a:latin typeface="Aptos"/>
              </a:rPr>
              <a:t>Mecánico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40864"/>
            <a:ext cx="2697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4F7FB"/>
                </a:solidFill>
                <a:latin typeface="Aptos"/>
              </a:defRPr>
            </a:pPr>
            <a:r>
              <a:t>• Base y soporte principal</a:t>
            </a:r>
          </a:p>
          <a:p>
            <a:pPr>
              <a:spcAft>
                <a:spcPts val="600"/>
              </a:spcAft>
              <a:defRPr sz="1400">
                <a:solidFill>
                  <a:srgbClr val="F4F7FB"/>
                </a:solidFill>
                <a:latin typeface="Aptos"/>
              </a:defRPr>
            </a:pPr>
            <a:r>
              <a:t>• Cama de motor</a:t>
            </a:r>
          </a:p>
          <a:p>
            <a:pPr>
              <a:spcAft>
                <a:spcPts val="600"/>
              </a:spcAft>
              <a:defRPr sz="1400">
                <a:solidFill>
                  <a:srgbClr val="F4F7FB"/>
                </a:solidFill>
                <a:latin typeface="Aptos"/>
              </a:defRPr>
            </a:pPr>
            <a:r>
              <a:t>• Puerta / aguja</a:t>
            </a:r>
          </a:p>
          <a:p>
            <a:pPr>
              <a:spcAft>
                <a:spcPts val="600"/>
              </a:spcAft>
              <a:defRPr sz="1400">
                <a:solidFill>
                  <a:srgbClr val="F4F7FB"/>
                </a:solidFill>
                <a:latin typeface="Aptos"/>
              </a:defRPr>
            </a:pPr>
            <a:r>
              <a:t>• Soporte de sensor</a:t>
            </a:r>
          </a:p>
          <a:p>
            <a:pPr>
              <a:spcAft>
                <a:spcPts val="600"/>
              </a:spcAft>
              <a:defRPr sz="1400">
                <a:solidFill>
                  <a:srgbClr val="F4F7FB"/>
                </a:solidFill>
                <a:latin typeface="Aptos"/>
              </a:defRPr>
            </a:pPr>
            <a:r>
              <a:t>• Asiento de switch</a:t>
            </a:r>
          </a:p>
          <a:p>
            <a:pPr>
              <a:spcAft>
                <a:spcPts val="600"/>
              </a:spcAft>
              <a:defRPr sz="1400">
                <a:solidFill>
                  <a:srgbClr val="F4F7FB"/>
                </a:solidFill>
                <a:latin typeface="Aptos"/>
              </a:defRPr>
            </a:pPr>
            <a:r>
              <a:t>• Fijaciones M3 / M4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33087" y="1536192"/>
            <a:ext cx="3264408" cy="4251960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39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0831" y="1810512"/>
            <a:ext cx="114300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1" y="1869948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4F7FB"/>
                </a:solidFill>
                <a:latin typeface="Aptos"/>
              </a:rPr>
              <a:t>Electrónico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7" y="2340864"/>
            <a:ext cx="2697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4F7FB"/>
                </a:solidFill>
                <a:latin typeface="Aptos"/>
              </a:defRPr>
            </a:pPr>
            <a:r>
              <a:t>• ESP32-S3 Dev Module</a:t>
            </a:r>
          </a:p>
          <a:p>
            <a:pPr>
              <a:spcAft>
                <a:spcPts val="600"/>
              </a:spcAft>
              <a:defRPr sz="1400">
                <a:solidFill>
                  <a:srgbClr val="F4F7FB"/>
                </a:solidFill>
                <a:latin typeface="Aptos"/>
              </a:defRPr>
            </a:pPr>
            <a:r>
              <a:t>• DRV8833</a:t>
            </a:r>
          </a:p>
          <a:p>
            <a:pPr>
              <a:spcAft>
                <a:spcPts val="600"/>
              </a:spcAft>
              <a:defRPr sz="1400">
                <a:solidFill>
                  <a:srgbClr val="F4F7FB"/>
                </a:solidFill>
                <a:latin typeface="Aptos"/>
              </a:defRPr>
            </a:pPr>
            <a:r>
              <a:t>• Motor N20 6 V</a:t>
            </a:r>
          </a:p>
          <a:p>
            <a:pPr>
              <a:spcAft>
                <a:spcPts val="600"/>
              </a:spcAft>
              <a:defRPr sz="1400">
                <a:solidFill>
                  <a:srgbClr val="F4F7FB"/>
                </a:solidFill>
                <a:latin typeface="Aptos"/>
              </a:defRPr>
            </a:pPr>
            <a:r>
              <a:t>• AS5048A</a:t>
            </a:r>
          </a:p>
          <a:p>
            <a:pPr>
              <a:spcAft>
                <a:spcPts val="600"/>
              </a:spcAft>
              <a:defRPr sz="1400">
                <a:solidFill>
                  <a:srgbClr val="F4F7FB"/>
                </a:solidFill>
                <a:latin typeface="Aptos"/>
              </a:defRPr>
            </a:pPr>
            <a:r>
              <a:t>• Final de carrera</a:t>
            </a:r>
          </a:p>
          <a:p>
            <a:pPr>
              <a:spcAft>
                <a:spcPts val="600"/>
              </a:spcAft>
              <a:defRPr sz="1400">
                <a:solidFill>
                  <a:srgbClr val="F4F7FB"/>
                </a:solidFill>
                <a:latin typeface="Aptos"/>
              </a:defRPr>
            </a:pPr>
            <a:r>
              <a:t>• Fuente 6 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99248" y="1536192"/>
            <a:ext cx="3264408" cy="4251960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39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36992" y="1810512"/>
            <a:ext cx="1143000" cy="34747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6992" y="1869948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4F7FB"/>
                </a:solidFill>
                <a:latin typeface="Aptos"/>
              </a:rPr>
              <a:t>Integración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2340864"/>
            <a:ext cx="2697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4F7FB"/>
                </a:solidFill>
                <a:latin typeface="Aptos"/>
              </a:defRPr>
            </a:pPr>
            <a:r>
              <a:t>• Screw shield / adaptador</a:t>
            </a:r>
          </a:p>
          <a:p>
            <a:pPr>
              <a:spcAft>
                <a:spcPts val="600"/>
              </a:spcAft>
              <a:defRPr sz="1400">
                <a:solidFill>
                  <a:srgbClr val="F4F7FB"/>
                </a:solidFill>
                <a:latin typeface="Aptos"/>
              </a:defRPr>
            </a:pPr>
            <a:r>
              <a:t>• Cableado</a:t>
            </a:r>
          </a:p>
          <a:p>
            <a:pPr>
              <a:spcAft>
                <a:spcPts val="600"/>
              </a:spcAft>
              <a:defRPr sz="1400">
                <a:solidFill>
                  <a:srgbClr val="F4F7FB"/>
                </a:solidFill>
                <a:latin typeface="Aptos"/>
              </a:defRPr>
            </a:pPr>
            <a:r>
              <a:t>• Tira WS2812B prevista</a:t>
            </a:r>
          </a:p>
          <a:p>
            <a:pPr>
              <a:spcAft>
                <a:spcPts val="600"/>
              </a:spcAft>
              <a:defRPr sz="1400">
                <a:solidFill>
                  <a:srgbClr val="F4F7FB"/>
                </a:solidFill>
                <a:latin typeface="Aptos"/>
              </a:defRPr>
            </a:pPr>
            <a:r>
              <a:t>• Tornillería</a:t>
            </a:r>
          </a:p>
          <a:p>
            <a:pPr>
              <a:spcAft>
                <a:spcPts val="600"/>
              </a:spcAft>
              <a:defRPr sz="1400">
                <a:solidFill>
                  <a:srgbClr val="F4F7FB"/>
                </a:solidFill>
                <a:latin typeface="Aptos"/>
              </a:defRPr>
            </a:pPr>
            <a:r>
              <a:t>• Conectores</a:t>
            </a:r>
          </a:p>
          <a:p>
            <a:pPr>
              <a:spcAft>
                <a:spcPts val="600"/>
              </a:spcAft>
              <a:defRPr sz="1400">
                <a:solidFill>
                  <a:srgbClr val="F4F7FB"/>
                </a:solidFill>
                <a:latin typeface="Aptos"/>
              </a:defRPr>
            </a:pPr>
            <a:r>
              <a:t>• Elementos impresos 3D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61441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BBCD4"/>
                </a:solidFill>
                <a:latin typeface="Aptos"/>
              </a:rPr>
              <a:t>El BOM todavía no es de producción: sirve para documentar la plataforma y detectar dependencias tempranas entre mecánica, electrónica y montaje.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47104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BBCD4"/>
                </a:solidFill>
                <a:latin typeface="Aptos"/>
              </a:rPr>
              <a:t>esp32-motorized-door-controller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547104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BBCD4"/>
                </a:solidFill>
                <a:latin typeface="Aptos"/>
              </a:rPr>
              <a:t>Etapa 1 · 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6144768"/>
            <a:ext cx="4174236" cy="301752"/>
          </a:xfrm>
          <a:prstGeom prst="roundRect">
            <a:avLst/>
          </a:prstGeom>
          <a:solidFill>
            <a:srgbClr val="0C2539"/>
          </a:solidFill>
          <a:ln>
            <a:solidFill>
              <a:srgbClr val="1F6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208776"/>
            <a:ext cx="39456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CECE0"/>
                </a:solidFill>
                <a:latin typeface="Aptos"/>
              </a:rPr>
              <a:t>Materias: Electrónica I/II/III · Sistemas de Representación · Automatización · Proyecto Final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4. Primera condición de validación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BBCD4"/>
                </a:solidFill>
                <a:latin typeface="Aptos"/>
              </a:rPr>
              <a:t>Antes del firmware: demostrar que el conjunto mecánico realmente funciona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52144"/>
            <a:ext cx="11082528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965960"/>
            <a:ext cx="667512" cy="667512"/>
          </a:xfrm>
          <a:prstGeom prst="ellipse">
            <a:avLst/>
          </a:prstGeom>
          <a:solidFill>
            <a:srgbClr val="22C55E"/>
          </a:solidFill>
          <a:ln w="19050">
            <a:solidFill>
              <a:srgbClr val="1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59538"/>
            <a:ext cx="521207" cy="2803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4F7FB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1325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Imprimir y montar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71600" y="2304288"/>
            <a:ext cx="731520" cy="0"/>
          </a:xfrm>
          <a:prstGeom prst="line">
            <a:avLst/>
          </a:prstGeom>
          <a:ln w="31750">
            <a:solidFill>
              <a:srgbClr val="AB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926080" y="1965960"/>
            <a:ext cx="667512" cy="667512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2159538"/>
            <a:ext cx="521207" cy="2803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4F7FB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743200"/>
            <a:ext cx="1325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N20 a 6 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11880" y="2304288"/>
            <a:ext cx="731520" cy="0"/>
          </a:xfrm>
          <a:prstGeom prst="line">
            <a:avLst/>
          </a:prstGeom>
          <a:ln w="31750">
            <a:solidFill>
              <a:srgbClr val="AB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166360" y="1965960"/>
            <a:ext cx="667512" cy="667512"/>
          </a:xfrm>
          <a:prstGeom prst="ellipse">
            <a:avLst/>
          </a:prstGeom>
          <a:solidFill>
            <a:srgbClr val="3B82F6"/>
          </a:solidFill>
          <a:ln w="19050">
            <a:solidFill>
              <a:srgbClr val="1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9512" y="2159538"/>
            <a:ext cx="521207" cy="2803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4F7FB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743200"/>
            <a:ext cx="1325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Girar ambos sentidos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52160" y="2304288"/>
            <a:ext cx="731520" cy="0"/>
          </a:xfrm>
          <a:prstGeom prst="line">
            <a:avLst/>
          </a:prstGeom>
          <a:ln w="31750">
            <a:solidFill>
              <a:srgbClr val="AB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406640" y="1965960"/>
            <a:ext cx="667512" cy="667512"/>
          </a:xfrm>
          <a:prstGeom prst="ellipse">
            <a:avLst/>
          </a:prstGeom>
          <a:solidFill>
            <a:srgbClr val="8B5CF6"/>
          </a:solidFill>
          <a:ln w="19050">
            <a:solidFill>
              <a:srgbClr val="1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2159538"/>
            <a:ext cx="521207" cy="2803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4F7FB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743200"/>
            <a:ext cx="1325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Montar puerta/aguja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92440" y="2304288"/>
            <a:ext cx="731520" cy="0"/>
          </a:xfrm>
          <a:prstGeom prst="line">
            <a:avLst/>
          </a:prstGeom>
          <a:ln w="31750">
            <a:solidFill>
              <a:srgbClr val="AB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646920" y="1965960"/>
            <a:ext cx="667512" cy="667512"/>
          </a:xfrm>
          <a:prstGeom prst="ellipse">
            <a:avLst/>
          </a:prstGeom>
          <a:solidFill>
            <a:srgbClr val="2DD4BF"/>
          </a:solidFill>
          <a:ln w="19050">
            <a:solidFill>
              <a:srgbClr val="1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0072" y="2159538"/>
            <a:ext cx="521207" cy="2803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4F7FB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743200"/>
            <a:ext cx="1325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Integrar electrónica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3968496"/>
            <a:ext cx="10104120" cy="1243584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39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4261104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Condición de avance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7792" y="4169663"/>
            <a:ext cx="7543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B"/>
                </a:solidFill>
                <a:latin typeface="Aptos"/>
              </a:rPr>
              <a:t>El motor debe quedar centrado, girar libremente en ambos sentidos y transmitir el movimiento a la puerta sin interferencias críticas.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07792" y="473659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BBCD4"/>
                </a:solidFill>
                <a:latin typeface="Aptos"/>
              </a:rPr>
              <a:t>Esta prueba parece simple, pero descarta un riesgo capaz de invalidar todas las etapas posteriores.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47104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BBCD4"/>
                </a:solidFill>
                <a:latin typeface="Aptos"/>
              </a:rPr>
              <a:t>esp32-motorized-door-controller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547104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BBCD4"/>
                </a:solidFill>
                <a:latin typeface="Aptos"/>
              </a:rPr>
              <a:t>Etapa 1 · 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6144768"/>
            <a:ext cx="4174236" cy="301752"/>
          </a:xfrm>
          <a:prstGeom prst="roundRect">
            <a:avLst/>
          </a:prstGeom>
          <a:solidFill>
            <a:srgbClr val="0C2539"/>
          </a:solidFill>
          <a:ln>
            <a:solidFill>
              <a:srgbClr val="1F6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6208776"/>
            <a:ext cx="39456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CECE0"/>
                </a:solidFill>
                <a:latin typeface="Aptos"/>
              </a:rPr>
              <a:t>Materias: Automatización · Sistemas de Representación · Electrónica I/II/III · Proyecto Final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5. Primer firmware monolítico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BBCD4"/>
                </a:solidFill>
                <a:latin typeface="Aptos"/>
              </a:rPr>
              <a:t>Una herramienta de validación física, no todavía una arquitectura de producto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52144"/>
            <a:ext cx="11082528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0352" y="1389888"/>
            <a:ext cx="4709160" cy="4462272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39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00784"/>
            <a:ext cx="1280160" cy="34747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60220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4F7FB"/>
                </a:solidFill>
                <a:latin typeface="Aptos"/>
              </a:rPr>
              <a:t>IDEA CENTRAL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85416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4F7FB"/>
                </a:solidFill>
                <a:latin typeface="Aptos"/>
              </a:rPr>
              <a:t>Un único .ino, sin capas ni abstracciones de dominio.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3886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4F7FB"/>
                </a:solidFill>
                <a:latin typeface="Aptos"/>
              </a:defRPr>
            </a:pPr>
            <a:r>
              <a:t>• Motor, sensor, comandos Serial, posiciones, diagnóstico y control automático conviven en el mismo archivo.</a:t>
            </a:r>
          </a:p>
          <a:p>
            <a:pPr>
              <a:spcAft>
                <a:spcPts val="600"/>
              </a:spcAft>
              <a:defRPr sz="1400">
                <a:solidFill>
                  <a:srgbClr val="F4F7FB"/>
                </a:solidFill>
                <a:latin typeface="Aptos"/>
              </a:defRPr>
            </a:pPr>
            <a:r>
              <a:t>• Los “estados” aparecen mediante enums, flags y funciones; no existe una FSM central formal.</a:t>
            </a:r>
          </a:p>
          <a:p>
            <a:pPr>
              <a:spcAft>
                <a:spcPts val="600"/>
              </a:spcAft>
              <a:defRPr sz="1400">
                <a:solidFill>
                  <a:srgbClr val="F4F7FB"/>
                </a:solidFill>
                <a:latin typeface="Aptos"/>
              </a:defRPr>
            </a:pPr>
            <a:r>
              <a:t>• Se utilizó asistencia de Codex para acelerar la iteración; la validación real se hizo sobre el hardware.</a:t>
            </a:r>
          </a:p>
          <a:p>
            <a:pPr>
              <a:spcAft>
                <a:spcPts val="600"/>
              </a:spcAft>
              <a:defRPr sz="1400">
                <a:solidFill>
                  <a:srgbClr val="F4F7FB"/>
                </a:solidFill>
                <a:latin typeface="Aptos"/>
              </a:defRPr>
            </a:pPr>
            <a:r>
              <a:t>• Es apropiado para probar rápido. Se vuelve costoso de mantener cuando el producto empieza a crecer.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68112" y="1389888"/>
            <a:ext cx="6153912" cy="4462272"/>
          </a:xfrm>
          <a:prstGeom prst="roundRect">
            <a:avLst/>
          </a:prstGeom>
          <a:solidFill>
            <a:srgbClr val="071222"/>
          </a:solidFill>
          <a:ln w="12700">
            <a:solidFill>
              <a:srgbClr val="39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79008" y="1700784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Aptos"/>
              </a:rPr>
              <a:t>loop() real simplificado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7296" y="2057400"/>
            <a:ext cx="5376672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CE8F8"/>
                </a:solidFill>
                <a:latin typeface="Consolas"/>
              </a:rPr>
              <a:t>void loop() {
  readSerialCommands();
  if (autoMoveActive) {
    updateAutoMove();
    return;
  }
  checkMotorTimeout();
  if (streamEnabled &amp;&amp;
      millis() - lastStreamMs &gt;= STREAM_PERIOD_MS) {
    lastStreamMs = millis();
    readSensorDegMeasured(false);
    printSensor();
  }
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7296" y="5458968"/>
            <a:ext cx="5303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BBCD4"/>
                </a:solidFill>
                <a:latin typeface="Aptos"/>
              </a:rPr>
              <a:t>Lectura: el loop coopera; durante el automático ejecuta una actualización periódica y vuelve a iterar.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BBCD4"/>
                </a:solidFill>
                <a:latin typeface="Aptos"/>
              </a:rPr>
              <a:t>esp32-motorized-door-controller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47104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BBCD4"/>
                </a:solidFill>
                <a:latin typeface="Aptos"/>
              </a:rPr>
              <a:t>Etapa 1 · 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6144768"/>
            <a:ext cx="3419856" cy="301752"/>
          </a:xfrm>
          <a:prstGeom prst="roundRect">
            <a:avLst/>
          </a:prstGeom>
          <a:solidFill>
            <a:srgbClr val="0C2539"/>
          </a:solidFill>
          <a:ln>
            <a:solidFill>
              <a:srgbClr val="1F6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6208776"/>
            <a:ext cx="31912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CECE0"/>
                </a:solidFill>
                <a:latin typeface="Aptos"/>
              </a:rPr>
              <a:t>Materias: Fundamentos de Programación · Programación Avanzada · Automatización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6. Flujo funcional del firmware monolítico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BBCD4"/>
                </a:solidFill>
                <a:latin typeface="Aptos"/>
              </a:rPr>
              <a:t>Representación didáctica de estados implícitos; no es una FSM formal por switch-case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52144"/>
            <a:ext cx="11082528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2606040"/>
            <a:ext cx="914400" cy="914400"/>
          </a:xfrm>
          <a:prstGeom prst="ellipse">
            <a:avLst/>
          </a:prstGeom>
          <a:solidFill>
            <a:srgbClr val="22C55E"/>
          </a:solidFill>
          <a:ln w="19050">
            <a:solidFill>
              <a:srgbClr val="1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871216"/>
            <a:ext cx="7680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4F7FB"/>
                </a:solidFill>
                <a:latin typeface="Aptos"/>
              </a:rPr>
              <a:t>SETUP</a:t>
            </a:r>
          </a:p>
        </p:txBody>
      </p:sp>
      <p:sp>
        <p:nvSpPr>
          <p:cNvPr id="8" name="Oval 7"/>
          <p:cNvSpPr/>
          <p:nvPr/>
        </p:nvSpPr>
        <p:spPr>
          <a:xfrm>
            <a:off x="1965960" y="2423160"/>
            <a:ext cx="1143000" cy="1143000"/>
          </a:xfrm>
          <a:prstGeom prst="ellipse">
            <a:avLst/>
          </a:prstGeom>
          <a:solidFill>
            <a:srgbClr val="2DD4BF"/>
          </a:solidFill>
          <a:ln w="19050">
            <a:solidFill>
              <a:srgbClr val="1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39112" y="2754629"/>
            <a:ext cx="996696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4F7FB"/>
                </a:solidFill>
                <a:latin typeface="Aptos"/>
              </a:rPr>
              <a:t>IDLE /
LISTO</a:t>
            </a:r>
          </a:p>
        </p:txBody>
      </p:sp>
      <p:sp>
        <p:nvSpPr>
          <p:cNvPr id="10" name="Oval 9"/>
          <p:cNvSpPr/>
          <p:nvPr/>
        </p:nvSpPr>
        <p:spPr>
          <a:xfrm>
            <a:off x="1965960" y="1051560"/>
            <a:ext cx="960120" cy="960120"/>
          </a:xfrm>
          <a:prstGeom prst="ellipse">
            <a:avLst/>
          </a:prstGeom>
          <a:solidFill>
            <a:srgbClr val="3B82F6"/>
          </a:solidFill>
          <a:ln w="19050">
            <a:solidFill>
              <a:srgbClr val="1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39112" y="1329994"/>
            <a:ext cx="813816" cy="403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4F7FB"/>
                </a:solidFill>
                <a:latin typeface="Aptos"/>
              </a:rPr>
              <a:t>PULSO
LEFT</a:t>
            </a:r>
          </a:p>
        </p:txBody>
      </p:sp>
      <p:sp>
        <p:nvSpPr>
          <p:cNvPr id="12" name="Oval 11"/>
          <p:cNvSpPr/>
          <p:nvPr/>
        </p:nvSpPr>
        <p:spPr>
          <a:xfrm>
            <a:off x="1965960" y="4005072"/>
            <a:ext cx="960120" cy="960120"/>
          </a:xfrm>
          <a:prstGeom prst="ellipse">
            <a:avLst/>
          </a:prstGeom>
          <a:solidFill>
            <a:srgbClr val="3B82F6"/>
          </a:solidFill>
          <a:ln w="19050">
            <a:solidFill>
              <a:srgbClr val="1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9112" y="4283506"/>
            <a:ext cx="813816" cy="403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4F7FB"/>
                </a:solidFill>
                <a:latin typeface="Aptos"/>
              </a:rPr>
              <a:t>PULSO
RIGHT</a:t>
            </a:r>
          </a:p>
        </p:txBody>
      </p:sp>
      <p:sp>
        <p:nvSpPr>
          <p:cNvPr id="14" name="Oval 13"/>
          <p:cNvSpPr/>
          <p:nvPr/>
        </p:nvSpPr>
        <p:spPr>
          <a:xfrm>
            <a:off x="4096512" y="2468880"/>
            <a:ext cx="1051560" cy="1051560"/>
          </a:xfrm>
          <a:prstGeom prst="ellipse">
            <a:avLst/>
          </a:prstGeom>
          <a:solidFill>
            <a:srgbClr val="2DD4BF"/>
          </a:solidFill>
          <a:ln w="19050">
            <a:solidFill>
              <a:srgbClr val="1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9664" y="2773832"/>
            <a:ext cx="905255" cy="4416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AUTO
START</a:t>
            </a:r>
          </a:p>
        </p:txBody>
      </p:sp>
      <p:sp>
        <p:nvSpPr>
          <p:cNvPr id="16" name="Oval 15"/>
          <p:cNvSpPr/>
          <p:nvPr/>
        </p:nvSpPr>
        <p:spPr>
          <a:xfrm>
            <a:off x="6144768" y="2359152"/>
            <a:ext cx="1261872" cy="1261872"/>
          </a:xfrm>
          <a:prstGeom prst="ellipse">
            <a:avLst/>
          </a:prstGeom>
          <a:solidFill>
            <a:srgbClr val="8B5CF6"/>
          </a:solidFill>
          <a:ln w="19050">
            <a:solidFill>
              <a:srgbClr val="1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725094"/>
            <a:ext cx="1115568" cy="5299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4F7FB"/>
                </a:solidFill>
                <a:latin typeface="Aptos"/>
              </a:rPr>
              <a:t>AUTO
ACTIVO</a:t>
            </a:r>
          </a:p>
        </p:txBody>
      </p:sp>
      <p:sp>
        <p:nvSpPr>
          <p:cNvPr id="18" name="Oval 17"/>
          <p:cNvSpPr/>
          <p:nvPr/>
        </p:nvSpPr>
        <p:spPr>
          <a:xfrm>
            <a:off x="8759952" y="1508760"/>
            <a:ext cx="1115568" cy="1115568"/>
          </a:xfrm>
          <a:prstGeom prst="ellipse">
            <a:avLst/>
          </a:prstGeom>
          <a:solidFill>
            <a:srgbClr val="22C55E"/>
          </a:solidFill>
          <a:ln w="19050">
            <a:solidFill>
              <a:srgbClr val="1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33104" y="1832274"/>
            <a:ext cx="969264" cy="4685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AUTO
FINISH</a:t>
            </a:r>
          </a:p>
        </p:txBody>
      </p:sp>
      <p:sp>
        <p:nvSpPr>
          <p:cNvPr id="20" name="Oval 19"/>
          <p:cNvSpPr/>
          <p:nvPr/>
        </p:nvSpPr>
        <p:spPr>
          <a:xfrm>
            <a:off x="8759952" y="3858768"/>
            <a:ext cx="1115568" cy="111556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33104" y="4182282"/>
            <a:ext cx="969264" cy="4685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AUTO
CANCEL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1508760" y="2999232"/>
            <a:ext cx="457200" cy="64008"/>
          </a:xfrm>
          <a:prstGeom prst="line">
            <a:avLst/>
          </a:prstGeom>
          <a:ln w="317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450592" y="2011680"/>
            <a:ext cx="91440" cy="411480"/>
          </a:xfrm>
          <a:prstGeom prst="line">
            <a:avLst/>
          </a:prstGeom>
          <a:ln w="317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770632" y="169164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BBCD4"/>
                </a:solidFill>
                <a:latin typeface="Aptos"/>
              </a:rPr>
              <a:t>cmd f/F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450592" y="2011680"/>
            <a:ext cx="0" cy="411480"/>
          </a:xfrm>
          <a:prstGeom prst="line">
            <a:avLst/>
          </a:prstGeom>
          <a:ln w="317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87552" y="193852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BBCD4"/>
                </a:solidFill>
                <a:latin typeface="Aptos"/>
              </a:rPr>
              <a:t>timeout / stop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450592" y="3566160"/>
            <a:ext cx="91440" cy="438912"/>
          </a:xfrm>
          <a:prstGeom prst="line">
            <a:avLst/>
          </a:prstGeom>
          <a:ln w="317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761488" y="4014215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BBCD4"/>
                </a:solidFill>
                <a:latin typeface="Aptos"/>
              </a:rPr>
              <a:t>cmd r/R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2450592" y="3566160"/>
            <a:ext cx="0" cy="438912"/>
          </a:xfrm>
          <a:prstGeom prst="line">
            <a:avLst/>
          </a:prstGeom>
          <a:ln w="317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60120" y="4270248"/>
            <a:ext cx="9326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BBCD4"/>
                </a:solidFill>
                <a:latin typeface="Aptos"/>
              </a:rPr>
              <a:t>timeout / stop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08960" y="2999232"/>
            <a:ext cx="987552" cy="0"/>
          </a:xfrm>
          <a:prstGeom prst="line">
            <a:avLst/>
          </a:prstGeom>
          <a:ln w="317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218688" y="2679192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BBCD4"/>
                </a:solidFill>
                <a:latin typeface="Aptos"/>
              </a:rPr>
              <a:t>cmd 1/2/3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148072" y="2999232"/>
            <a:ext cx="996696" cy="0"/>
          </a:xfrm>
          <a:prstGeom prst="line">
            <a:avLst/>
          </a:prstGeom>
          <a:ln w="317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239512" y="2679192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BBCD4"/>
                </a:solidFill>
                <a:latin typeface="Aptos"/>
              </a:rPr>
              <a:t>elige dirección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7406640" y="2057400"/>
            <a:ext cx="1353312" cy="731520"/>
          </a:xfrm>
          <a:prstGeom prst="line">
            <a:avLst/>
          </a:prstGeom>
          <a:ln w="317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571231" y="201168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BBCD4"/>
                </a:solidFill>
                <a:latin typeface="Aptos"/>
              </a:rPr>
              <a:t>tolerancia / cruce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406640" y="3273552"/>
            <a:ext cx="1353312" cy="1097280"/>
          </a:xfrm>
          <a:prstGeom prst="line">
            <a:avLst/>
          </a:prstGeom>
          <a:ln w="317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525512" y="3977639"/>
            <a:ext cx="10789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BBCD4"/>
                </a:solidFill>
                <a:latin typeface="Aptos"/>
              </a:rPr>
              <a:t>FC_L / timeout /
stall / x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2542032" y="1508760"/>
            <a:ext cx="6766560" cy="914400"/>
          </a:xfrm>
          <a:prstGeom prst="bentConnector3">
            <a:avLst/>
          </a:prstGeom>
          <a:ln w="25400">
            <a:solidFill>
              <a:srgbClr val="AB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2542032" y="3566160"/>
            <a:ext cx="6766560" cy="1408176"/>
          </a:xfrm>
          <a:prstGeom prst="bentConnector3">
            <a:avLst/>
          </a:prstGeom>
          <a:ln w="25400">
            <a:solidFill>
              <a:srgbClr val="AB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440680" y="4681728"/>
            <a:ext cx="2880360" cy="932688"/>
          </a:xfrm>
          <a:prstGeom prst="roundRect">
            <a:avLst/>
          </a:prstGeom>
          <a:solidFill>
            <a:srgbClr val="0B162A"/>
          </a:solidFill>
          <a:ln w="12700">
            <a:solidFill>
              <a:srgbClr val="39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50992" y="4882896"/>
            <a:ext cx="960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cada ~5 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50992" y="5148072"/>
            <a:ext cx="23591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4F7FB"/>
                </a:solidFill>
                <a:latin typeface="Aptos"/>
              </a:rPr>
              <a:t>leer sensor → error → condiciones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57232" y="2148840"/>
            <a:ext cx="1755648" cy="1627632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39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40112" y="2395728"/>
            <a:ext cx="13898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DD4BF"/>
                </a:solidFill>
                <a:latin typeface="Aptos"/>
              </a:rPr>
              <a:t>Estado implícito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21824" y="2743200"/>
            <a:ext cx="142646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4F7FB"/>
                </a:solidFill>
                <a:latin typeface="Aptos"/>
              </a:rPr>
              <a:t>autoMoveActive
motorState
autoDirection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547104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BBCD4"/>
                </a:solidFill>
                <a:latin typeface="Aptos"/>
              </a:rPr>
              <a:t>esp32-motorized-door-controller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81360" y="6547104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BBCD4"/>
                </a:solidFill>
                <a:latin typeface="Aptos"/>
              </a:rPr>
              <a:t>Etapa 1 · 7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6144768"/>
            <a:ext cx="3419856" cy="301752"/>
          </a:xfrm>
          <a:prstGeom prst="roundRect">
            <a:avLst/>
          </a:prstGeom>
          <a:solidFill>
            <a:srgbClr val="0C2539"/>
          </a:solidFill>
          <a:ln>
            <a:solidFill>
              <a:srgbClr val="1F6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6208776"/>
            <a:ext cx="31912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CECE0"/>
                </a:solidFill>
                <a:latin typeface="Aptos"/>
              </a:rPr>
              <a:t>Materias: Programación Avanzada · Fundamentos de Programación · Automatización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7. Qué representa este primer firmware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BBCD4"/>
                </a:solidFill>
                <a:latin typeface="Aptos"/>
              </a:rPr>
              <a:t>La falta de abstracciones es deliberada: primero validar; después organizar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52144"/>
            <a:ext cx="11082528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481328"/>
            <a:ext cx="5230368" cy="4224528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39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1792224"/>
            <a:ext cx="1143000" cy="34747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51660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4F7FB"/>
                </a:solidFill>
                <a:latin typeface="Aptos"/>
              </a:rPr>
              <a:t>SIRVE PARA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77440"/>
            <a:ext cx="43434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• Probar motor, sensor y comandos rápidamente.</a:t>
            </a:r>
          </a:p>
          <a:p>
            <a:pPr>
              <a:spcAft>
                <a:spcPts val="6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• Medir el comportamiento real del mecanismo.</a:t>
            </a:r>
          </a:p>
          <a:p>
            <a:pPr>
              <a:spcAft>
                <a:spcPts val="6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• Aislar si un problema es físico, eléctrico o de software.</a:t>
            </a:r>
          </a:p>
          <a:p>
            <a:pPr>
              <a:spcAft>
                <a:spcPts val="6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• Crear una baseline funcional antes de refactorizar.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8" y="1481328"/>
            <a:ext cx="5468112" cy="4224528"/>
          </a:xfrm>
          <a:prstGeom prst="roundRect">
            <a:avLst/>
          </a:prstGeom>
          <a:solidFill>
            <a:srgbClr val="101B31"/>
          </a:solidFill>
          <a:ln w="12700">
            <a:solidFill>
              <a:srgbClr val="39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19088" y="1792224"/>
            <a:ext cx="1298448" cy="34747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51660"/>
            <a:ext cx="12984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4F7FB"/>
                </a:solidFill>
                <a:latin typeface="Aptos"/>
              </a:rPr>
              <a:t>NO RESUELVE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77440"/>
            <a:ext cx="44348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• Separación clara entre motor, sensor, control y producto.</a:t>
            </a:r>
          </a:p>
          <a:p>
            <a:pPr>
              <a:spcAft>
                <a:spcPts val="6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• Escalabilidad al sumar LED, configuración persistente y app.</a:t>
            </a:r>
          </a:p>
          <a:p>
            <a:pPr>
              <a:spcAft>
                <a:spcPts val="6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• Reutilización sencilla de componentes.</a:t>
            </a:r>
          </a:p>
          <a:p>
            <a:pPr>
              <a:spcAft>
                <a:spcPts val="6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• Trazabilidad de responsabilidades cuando el sistema crece.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16636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DD4BF"/>
                </a:solidFill>
                <a:latin typeface="Aptos"/>
              </a:rPr>
              <a:t>Decisión de I+D: no descartar lo que funciona; conservarlo como baseline y evolucionar sobre evidencia.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BBCD4"/>
                </a:solidFill>
                <a:latin typeface="Aptos"/>
              </a:rPr>
              <a:t>esp32-motorized-door-controller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47104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BBCD4"/>
                </a:solidFill>
                <a:latin typeface="Aptos"/>
              </a:rPr>
              <a:t>Etapa 1 · 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6144768"/>
            <a:ext cx="3108960" cy="301752"/>
          </a:xfrm>
          <a:prstGeom prst="roundRect">
            <a:avLst/>
          </a:prstGeom>
          <a:solidFill>
            <a:srgbClr val="0C2539"/>
          </a:solidFill>
          <a:ln>
            <a:solidFill>
              <a:srgbClr val="1F6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6208776"/>
            <a:ext cx="2880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CECE0"/>
                </a:solidFill>
                <a:latin typeface="Aptos"/>
              </a:rPr>
              <a:t>Materias: Programación Avanzada · Proyecto Final · Automatización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8. Ensayo v3.1: PWM fijo y carga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>
                <a:solidFill>
                  <a:srgbClr val="ABBCD4"/>
                </a:solidFill>
                <a:latin typeface="Aptos"/>
              </a:rPr>
              <a:t>El problema deja de ser “mover un motor” y pasa a depender de la planta física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52144"/>
            <a:ext cx="11082528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4617720" cy="4343400"/>
          </a:xfrm>
          <a:prstGeom prst="roundRect">
            <a:avLst/>
          </a:prstGeom>
          <a:solidFill>
            <a:srgbClr val="101B31"/>
          </a:solidFill>
          <a:ln w="13970">
            <a:solidFill>
              <a:srgbClr val="39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719072"/>
            <a:ext cx="105156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4F7FB"/>
                </a:solidFill>
                <a:latin typeface="Aptos"/>
              </a:rPr>
              <a:t>PWM FIJO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3886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7FB"/>
                </a:solidFill>
                <a:latin typeface="Aptos"/>
              </a:rPr>
              <a:t>Una sola perilla parece simple…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914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7FB"/>
                </a:solidFill>
                <a:latin typeface="Aptos"/>
              </a:rPr>
              <a:t>PWM 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2697480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D0D7E6"/>
                </a:solidFill>
                <a:latin typeface="Aptos"/>
              </a:rPr>
              <a:t>3 stalls · no confiable en LEFT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64408"/>
            <a:ext cx="914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7FB"/>
                </a:solidFill>
                <a:latin typeface="Aptos"/>
              </a:rPr>
              <a:t>PWM 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3264408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D0D7E6"/>
                </a:solidFill>
                <a:latin typeface="Aptos"/>
              </a:rPr>
              <a:t>mínimo confiable sin carga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31336"/>
            <a:ext cx="914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7FB"/>
                </a:solidFill>
                <a:latin typeface="Aptos"/>
              </a:rPr>
              <a:t>PWM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3831336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D0D7E6"/>
                </a:solidFill>
                <a:latin typeface="Aptos"/>
              </a:rPr>
              <a:t>llega, pero aumenta el sobrepaso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98264"/>
            <a:ext cx="914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7FB"/>
                </a:solidFill>
                <a:latin typeface="Aptos"/>
              </a:rPr>
              <a:t>PWM 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088" y="4398264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D0D7E6"/>
                </a:solidFill>
                <a:latin typeface="Aptos"/>
              </a:rPr>
              <a:t>más sobrepaso; no mejora precisión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38928"/>
            <a:ext cx="3931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9E0B"/>
                </a:solidFill>
                <a:latin typeface="Aptos"/>
              </a:rPr>
              <a:t>No existe un único PWM que garantice arranque, precisión y robustez en todas las condiciones.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40680" y="1417320"/>
            <a:ext cx="5577840" cy="4343400"/>
          </a:xfrm>
          <a:prstGeom prst="roundRect">
            <a:avLst/>
          </a:prstGeom>
          <a:solidFill>
            <a:srgbClr val="101B31"/>
          </a:solidFill>
          <a:ln w="13970">
            <a:solidFill>
              <a:srgbClr val="39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42432" y="1719072"/>
            <a:ext cx="1417320" cy="34747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4F7FB"/>
                </a:solidFill>
                <a:latin typeface="Aptos"/>
              </a:rPr>
              <a:t>EFECTO DE CARGA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42432" y="2148840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F7FB"/>
                </a:solidFill>
                <a:latin typeface="Aptos"/>
              </a:rPr>
              <a:t>La carga cambia la dinámica; no simplemente “empeora”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269748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ABBCD4"/>
                </a:solidFill>
                <a:latin typeface="Aptos"/>
              </a:rPr>
              <a:t>Carga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69748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ABBCD4"/>
                </a:solidFill>
                <a:latin typeface="Aptos"/>
              </a:rPr>
              <a:t>Mov.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69748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ABBCD4"/>
                </a:solidFill>
                <a:latin typeface="Aptos"/>
              </a:rPr>
              <a:t>Stalls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69748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ABBCD4"/>
                </a:solidFill>
                <a:latin typeface="Aptos"/>
              </a:rPr>
              <a:t>Error prom.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69748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ABBCD4"/>
                </a:solidFill>
                <a:latin typeface="Aptos"/>
              </a:rPr>
              <a:t>Error máx.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0" y="3026664"/>
            <a:ext cx="4800600" cy="475488"/>
          </a:xfrm>
          <a:prstGeom prst="roundRect">
            <a:avLst/>
          </a:prstGeom>
          <a:solidFill>
            <a:srgbClr val="0B162A"/>
          </a:solidFill>
          <a:ln w="13970">
            <a:solidFill>
              <a:srgbClr val="26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3099815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4F7FB"/>
                </a:solidFill>
                <a:latin typeface="Aptos"/>
              </a:rPr>
              <a:t>0 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099815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4F7FB"/>
                </a:solidFill>
                <a:latin typeface="Aptos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3099815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4F7FB"/>
                </a:solidFill>
                <a:latin typeface="Aptos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099815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4F7FB"/>
                </a:solidFill>
                <a:latin typeface="Aptos"/>
              </a:rPr>
              <a:t>2.51°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099815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4F7FB"/>
                </a:solidFill>
                <a:latin typeface="Aptos"/>
              </a:rPr>
              <a:t>4.00°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15000" y="3593592"/>
            <a:ext cx="4800600" cy="475488"/>
          </a:xfrm>
          <a:prstGeom prst="roundRect">
            <a:avLst/>
          </a:prstGeom>
          <a:solidFill>
            <a:srgbClr val="0E1D35"/>
          </a:solidFill>
          <a:ln w="13970">
            <a:solidFill>
              <a:srgbClr val="26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3666744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4F7FB"/>
                </a:solidFill>
                <a:latin typeface="Aptos"/>
              </a:rPr>
              <a:t>2 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666744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4F7FB"/>
                </a:solidFill>
                <a:latin typeface="Aptos"/>
              </a:rPr>
              <a:t>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3666744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4F7FB"/>
                </a:solidFill>
                <a:latin typeface="Aptos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366674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4F7FB"/>
                </a:solidFill>
                <a:latin typeface="Aptos"/>
              </a:rPr>
              <a:t>1.80°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366674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4F7FB"/>
                </a:solidFill>
                <a:latin typeface="Aptos"/>
              </a:rPr>
              <a:t>3.65°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15000" y="4160520"/>
            <a:ext cx="4800600" cy="475488"/>
          </a:xfrm>
          <a:prstGeom prst="roundRect">
            <a:avLst/>
          </a:prstGeom>
          <a:solidFill>
            <a:srgbClr val="0B162A"/>
          </a:solidFill>
          <a:ln w="13970">
            <a:solidFill>
              <a:srgbClr val="26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4233672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4F7FB"/>
                </a:solidFill>
                <a:latin typeface="Aptos"/>
              </a:rPr>
              <a:t>8 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233672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4F7FB"/>
                </a:solidFill>
                <a:latin typeface="Aptos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800" y="4233672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4F7FB"/>
                </a:solidFill>
                <a:latin typeface="Aptos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4233672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4F7FB"/>
                </a:solidFill>
                <a:latin typeface="Aptos"/>
              </a:rPr>
              <a:t>1.41°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4233672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4F7FB"/>
                </a:solidFill>
                <a:latin typeface="Aptos"/>
              </a:rPr>
              <a:t>3.30°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720" y="4937760"/>
            <a:ext cx="4709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F59E0B"/>
                </a:solidFill>
                <a:latin typeface="Aptos"/>
              </a:rPr>
              <a:t>La carga puede reducir el sobrepaso en algunos recorridos y, al mismo tiempo, aumentar el riesgo de no arrancar.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5532120"/>
            <a:ext cx="4709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BBCD4"/>
                </a:solidFill>
                <a:latin typeface="Aptos"/>
              </a:rPr>
              <a:t>Fuente técnica: informe de ensayo v3.1.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37960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BBCD4"/>
                </a:solidFill>
                <a:latin typeface="Aptos"/>
              </a:rPr>
              <a:t>esp32-motorized-door-controller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8440" y="6537960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BBCD4"/>
                </a:solidFill>
                <a:latin typeface="Aptos"/>
              </a:rPr>
              <a:t>Etapa 1 · 9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6144768"/>
            <a:ext cx="4160520" cy="310896"/>
          </a:xfrm>
          <a:prstGeom prst="roundRect">
            <a:avLst/>
          </a:prstGeom>
          <a:solidFill>
            <a:srgbClr val="0C2539"/>
          </a:solidFill>
          <a:ln w="10160">
            <a:solidFill>
              <a:srgbClr val="1F6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6208776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CECE0"/>
                </a:solidFill>
                <a:latin typeface="Aptos"/>
              </a:rPr>
              <a:t>Materias: Sistemas de Control · Automatización · Proyecto Final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9. Qué demostró la instrumentación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>
                <a:solidFill>
                  <a:srgbClr val="ABBCD4"/>
                </a:solidFill>
                <a:latin typeface="Aptos"/>
              </a:rPr>
              <a:t>El sistema detecta el objetivo a tiempo; el error final aparece después del corte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52144"/>
            <a:ext cx="11082528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1993392" cy="2240280"/>
          </a:xfrm>
          <a:prstGeom prst="roundRect">
            <a:avLst/>
          </a:prstGeom>
          <a:solidFill>
            <a:srgbClr val="101B31"/>
          </a:solidFill>
          <a:ln w="13970">
            <a:solidFill>
              <a:srgbClr val="39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9304" y="1901952"/>
            <a:ext cx="731520" cy="731520"/>
          </a:xfrm>
          <a:prstGeom prst="ellipse">
            <a:avLst/>
          </a:prstGeom>
          <a:solidFill>
            <a:srgbClr val="22C55E"/>
          </a:solidFill>
          <a:ln>
            <a:solidFill>
              <a:srgbClr val="1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4F7FB"/>
                </a:solidFill>
                <a:latin typeface="Aptos"/>
              </a:rPr>
              <a:t>5000 µs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788920"/>
            <a:ext cx="17190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F4F7FB"/>
                </a:solidFill>
                <a:latin typeface="Aptos"/>
              </a:rPr>
              <a:t>Período de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182112"/>
            <a:ext cx="166420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0">
                <a:solidFill>
                  <a:srgbClr val="ABBCD4"/>
                </a:solidFill>
                <a:latin typeface="Aptos"/>
              </a:rPr>
              <a:t>Se cumple el ciclo nominal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1691640"/>
            <a:ext cx="1993392" cy="2240280"/>
          </a:xfrm>
          <a:prstGeom prst="roundRect">
            <a:avLst/>
          </a:prstGeom>
          <a:solidFill>
            <a:srgbClr val="101B31"/>
          </a:solidFill>
          <a:ln w="13970">
            <a:solidFill>
              <a:srgbClr val="39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38728" y="1901952"/>
            <a:ext cx="731520" cy="731520"/>
          </a:xfrm>
          <a:prstGeom prst="ellipse">
            <a:avLst/>
          </a:prstGeom>
          <a:solidFill>
            <a:srgbClr val="3B82F6"/>
          </a:solidFill>
          <a:ln>
            <a:solidFill>
              <a:srgbClr val="1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4F7FB"/>
                </a:solidFill>
                <a:latin typeface="Aptos"/>
              </a:rPr>
              <a:t>5002–5006 µs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2788920"/>
            <a:ext cx="17190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F4F7FB"/>
                </a:solidFill>
                <a:latin typeface="Aptos"/>
              </a:rPr>
              <a:t>Muestra máx.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2384" y="3182112"/>
            <a:ext cx="166420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0">
                <a:solidFill>
                  <a:srgbClr val="ABBCD4"/>
                </a:solidFill>
                <a:latin typeface="Aptos"/>
              </a:rPr>
              <a:t>Variación temporal muy baja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57216" y="1691640"/>
            <a:ext cx="1993392" cy="2240280"/>
          </a:xfrm>
          <a:prstGeom prst="roundRect">
            <a:avLst/>
          </a:prstGeom>
          <a:solidFill>
            <a:srgbClr val="101B31"/>
          </a:solidFill>
          <a:ln w="13970">
            <a:solidFill>
              <a:srgbClr val="39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88152" y="1901952"/>
            <a:ext cx="731520" cy="731520"/>
          </a:xfrm>
          <a:prstGeom prst="ellipse">
            <a:avLst/>
          </a:prstGeom>
          <a:solidFill>
            <a:srgbClr val="8B5CF6"/>
          </a:solidFill>
          <a:ln>
            <a:solidFill>
              <a:srgbClr val="1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4F7FB"/>
                </a:solidFill>
                <a:latin typeface="Aptos"/>
              </a:rPr>
              <a:t>~31 µs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4376" y="2788920"/>
            <a:ext cx="17190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F4F7FB"/>
                </a:solidFill>
                <a:latin typeface="Aptos"/>
              </a:rPr>
              <a:t>Lectura AS5048A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7" y="3182112"/>
            <a:ext cx="166420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0">
                <a:solidFill>
                  <a:srgbClr val="ABBCD4"/>
                </a:solidFill>
                <a:latin typeface="Aptos"/>
              </a:rPr>
              <a:t>SPI rápido frente al ciclo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691640"/>
            <a:ext cx="1993392" cy="2240280"/>
          </a:xfrm>
          <a:prstGeom prst="roundRect">
            <a:avLst/>
          </a:prstGeom>
          <a:solidFill>
            <a:srgbClr val="101B31"/>
          </a:solidFill>
          <a:ln w="13970">
            <a:solidFill>
              <a:srgbClr val="39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37575" y="1901952"/>
            <a:ext cx="731520" cy="731520"/>
          </a:xfrm>
          <a:prstGeom prst="ellipse">
            <a:avLst/>
          </a:prstGeom>
          <a:solidFill>
            <a:srgbClr val="F59E0B"/>
          </a:solidFill>
          <a:ln>
            <a:solidFill>
              <a:srgbClr val="1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4F7FB"/>
                </a:solidFill>
                <a:latin typeface="Aptos"/>
              </a:rPr>
              <a:t>38–44 µs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788920"/>
            <a:ext cx="17190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F4F7FB"/>
                </a:solidFill>
                <a:latin typeface="Aptos"/>
              </a:rPr>
              <a:t>Cálculo/control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231" y="3182112"/>
            <a:ext cx="166420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0">
                <a:solidFill>
                  <a:srgbClr val="ABBCD4"/>
                </a:solidFill>
                <a:latin typeface="Aptos"/>
              </a:rPr>
              <a:t>Muy por debajo de 5 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251960"/>
            <a:ext cx="9464040" cy="1234440"/>
          </a:xfrm>
          <a:prstGeom prst="roundRect">
            <a:avLst/>
          </a:prstGeom>
          <a:solidFill>
            <a:srgbClr val="0B162A"/>
          </a:solidFill>
          <a:ln w="13970">
            <a:solidFill>
              <a:srgbClr val="39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97280" y="4507992"/>
            <a:ext cx="1417320" cy="329184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71225"/>
                </a:solidFill>
                <a:latin typeface="Aptos"/>
              </a:rPr>
              <a:t>EVIDENCIA CLAVE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4416552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BBCD4"/>
                </a:solidFill>
                <a:latin typeface="Aptos"/>
              </a:rPr>
              <a:t>decision_error_deg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4416552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2C55E"/>
                </a:solidFill>
                <a:latin typeface="Aptos"/>
              </a:rPr>
              <a:t>cerca del target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4782312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BBCD4"/>
                </a:solidFill>
                <a:latin typeface="Aptos"/>
              </a:rPr>
              <a:t>final_error_deg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4782312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9E0B"/>
                </a:solidFill>
                <a:latin typeface="Aptos"/>
              </a:rPr>
              <a:t>puede quedar desplazado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407408"/>
            <a:ext cx="3200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F4F7FB"/>
                </a:solidFill>
                <a:latin typeface="Aptos"/>
              </a:rPr>
              <a:t>Conclusión: no hay evidencia de pérdida de posición por CPU, SPI ni Serial. El problema dominante es mecánico/dinámico.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632704"/>
            <a:ext cx="9509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BBCD4"/>
                </a:solidFill>
                <a:latin typeface="Aptos"/>
              </a:rPr>
              <a:t>Fuente técnica: informe de ensayo v3.1 — mediciones de muestreo, sensor, control y error final.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37960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BBCD4"/>
                </a:solidFill>
                <a:latin typeface="Aptos"/>
              </a:rPr>
              <a:t>esp32-motorized-door-controller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78440" y="6537960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BBCD4"/>
                </a:solidFill>
                <a:latin typeface="Aptos"/>
              </a:rPr>
              <a:t>Etapa 1 · 10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6144768"/>
            <a:ext cx="4160520" cy="310896"/>
          </a:xfrm>
          <a:prstGeom prst="roundRect">
            <a:avLst/>
          </a:prstGeom>
          <a:solidFill>
            <a:srgbClr val="0C2539"/>
          </a:solidFill>
          <a:ln w="10160">
            <a:solidFill>
              <a:srgbClr val="1F6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6208776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CECE0"/>
                </a:solidFill>
                <a:latin typeface="Aptos"/>
              </a:rPr>
              <a:t>Materias: Sistemas Embebidos · Electrónica · Sistemas de Control · Proyecto Final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10. Decisión de continuidad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>
                <a:solidFill>
                  <a:srgbClr val="ABBCD4"/>
                </a:solidFill>
                <a:latin typeface="Aptos"/>
              </a:rPr>
              <a:t>Antes de modularizar: conservar la baseline y probar una mejora de control por vez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52144"/>
            <a:ext cx="11082528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38528"/>
            <a:ext cx="2011680" cy="2212848"/>
          </a:xfrm>
          <a:prstGeom prst="roundRect">
            <a:avLst/>
          </a:prstGeom>
          <a:solidFill>
            <a:srgbClr val="101B31"/>
          </a:solidFill>
          <a:ln w="13970">
            <a:solidFill>
              <a:srgbClr val="39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35607" y="1618488"/>
            <a:ext cx="694944" cy="694944"/>
          </a:xfrm>
          <a:prstGeom prst="ellipse">
            <a:avLst/>
          </a:prstGeom>
          <a:solidFill>
            <a:srgbClr val="22C55E"/>
          </a:solidFill>
          <a:ln>
            <a:solidFill>
              <a:srgbClr val="1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4F7FB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23160"/>
            <a:ext cx="177393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1">
                <a:solidFill>
                  <a:srgbClr val="F4F7FB"/>
                </a:solidFill>
                <a:latin typeface="Aptos"/>
              </a:rPr>
              <a:t>Baseline v3.1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82112"/>
            <a:ext cx="1737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BBCD4"/>
                </a:solidFill>
                <a:latin typeface="Aptos"/>
              </a:rPr>
              <a:t>PWM fijo medido</a:t>
            </a:r>
            <a:br/>
            <a:r>
              <a:rPr sz="1150" b="0">
                <a:solidFill>
                  <a:srgbClr val="ABBCD4"/>
                </a:solidFill>
                <a:latin typeface="Aptos"/>
              </a:rPr>
              <a:t>y conservado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938528"/>
            <a:ext cx="2011680" cy="2212848"/>
          </a:xfrm>
          <a:prstGeom prst="roundRect">
            <a:avLst/>
          </a:prstGeom>
          <a:solidFill>
            <a:srgbClr val="101B31"/>
          </a:solidFill>
          <a:ln w="13970">
            <a:solidFill>
              <a:srgbClr val="39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95928" y="1618488"/>
            <a:ext cx="694944" cy="694944"/>
          </a:xfrm>
          <a:prstGeom prst="ellipse">
            <a:avLst/>
          </a:prstGeom>
          <a:solidFill>
            <a:srgbClr val="3B82F6"/>
          </a:solidFill>
          <a:ln>
            <a:solidFill>
              <a:srgbClr val="1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4F7FB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2423160"/>
            <a:ext cx="177393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1">
                <a:solidFill>
                  <a:srgbClr val="F4F7FB"/>
                </a:solidFill>
                <a:latin typeface="Aptos"/>
              </a:rPr>
              <a:t>Boost de arranque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182112"/>
            <a:ext cx="1737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BBCD4"/>
                </a:solidFill>
                <a:latin typeface="Aptos"/>
              </a:rPr>
              <a:t>PWM alto por</a:t>
            </a:r>
            <a:br/>
            <a:r>
              <a:rPr sz="1150" b="0">
                <a:solidFill>
                  <a:srgbClr val="ABBCD4"/>
                </a:solidFill>
                <a:latin typeface="Aptos"/>
              </a:rPr>
              <a:t>un tiempo breve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938528"/>
            <a:ext cx="2011680" cy="2212848"/>
          </a:xfrm>
          <a:prstGeom prst="roundRect">
            <a:avLst/>
          </a:prstGeom>
          <a:solidFill>
            <a:srgbClr val="101B31"/>
          </a:solidFill>
          <a:ln w="13970">
            <a:solidFill>
              <a:srgbClr val="39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6248" y="1618488"/>
            <a:ext cx="694944" cy="694944"/>
          </a:xfrm>
          <a:prstGeom prst="ellipse">
            <a:avLst/>
          </a:prstGeom>
          <a:solidFill>
            <a:srgbClr val="F59E0B"/>
          </a:solidFill>
          <a:ln>
            <a:solidFill>
              <a:srgbClr val="1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4F7FB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2423160"/>
            <a:ext cx="177393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1">
                <a:solidFill>
                  <a:srgbClr val="F4F7FB"/>
                </a:solidFill>
                <a:latin typeface="Aptos"/>
              </a:rPr>
              <a:t>Llegada con menos energía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182112"/>
            <a:ext cx="1737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BBCD4"/>
                </a:solidFill>
                <a:latin typeface="Aptos"/>
              </a:rPr>
              <a:t>Reducir PWM /</a:t>
            </a:r>
            <a:br/>
            <a:r>
              <a:rPr sz="1150" b="0">
                <a:solidFill>
                  <a:srgbClr val="ABBCD4"/>
                </a:solidFill>
                <a:latin typeface="Aptos"/>
              </a:rPr>
              <a:t>pre-corte o frenado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1938528"/>
            <a:ext cx="2011680" cy="2212848"/>
          </a:xfrm>
          <a:prstGeom prst="roundRect">
            <a:avLst/>
          </a:prstGeom>
          <a:solidFill>
            <a:srgbClr val="101B31"/>
          </a:solidFill>
          <a:ln w="13970">
            <a:solidFill>
              <a:srgbClr val="39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16568" y="1618488"/>
            <a:ext cx="694944" cy="694944"/>
          </a:xfrm>
          <a:prstGeom prst="ellipse">
            <a:avLst/>
          </a:prstGeom>
          <a:solidFill>
            <a:srgbClr val="8B5CF6"/>
          </a:solidFill>
          <a:ln>
            <a:solidFill>
              <a:srgbClr val="1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4F7FB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2423160"/>
            <a:ext cx="177393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1">
                <a:solidFill>
                  <a:srgbClr val="F4F7FB"/>
                </a:solidFill>
                <a:latin typeface="Aptos"/>
              </a:rPr>
              <a:t>PD/PID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182112"/>
            <a:ext cx="1737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BBCD4"/>
                </a:solidFill>
                <a:latin typeface="Aptos"/>
              </a:rPr>
              <a:t>Realimentación con</a:t>
            </a:r>
            <a:br/>
            <a:r>
              <a:rPr sz="1150" b="0">
                <a:solidFill>
                  <a:srgbClr val="ABBCD4"/>
                </a:solidFill>
                <a:latin typeface="Aptos"/>
              </a:rPr>
              <a:t>AS5048A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2926080"/>
            <a:ext cx="393192" cy="3200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94960" y="2926080"/>
            <a:ext cx="393192" cy="3200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79" y="2926080"/>
            <a:ext cx="393192" cy="3200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4526280"/>
            <a:ext cx="9464040" cy="1078992"/>
          </a:xfrm>
          <a:prstGeom prst="roundRect">
            <a:avLst/>
          </a:prstGeom>
          <a:solidFill>
            <a:srgbClr val="0B162A"/>
          </a:solidFill>
          <a:ln w="13970">
            <a:solidFill>
              <a:srgbClr val="39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681728"/>
            <a:ext cx="8823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DD4BF"/>
                </a:solidFill>
                <a:latin typeface="Aptos"/>
              </a:rPr>
              <a:t>La v3.1 confirma que el problema ya no es de lectura ni de muestreo, sino de control dinámico. La siguiente evolución debe cambiar una sola variable, medir el efecto y conservar siempre la baseline funcional.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669280"/>
            <a:ext cx="9144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ABBCD4"/>
                </a:solidFill>
                <a:latin typeface="Aptos"/>
              </a:rPr>
              <a:t>Criterio del informe: “antes de modularizar”, ensayar una v3.2 mínima con una única mejora de control.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37960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BBCD4"/>
                </a:solidFill>
                <a:latin typeface="Aptos"/>
              </a:rPr>
              <a:t>esp32-motorized-door-controller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8440" y="6537960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BBCD4"/>
                </a:solidFill>
                <a:latin typeface="Aptos"/>
              </a:rPr>
              <a:t>Etapa 1 · 11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6144768"/>
            <a:ext cx="4160520" cy="310896"/>
          </a:xfrm>
          <a:prstGeom prst="roundRect">
            <a:avLst/>
          </a:prstGeom>
          <a:solidFill>
            <a:srgbClr val="0C2539"/>
          </a:solidFill>
          <a:ln w="10160">
            <a:solidFill>
              <a:srgbClr val="1F6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208776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CECE0"/>
                </a:solidFill>
                <a:latin typeface="Aptos"/>
              </a:rPr>
              <a:t>Materias: Proyecto Final · Sistemas de Control · Programación Avanzada · Automatización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B"/>
                </a:solidFill>
                <a:latin typeface="Aptos"/>
              </a:defRPr>
            </a:pPr>
            <a:r>
              <a:t>11. La experiencia también forma parte del 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3268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BBCD4"/>
                </a:solidFill>
                <a:latin typeface="Aptos"/>
              </a:defRPr>
            </a:pPr>
            <a:r>
              <a:t>Los datos son necesarios; saber qué observar y qué pregunta hacer también.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98448"/>
            <a:ext cx="1106424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" y="1600200"/>
            <a:ext cx="4709160" cy="4251960"/>
          </a:xfrm>
          <a:prstGeom prst="roundRect">
            <a:avLst/>
          </a:prstGeom>
          <a:solidFill>
            <a:srgbClr val="101B31"/>
          </a:solidFill>
          <a:ln>
            <a:solidFill>
              <a:srgbClr val="374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1691640" cy="38404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71222"/>
                </a:solidFill>
                <a:latin typeface="Aptos"/>
              </a:defRPr>
            </a:pPr>
            <a:r>
              <a:t>IDEA CENTRAL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59152"/>
            <a:ext cx="4023360" cy="138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4F7FB"/>
                </a:solidFill>
                <a:latin typeface="Aptos"/>
              </a:defRPr>
            </a:pPr>
            <a:r>
              <a:t>Estas conclusiones no aparecen solas.</a:t>
            </a:r>
          </a:p>
          <a:p>
            <a:pPr>
              <a:spcBef>
                <a:spcPts val="800"/>
              </a:spcBef>
              <a:defRPr sz="1550">
                <a:solidFill>
                  <a:srgbClr val="F4F7FB"/>
                </a:solidFill>
                <a:latin typeface="Aptos"/>
              </a:defRPr>
            </a:pPr>
            <a:r>
              <a:t>Surgen de un recurso técnico entrenado que puede relacionar lo que observa con PWM, puente H, firmware y dinámica mecánica.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160520"/>
            <a:ext cx="40690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ABBCD4"/>
                </a:solidFill>
                <a:latin typeface="Aptos"/>
              </a:defRPr>
            </a:pPr>
            <a:r>
              <a:t>• La experiencia orienta qué variable conviene medir.</a:t>
            </a:r>
          </a:p>
          <a:p>
            <a:pPr>
              <a:defRPr sz="1350">
                <a:solidFill>
                  <a:srgbClr val="ABBCD4"/>
                </a:solidFill>
                <a:latin typeface="Aptos"/>
              </a:defRPr>
            </a:pPr>
            <a:r>
              <a:t>• El conocimiento previo permite formular hipótesis útiles.</a:t>
            </a:r>
          </a:p>
          <a:p>
            <a:pPr>
              <a:defRPr sz="1350">
                <a:solidFill>
                  <a:srgbClr val="ABBCD4"/>
                </a:solidFill>
                <a:latin typeface="Aptos"/>
              </a:defRPr>
            </a:pPr>
            <a:r>
              <a:t>• La prueba controlada transforma la intuición en evidencia.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22392" y="1600200"/>
            <a:ext cx="6035040" cy="4251960"/>
          </a:xfrm>
          <a:prstGeom prst="roundRect">
            <a:avLst/>
          </a:prstGeom>
          <a:solidFill>
            <a:srgbClr val="101B31"/>
          </a:solidFill>
          <a:ln>
            <a:solidFill>
              <a:srgbClr val="374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18288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D4BF"/>
                </a:solidFill>
                <a:latin typeface="Aptos"/>
              </a:defRPr>
            </a:pPr>
            <a:r>
              <a:t>DEL SÍNTOMA A LA DECISIÓN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4069080"/>
            <a:ext cx="5440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4F7FB"/>
                </a:solidFill>
                <a:latin typeface="Aptos"/>
              </a:defRPr>
            </a:pPr>
            <a:r>
              <a:t>El instrumento entrega datos.</a:t>
            </a:r>
            <a:br/>
            <a:r>
              <a:t>El criterio técnico decide qué significan y qué prueba sigue.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17320" y="5989320"/>
            <a:ext cx="9372600" cy="594360"/>
          </a:xfrm>
          <a:prstGeom prst="roundRect">
            <a:avLst/>
          </a:prstGeom>
          <a:solidFill>
            <a:srgbClr val="0C2539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6089904"/>
            <a:ext cx="9052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4F7FB"/>
                </a:solidFill>
                <a:latin typeface="Aptos"/>
              </a:defRPr>
            </a:pPr>
            <a:r>
              <a:t>La experiencia no reemplaza la medición: ayuda a convertirla en conocimiento de ingeniería.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6565392"/>
            <a:ext cx="7498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BBCD4"/>
                </a:solidFill>
                <a:latin typeface="Aptos"/>
              </a:defRPr>
            </a:pPr>
            <a:r>
              <a:t>Materias: Proyecto Final · Sistemas de Control · Electrónica · Programación Avanzada · Automatización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7080" y="6565392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BBCD4"/>
                </a:solidFill>
                <a:latin typeface="Aptos"/>
              </a:defRPr>
            </a:pPr>
            <a:r>
              <a:t>Etapa 1 · 12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50992" y="2788920"/>
            <a:ext cx="960120" cy="658368"/>
          </a:xfrm>
          <a:prstGeom prst="roundRect">
            <a:avLst/>
          </a:prstGeom>
          <a:solidFill>
            <a:srgbClr val="22C55E"/>
          </a:solidFill>
          <a:ln>
            <a:solidFill>
              <a:srgbClr val="374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4F7FB"/>
                </a:solidFill>
                <a:latin typeface="Aptos"/>
              </a:defRPr>
            </a:pPr>
            <a:r>
              <a:t>OBSERVAR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624827" y="2999232"/>
            <a:ext cx="146304" cy="228600"/>
          </a:xfrm>
          <a:prstGeom prst="rightArrow">
            <a:avLst/>
          </a:prstGeom>
          <a:solidFill>
            <a:srgbClr val="AB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84848" y="2788920"/>
            <a:ext cx="960120" cy="658368"/>
          </a:xfrm>
          <a:prstGeom prst="roundRect">
            <a:avLst/>
          </a:prstGeom>
          <a:solidFill>
            <a:srgbClr val="3B82F6"/>
          </a:solidFill>
          <a:ln>
            <a:solidFill>
              <a:srgbClr val="374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F4F7FB"/>
                </a:solidFill>
                <a:latin typeface="Aptos"/>
              </a:defRPr>
            </a:pPr>
            <a:r>
              <a:t>INTERPRETAR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758684" y="2999232"/>
            <a:ext cx="146304" cy="228600"/>
          </a:xfrm>
          <a:prstGeom prst="rightArrow">
            <a:avLst/>
          </a:prstGeom>
          <a:solidFill>
            <a:srgbClr val="AB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18704" y="2788920"/>
            <a:ext cx="960120" cy="658368"/>
          </a:xfrm>
          <a:prstGeom prst="roundRect">
            <a:avLst/>
          </a:prstGeom>
          <a:solidFill>
            <a:srgbClr val="8B5CF6"/>
          </a:solidFill>
          <a:ln>
            <a:solidFill>
              <a:srgbClr val="374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4F7FB"/>
                </a:solidFill>
                <a:latin typeface="Aptos"/>
              </a:defRPr>
            </a:pPr>
            <a:r>
              <a:t>HIPÓTESIS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892540" y="2999232"/>
            <a:ext cx="146304" cy="228600"/>
          </a:xfrm>
          <a:prstGeom prst="rightArrow">
            <a:avLst/>
          </a:prstGeom>
          <a:solidFill>
            <a:srgbClr val="AB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052559" y="2788920"/>
            <a:ext cx="960120" cy="658368"/>
          </a:xfrm>
          <a:prstGeom prst="roundRect">
            <a:avLst/>
          </a:prstGeom>
          <a:solidFill>
            <a:srgbClr val="F59E0B"/>
          </a:solidFill>
          <a:ln>
            <a:solidFill>
              <a:srgbClr val="374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4F7FB"/>
                </a:solidFill>
                <a:latin typeface="Aptos"/>
              </a:defRPr>
            </a:pPr>
            <a:r>
              <a:t>MEDIR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0026396" y="2999232"/>
            <a:ext cx="146304" cy="228600"/>
          </a:xfrm>
          <a:prstGeom prst="rightArrow">
            <a:avLst/>
          </a:prstGeom>
          <a:solidFill>
            <a:srgbClr val="AB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186416" y="2788920"/>
            <a:ext cx="960120" cy="658368"/>
          </a:xfrm>
          <a:prstGeom prst="roundRect">
            <a:avLst/>
          </a:prstGeom>
          <a:solidFill>
            <a:srgbClr val="2DD4BF"/>
          </a:solidFill>
          <a:ln>
            <a:solidFill>
              <a:srgbClr val="374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4F7FB"/>
                </a:solidFill>
                <a:latin typeface="Aptos"/>
              </a:defRPr>
            </a:pPr>
            <a:r>
              <a:t>DECIDIR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