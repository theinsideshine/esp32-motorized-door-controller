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BD4D0"/>
          </a:solidFill>
          <a:ln w="12700">
            <a:solidFill>
              <a:srgbClr val="2BD4D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891"/>
                </a:solidFill>
              </a:rPr>
              <a:t>esp32-motorized-door-controller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0881360" y="6510528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7891"/>
                </a:solidFill>
              </a:rPr>
              <a:t>Etapa 4 · 1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02920" y="51206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D4D0"/>
                </a:solidFill>
              </a:rPr>
              <a:t>Etapa 4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960120"/>
            <a:ext cx="7635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</a:rPr>
              <a:t>Simulación, PID en hardware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</a:rPr>
              <a:t>y validación con carga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2066544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8B3C7"/>
                </a:solidFill>
              </a:rPr>
              <a:t>De un modelo identificado a un controlador aplicado sobre la maqueta real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2761488"/>
            <a:ext cx="6858000" cy="1965960"/>
          </a:xfrm>
          <a:prstGeom prst="roundRect">
            <a:avLst>
              <a:gd name="adj" fmla="val 5581"/>
            </a:avLst>
          </a:prstGeom>
          <a:solidFill>
            <a:srgbClr val="0D1B2F"/>
          </a:solidFill>
          <a:ln w="12700">
            <a:solidFill>
              <a:srgbClr val="2B3C59">
                <a:alpha val="9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3232" y="2999232"/>
            <a:ext cx="1645920" cy="256032"/>
          </a:xfrm>
          <a:prstGeom prst="roundRect">
            <a:avLst>
              <a:gd name="adj" fmla="val 28571"/>
            </a:avLst>
          </a:prstGeom>
          <a:solidFill>
            <a:srgbClr val="2BD4D0"/>
          </a:solidFill>
          <a:ln w="12700">
            <a:solidFill>
              <a:srgbClr val="2BD4D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952" y="3054096"/>
            <a:ext cx="1554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8FAFC"/>
                </a:solidFill>
              </a:rPr>
              <a:t>RESUMEN DE LA ETAPA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713232" y="3419856"/>
            <a:ext cx="6309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</a:rPr>
              <a:t>La simulación no reemplazó al ensayo: permitió partir de un set razonable. En hardware se ajustó la zona no lineal real —fricción, arranque y carga— sin romper la arquitectura ni abandonar la baseline.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13232" y="4370832"/>
            <a:ext cx="6309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C46B"/>
                </a:solidFill>
              </a:rPr>
              <a:t>Idea fuerte: se sintonizó fácil porque antes hicimos bien el trabajo.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641080" y="841248"/>
            <a:ext cx="2697480" cy="5047488"/>
          </a:xfrm>
          <a:prstGeom prst="roundRect">
            <a:avLst>
              <a:gd name="adj" fmla="val 4068"/>
            </a:avLst>
          </a:prstGeom>
          <a:solidFill>
            <a:srgbClr val="0D1B2F"/>
          </a:solidFill>
          <a:ln w="12700">
            <a:solidFill>
              <a:srgbClr val="2B3C59">
                <a:alpha val="9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915400" y="1143000"/>
            <a:ext cx="384048" cy="384048"/>
          </a:xfrm>
          <a:prstGeom prst="ellipse">
            <a:avLst/>
          </a:prstGeom>
          <a:solidFill>
            <a:srgbClr val="20C46B"/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07424" y="1527048"/>
            <a:ext cx="0" cy="438912"/>
          </a:xfrm>
          <a:prstGeom prst="line">
            <a:avLst/>
          </a:prstGeom>
          <a:noFill/>
          <a:ln w="15240">
            <a:solidFill>
              <a:srgbClr val="7C8A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34272" y="1252728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8FAFC"/>
                </a:solidFill>
              </a:rPr>
              <a:t>1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9537192" y="121615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Modelo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915400" y="2011680"/>
            <a:ext cx="384048" cy="38404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07424" y="2395728"/>
            <a:ext cx="0" cy="438912"/>
          </a:xfrm>
          <a:prstGeom prst="line">
            <a:avLst/>
          </a:prstGeom>
          <a:noFill/>
          <a:ln w="15240">
            <a:solidFill>
              <a:srgbClr val="7C8AA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34272" y="2121408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8FAFC"/>
                </a:solidFill>
              </a:rPr>
              <a:t>2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9537192" y="208483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Simulación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915400" y="2880360"/>
            <a:ext cx="384048" cy="38404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07424" y="3264408"/>
            <a:ext cx="0" cy="438912"/>
          </a:xfrm>
          <a:prstGeom prst="line">
            <a:avLst/>
          </a:prstGeom>
          <a:noFill/>
          <a:ln w="15240">
            <a:solidFill>
              <a:srgbClr val="7C8AA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034272" y="2990088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8FAFC"/>
                </a:solidFill>
              </a:rPr>
              <a:t>3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9537192" y="295351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Hardware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915400" y="3749040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107424" y="4133088"/>
            <a:ext cx="0" cy="438912"/>
          </a:xfrm>
          <a:prstGeom prst="line">
            <a:avLst/>
          </a:prstGeom>
          <a:noFill/>
          <a:ln w="15240">
            <a:solidFill>
              <a:srgbClr val="7C8AA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034272" y="3858768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8FAFC"/>
                </a:solidFill>
              </a:rPr>
              <a:t>4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9537192" y="382219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Carga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8915400" y="4617720"/>
            <a:ext cx="384048" cy="384048"/>
          </a:xfrm>
          <a:prstGeom prst="ellipse">
            <a:avLst/>
          </a:prstGeom>
          <a:solidFill>
            <a:srgbClr val="2BD4D0"/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034272" y="4727448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8FAFC"/>
                </a:solidFill>
              </a:rPr>
              <a:t>5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9537192" y="469087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Cierre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02920" y="6144768"/>
            <a:ext cx="5486400" cy="292608"/>
          </a:xfrm>
          <a:prstGeom prst="roundRect">
            <a:avLst>
              <a:gd name="adj" fmla="val 12500"/>
            </a:avLst>
          </a:prstGeom>
          <a:solidFill>
            <a:srgbClr val="0B3945"/>
          </a:solidFill>
          <a:ln w="6350">
            <a:solidFill>
              <a:srgbClr val="1C718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4944" y="6236208"/>
            <a:ext cx="5120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B7FAF8"/>
                </a:solidFill>
              </a:rPr>
              <a:t>Materias: Sistemas de Control · Programación Avanzada · Automatización · Proyecto Final</a:t>
            </a:r>
            <a:endParaRPr lang="en-US" sz="7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BD4D0"/>
          </a:solidFill>
          <a:ln w="12700">
            <a:solidFill>
              <a:srgbClr val="2BD4D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891"/>
                </a:solidFill>
              </a:rPr>
              <a:t>esp32-motorized-door-controller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0881360" y="6510528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7891"/>
                </a:solidFill>
              </a:rPr>
              <a:t>Etapa 4 · 2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02920" y="329184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</a:rPr>
              <a:t>1. Punto de partida: simular sobre una planta medida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02920" y="80467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3C7"/>
                </a:solidFill>
              </a:rPr>
              <a:t>La etapa anterior entregó un modelo simple y suficiente para probar control antes de tocar el firmware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1051560"/>
            <a:ext cx="10972800" cy="0"/>
          </a:xfrm>
          <a:prstGeom prst="line">
            <a:avLst/>
          </a:prstGeom>
          <a:noFill/>
          <a:ln w="15240">
            <a:solidFill>
              <a:srgbClr val="2BD4D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371600"/>
            <a:ext cx="512064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0160">
            <a:solidFill>
              <a:srgbClr val="334155"/>
            </a:solidFill>
            <a:prstDash val="solid"/>
          </a:ln>
        </p:spPr>
      </p:sp>
      <p:pic>
        <p:nvPicPr>
          <p:cNvPr id="9" name="Image 0" descr="/mnt/data/simulation_output_extracted/simulation_output/02_modelo_pwm_velocid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2002536"/>
            <a:ext cx="4974336" cy="2487168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989320" y="1371600"/>
            <a:ext cx="5623560" cy="3749040"/>
          </a:xfrm>
          <a:prstGeom prst="roundRect">
            <a:avLst>
              <a:gd name="adj" fmla="val 2927"/>
            </a:avLst>
          </a:prstGeom>
          <a:solidFill>
            <a:srgbClr val="0D1B2F"/>
          </a:solidFill>
          <a:ln w="12700">
            <a:solidFill>
              <a:srgbClr val="2B3C59">
                <a:alpha val="95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263640" y="1627632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20C46B"/>
          </a:solidFill>
          <a:ln w="12700">
            <a:solidFill>
              <a:srgbClr val="20C46B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09360" y="1682496"/>
            <a:ext cx="1051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8FAFC"/>
                </a:solidFill>
              </a:rPr>
              <a:t>CRITERIO I+D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6263640" y="208483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8FAFC"/>
                </a:solidFill>
              </a:rPr>
              <a:t>No se implementó PID a ciegas.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6309360" y="2743200"/>
            <a:ext cx="4754880" cy="1554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320" dirty="0">
                <a:solidFill>
                  <a:srgbClr val="F8FAFC"/>
                </a:solidFill>
              </a:rPr>
              <a:t>Se midió la planta con PWM fijo.</a:t>
            </a:r>
            <a:endParaRPr lang="en-US" sz="1320" dirty="0"/>
          </a:p>
          <a:p>
            <a:r>
              <a:rPr lang="en-US" sz="1320" dirty="0">
                <a:solidFill>
                  <a:srgbClr val="F8FAFC"/>
                </a:solidFill>
              </a:rPr>
              <a:t>Se propuso un modelo PWM → velocidad → travel.</a:t>
            </a:r>
            <a:endParaRPr lang="en-US" sz="1320" dirty="0"/>
          </a:p>
          <a:p>
            <a:r>
              <a:rPr lang="en-US" sz="1320" dirty="0">
                <a:solidFill>
                  <a:srgbClr val="F8FAFC"/>
                </a:solidFill>
              </a:rPr>
              <a:t>Se simuló en Python para elegir constantes iniciales conservadoras.</a:t>
            </a:r>
            <a:endParaRPr lang="en-US" sz="1320" dirty="0"/>
          </a:p>
          <a:p>
            <a:r>
              <a:rPr lang="en-US" sz="1320" dirty="0">
                <a:solidFill>
                  <a:srgbClr val="F8FAFC"/>
                </a:solidFill>
              </a:rPr>
              <a:t>El firmware validado se mantuvo como baseline.</a:t>
            </a:r>
            <a:endParaRPr lang="en-US" sz="1320" dirty="0"/>
          </a:p>
        </p:txBody>
      </p:sp>
      <p:sp>
        <p:nvSpPr>
          <p:cNvPr id="15" name="Shape 12"/>
          <p:cNvSpPr/>
          <p:nvPr/>
        </p:nvSpPr>
        <p:spPr>
          <a:xfrm>
            <a:off x="6309360" y="4590288"/>
            <a:ext cx="4754880" cy="384048"/>
          </a:xfrm>
          <a:prstGeom prst="roundRect">
            <a:avLst>
              <a:gd name="adj" fmla="val 14286"/>
            </a:avLst>
          </a:prstGeom>
          <a:solidFill>
            <a:srgbClr val="0B3945"/>
          </a:solidFill>
          <a:ln w="7620">
            <a:solidFill>
              <a:srgbClr val="2BD4D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46520" y="4709160"/>
            <a:ext cx="4480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B7FAF8"/>
                </a:solidFill>
              </a:rPr>
              <a:t>Simular no es adivinar: es probar una hipótesis contra un modelo medido.</a:t>
            </a:r>
            <a:endParaRPr lang="en-US" sz="1020" dirty="0"/>
          </a:p>
        </p:txBody>
      </p:sp>
      <p:sp>
        <p:nvSpPr>
          <p:cNvPr id="17" name="Shape 14"/>
          <p:cNvSpPr/>
          <p:nvPr/>
        </p:nvSpPr>
        <p:spPr>
          <a:xfrm>
            <a:off x="502920" y="6144768"/>
            <a:ext cx="5486400" cy="292608"/>
          </a:xfrm>
          <a:prstGeom prst="roundRect">
            <a:avLst>
              <a:gd name="adj" fmla="val 12500"/>
            </a:avLst>
          </a:prstGeom>
          <a:solidFill>
            <a:srgbClr val="0B3945"/>
          </a:solidFill>
          <a:ln w="6350">
            <a:solidFill>
              <a:srgbClr val="1C718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94944" y="6236208"/>
            <a:ext cx="5120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B7FAF8"/>
                </a:solidFill>
              </a:rPr>
              <a:t>Materias: Sistemas de Control · Análisis de datos · Proyecto Final</a:t>
            </a:r>
            <a:endParaRPr lang="en-US" sz="7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BD4D0"/>
          </a:solidFill>
          <a:ln w="12700">
            <a:solidFill>
              <a:srgbClr val="2BD4D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891"/>
                </a:solidFill>
              </a:rPr>
              <a:t>esp32-motorized-door-controller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0881360" y="6510528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7891"/>
                </a:solidFill>
              </a:rPr>
              <a:t>Etapa 4 · 3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02920" y="329184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</a:rPr>
              <a:t>2. Qué mostró la simulación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02920" y="80467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3C7"/>
                </a:solidFill>
              </a:rPr>
              <a:t>Trayectoria, componentes del PID y PWM aplicado antes de llevarlo al hardware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1051560"/>
            <a:ext cx="10972800" cy="0"/>
          </a:xfrm>
          <a:prstGeom prst="line">
            <a:avLst/>
          </a:prstGeom>
          <a:noFill/>
          <a:ln w="15240">
            <a:solidFill>
              <a:srgbClr val="2BD4D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325880"/>
            <a:ext cx="370332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0160">
            <a:solidFill>
              <a:srgbClr val="334155"/>
            </a:solidFill>
            <a:prstDash val="solid"/>
          </a:ln>
        </p:spPr>
      </p:sp>
      <p:pic>
        <p:nvPicPr>
          <p:cNvPr id="9" name="Image 0" descr="/mnt/data/simulation_output_extracted/simulation_output/06_pid_inicial_trav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2128266"/>
            <a:ext cx="3557016" cy="1778508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4370832" y="1325880"/>
            <a:ext cx="370332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0160">
            <a:solidFill>
              <a:srgbClr val="334155"/>
            </a:solidFill>
            <a:prstDash val="solid"/>
          </a:ln>
        </p:spPr>
      </p:sp>
      <p:pic>
        <p:nvPicPr>
          <p:cNvPr id="11" name="Image 1" descr="/mnt/data/simulation_output_extracted/simulation_output/06_pid_inicial_component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3984" y="2128266"/>
            <a:ext cx="3557016" cy="177850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8247888" y="1325880"/>
            <a:ext cx="342900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0160">
            <a:solidFill>
              <a:srgbClr val="334155"/>
            </a:solidFill>
            <a:prstDash val="solid"/>
          </a:ln>
        </p:spPr>
      </p:sp>
      <p:pic>
        <p:nvPicPr>
          <p:cNvPr id="13" name="Image 2" descr="/mnt/data/simulation_output_extracted/simulation_output/06_pid_inicial_pw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2196846"/>
            <a:ext cx="3282696" cy="164134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31520" y="5148072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F8FAFC"/>
                </a:solidFill>
              </a:rPr>
              <a:t>La simulación permitió mirar tres cosas que en el prototipo real no se ven a simple vista: la trayectoria, la contribución P/I/D y la diferencia entre PWM calculado y PWM aplicado.</a:t>
            </a:r>
            <a:endParaRPr lang="en-US" sz="1420" dirty="0"/>
          </a:p>
        </p:txBody>
      </p:sp>
      <p:sp>
        <p:nvSpPr>
          <p:cNvPr id="15" name="Shape 10"/>
          <p:cNvSpPr/>
          <p:nvPr/>
        </p:nvSpPr>
        <p:spPr>
          <a:xfrm>
            <a:off x="502920" y="6144768"/>
            <a:ext cx="5486400" cy="292608"/>
          </a:xfrm>
          <a:prstGeom prst="roundRect">
            <a:avLst>
              <a:gd name="adj" fmla="val 12500"/>
            </a:avLst>
          </a:prstGeom>
          <a:solidFill>
            <a:srgbClr val="0B3945"/>
          </a:solidFill>
          <a:ln w="6350">
            <a:solidFill>
              <a:srgbClr val="1C7180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694944" y="6236208"/>
            <a:ext cx="5120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B7FAF8"/>
                </a:solidFill>
              </a:rPr>
              <a:t>Materias: Sistemas de Control · Programación/Python · Análisis de datos</a:t>
            </a:r>
            <a:endParaRPr lang="en-US" sz="7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BD4D0"/>
          </a:solidFill>
          <a:ln w="12700">
            <a:solidFill>
              <a:srgbClr val="2BD4D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891"/>
                </a:solidFill>
              </a:rPr>
              <a:t>esp32-motorized-door-controller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0881360" y="6510528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7891"/>
                </a:solidFill>
              </a:rPr>
              <a:t>Etapa 4 · 4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02920" y="329184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</a:rPr>
              <a:t>3. La frase clave de la etapa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02920" y="80467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3C7"/>
                </a:solidFill>
              </a:rPr>
              <a:t>La facilidad de ajuste no fue casualidad: fue consecuencia del trabajo previo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1051560"/>
            <a:ext cx="10972800" cy="0"/>
          </a:xfrm>
          <a:prstGeom prst="line">
            <a:avLst/>
          </a:prstGeom>
          <a:noFill/>
          <a:ln w="15240">
            <a:solidFill>
              <a:srgbClr val="2BD4D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417320"/>
            <a:ext cx="10607040" cy="2011680"/>
          </a:xfrm>
          <a:prstGeom prst="roundRect">
            <a:avLst>
              <a:gd name="adj" fmla="val 5455"/>
            </a:avLst>
          </a:prstGeom>
          <a:solidFill>
            <a:srgbClr val="08182C"/>
          </a:solidFill>
          <a:ln w="12700">
            <a:solidFill>
              <a:srgbClr val="2BD4D0">
                <a:alpha val="9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1874520"/>
            <a:ext cx="98755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8FAFC"/>
                </a:solidFill>
              </a:rPr>
              <a:t>“Se sintonizó fácil porque antes hicimos bien el trabajo:</a:t>
            </a:r>
            <a:endParaRPr lang="en-US" sz="2700" dirty="0"/>
          </a:p>
          <a:p>
            <a:pPr algn="ctr" indent="0" marL="0">
              <a:buNone/>
            </a:pPr>
            <a:r>
              <a:rPr lang="en-US" sz="2700" b="1" dirty="0">
                <a:solidFill>
                  <a:srgbClr val="F8FAFC"/>
                </a:solidFill>
              </a:rPr>
              <a:t>identificar planta, simular y conservar baseline.”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1051560" y="4224528"/>
            <a:ext cx="1417320" cy="713232"/>
          </a:xfrm>
          <a:prstGeom prst="roundRect">
            <a:avLst>
              <a:gd name="adj" fmla="val 12821"/>
            </a:avLst>
          </a:prstGeom>
          <a:solidFill>
            <a:srgbClr val="20C46B"/>
          </a:solidFill>
          <a:ln w="12700">
            <a:solidFill>
              <a:srgbClr val="C7D2FE">
                <a:alpha val="3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24712" y="4343400"/>
            <a:ext cx="12710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1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Medir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la planta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514600" y="4581144"/>
            <a:ext cx="896112" cy="0"/>
          </a:xfrm>
          <a:prstGeom prst="line">
            <a:avLst/>
          </a:prstGeom>
          <a:noFill/>
          <a:ln w="25400">
            <a:solidFill>
              <a:srgbClr val="2BD4D0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474720" y="4224528"/>
            <a:ext cx="1417320" cy="713232"/>
          </a:xfrm>
          <a:prstGeom prst="roundRect">
            <a:avLst>
              <a:gd name="adj" fmla="val 12821"/>
            </a:avLst>
          </a:prstGeom>
          <a:solidFill>
            <a:srgbClr val="3B82F6"/>
          </a:solidFill>
          <a:ln w="12700">
            <a:solidFill>
              <a:srgbClr val="C7D2FE">
                <a:alpha val="3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4343400"/>
            <a:ext cx="12710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2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Simular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barato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937760" y="4581144"/>
            <a:ext cx="896112" cy="0"/>
          </a:xfrm>
          <a:prstGeom prst="line">
            <a:avLst/>
          </a:prstGeom>
          <a:noFill/>
          <a:ln w="25400">
            <a:solidFill>
              <a:srgbClr val="2BD4D0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897880" y="4224528"/>
            <a:ext cx="1417320" cy="713232"/>
          </a:xfrm>
          <a:prstGeom prst="roundRect">
            <a:avLst>
              <a:gd name="adj" fmla="val 12821"/>
            </a:avLst>
          </a:prstGeom>
          <a:solidFill>
            <a:srgbClr val="8B5CF6"/>
          </a:solidFill>
          <a:ln w="12700">
            <a:solidFill>
              <a:srgbClr val="C7D2FE">
                <a:alpha val="3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71032" y="4343400"/>
            <a:ext cx="12710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3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Implementar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incremental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60920" y="4581144"/>
            <a:ext cx="896112" cy="0"/>
          </a:xfrm>
          <a:prstGeom prst="line">
            <a:avLst/>
          </a:prstGeom>
          <a:noFill/>
          <a:ln w="25400">
            <a:solidFill>
              <a:srgbClr val="2BD4D0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321040" y="4224528"/>
            <a:ext cx="1417320" cy="713232"/>
          </a:xfrm>
          <a:prstGeom prst="roundRect">
            <a:avLst>
              <a:gd name="adj" fmla="val 12821"/>
            </a:avLst>
          </a:prstGeom>
          <a:solidFill>
            <a:srgbClr val="F59E0B"/>
          </a:solidFill>
          <a:ln w="12700">
            <a:solidFill>
              <a:srgbClr val="C7D2FE">
                <a:alpha val="3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94192" y="4343400"/>
            <a:ext cx="12710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4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Ajustar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lo real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05840" y="5650992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8B3C7"/>
                </a:solidFill>
              </a:rPr>
              <a:t>La experiencia técnica no reemplaza el método: ayuda a elegir qué medir, qué conservar y qué tocar.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02920" y="6144768"/>
            <a:ext cx="5486400" cy="292608"/>
          </a:xfrm>
          <a:prstGeom prst="roundRect">
            <a:avLst>
              <a:gd name="adj" fmla="val 12500"/>
            </a:avLst>
          </a:prstGeom>
          <a:solidFill>
            <a:srgbClr val="0B3945"/>
          </a:solidFill>
          <a:ln w="6350">
            <a:solidFill>
              <a:srgbClr val="1C718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4944" y="6236208"/>
            <a:ext cx="5120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B7FAF8"/>
                </a:solidFill>
              </a:rPr>
              <a:t>Materias: Proyecto Final · Sistemas de Control · Metodología de I+D</a:t>
            </a:r>
            <a:endParaRPr lang="en-US" sz="7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BD4D0"/>
          </a:solidFill>
          <a:ln w="12700">
            <a:solidFill>
              <a:srgbClr val="2BD4D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891"/>
                </a:solidFill>
              </a:rPr>
              <a:t>esp32-motorized-door-controller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0881360" y="6510528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7891"/>
                </a:solidFill>
              </a:rPr>
              <a:t>Etapa 4 · 5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02920" y="329184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</a:rPr>
              <a:t>4. De la simulación al hardware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02920" y="80467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3C7"/>
                </a:solidFill>
              </a:rPr>
              <a:t>Qué se mantuvo y qué hubo que recalibrar cuando apareció la física real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1051560"/>
            <a:ext cx="10972800" cy="0"/>
          </a:xfrm>
          <a:prstGeom prst="line">
            <a:avLst/>
          </a:prstGeom>
          <a:noFill/>
          <a:ln w="15240">
            <a:solidFill>
              <a:srgbClr val="2BD4D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325880"/>
            <a:ext cx="2377440" cy="384048"/>
          </a:xfrm>
          <a:prstGeom prst="rect">
            <a:avLst/>
          </a:prstGeom>
          <a:solidFill>
            <a:srgbClr val="17375C"/>
          </a:solidFill>
          <a:ln w="6350">
            <a:solidFill>
              <a:srgbClr val="3A4A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1444752"/>
            <a:ext cx="22311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8FAFC"/>
                </a:solidFill>
              </a:rPr>
              <a:t>Parámetro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017520" y="1325880"/>
            <a:ext cx="1828800" cy="384048"/>
          </a:xfrm>
          <a:prstGeom prst="rect">
            <a:avLst/>
          </a:prstGeom>
          <a:solidFill>
            <a:srgbClr val="17375C"/>
          </a:solidFill>
          <a:ln w="6350">
            <a:solidFill>
              <a:srgbClr val="3A4A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90672" y="1444752"/>
            <a:ext cx="16824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8FAFC"/>
                </a:solidFill>
              </a:rPr>
              <a:t>Simulación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846320" y="1325880"/>
            <a:ext cx="1828800" cy="384048"/>
          </a:xfrm>
          <a:prstGeom prst="rect">
            <a:avLst/>
          </a:prstGeom>
          <a:solidFill>
            <a:srgbClr val="17375C"/>
          </a:solidFill>
          <a:ln w="6350">
            <a:solidFill>
              <a:srgbClr val="3A4A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19472" y="1444752"/>
            <a:ext cx="16824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8FAFC"/>
                </a:solidFill>
              </a:rPr>
              <a:t>Hardware v4.1c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675120" y="1325880"/>
            <a:ext cx="4754880" cy="384048"/>
          </a:xfrm>
          <a:prstGeom prst="rect">
            <a:avLst/>
          </a:prstGeom>
          <a:solidFill>
            <a:srgbClr val="17375C"/>
          </a:solidFill>
          <a:ln w="6350">
            <a:solidFill>
              <a:srgbClr val="3A4A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48272" y="1444752"/>
            <a:ext cx="46085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8FAFC"/>
                </a:solidFill>
              </a:rPr>
              <a:t>Lectura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40080" y="1709928"/>
            <a:ext cx="2377440" cy="393192"/>
          </a:xfrm>
          <a:prstGeom prst="rect">
            <a:avLst/>
          </a:prstGeom>
          <a:solidFill>
            <a:srgbClr val="0E1E34"/>
          </a:solidFill>
          <a:ln w="5080">
            <a:solidFill>
              <a:srgbClr val="2B3C5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1819656"/>
            <a:ext cx="223113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F8FAFC"/>
                </a:solidFill>
              </a:rPr>
              <a:t>Kp</a:t>
            </a:r>
            <a:endParaRPr lang="en-US" sz="910" dirty="0"/>
          </a:p>
        </p:txBody>
      </p:sp>
      <p:sp>
        <p:nvSpPr>
          <p:cNvPr id="18" name="Shape 16"/>
          <p:cNvSpPr/>
          <p:nvPr/>
        </p:nvSpPr>
        <p:spPr>
          <a:xfrm>
            <a:off x="3017520" y="1709928"/>
            <a:ext cx="1828800" cy="393192"/>
          </a:xfrm>
          <a:prstGeom prst="rect">
            <a:avLst/>
          </a:prstGeom>
          <a:solidFill>
            <a:srgbClr val="0E1E34"/>
          </a:solidFill>
          <a:ln w="5080">
            <a:solidFill>
              <a:srgbClr val="2B3C5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90672" y="1819656"/>
            <a:ext cx="16824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dirty="0">
                <a:solidFill>
                  <a:srgbClr val="F8FAFC"/>
                </a:solidFill>
              </a:rPr>
              <a:t>0.70</a:t>
            </a:r>
            <a:endParaRPr lang="en-US" sz="910" dirty="0"/>
          </a:p>
        </p:txBody>
      </p:sp>
      <p:sp>
        <p:nvSpPr>
          <p:cNvPr id="20" name="Shape 18"/>
          <p:cNvSpPr/>
          <p:nvPr/>
        </p:nvSpPr>
        <p:spPr>
          <a:xfrm>
            <a:off x="4846320" y="1709928"/>
            <a:ext cx="1828800" cy="393192"/>
          </a:xfrm>
          <a:prstGeom prst="rect">
            <a:avLst/>
          </a:prstGeom>
          <a:solidFill>
            <a:srgbClr val="0E1E34"/>
          </a:solidFill>
          <a:ln w="5080">
            <a:solidFill>
              <a:srgbClr val="2B3C5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19472" y="1819656"/>
            <a:ext cx="16824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dirty="0">
                <a:solidFill>
                  <a:srgbClr val="F8FAFC"/>
                </a:solidFill>
              </a:rPr>
              <a:t>0.70</a:t>
            </a:r>
            <a:endParaRPr lang="en-US" sz="910" dirty="0"/>
          </a:p>
        </p:txBody>
      </p:sp>
      <p:sp>
        <p:nvSpPr>
          <p:cNvPr id="22" name="Shape 20"/>
          <p:cNvSpPr/>
          <p:nvPr/>
        </p:nvSpPr>
        <p:spPr>
          <a:xfrm>
            <a:off x="6675120" y="1709928"/>
            <a:ext cx="4754880" cy="393192"/>
          </a:xfrm>
          <a:prstGeom prst="rect">
            <a:avLst/>
          </a:prstGeom>
          <a:solidFill>
            <a:srgbClr val="0E1E34"/>
          </a:solidFill>
          <a:ln w="5080">
            <a:solidFill>
              <a:srgbClr val="2B3C5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48272" y="1819656"/>
            <a:ext cx="460857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F8FAFC"/>
                </a:solidFill>
              </a:rPr>
              <a:t>Se mantuvo: buena escala proporcional.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640080" y="2103120"/>
            <a:ext cx="2377440" cy="393192"/>
          </a:xfrm>
          <a:prstGeom prst="rect">
            <a:avLst/>
          </a:prstGeom>
          <a:solidFill>
            <a:srgbClr val="10213A"/>
          </a:solidFill>
          <a:ln w="5080">
            <a:solidFill>
              <a:srgbClr val="2B3C5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3232" y="2212848"/>
            <a:ext cx="223113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F8FAFC"/>
                </a:solidFill>
              </a:rPr>
              <a:t>Ki</a:t>
            </a:r>
            <a:endParaRPr lang="en-US" sz="910" dirty="0"/>
          </a:p>
        </p:txBody>
      </p:sp>
      <p:sp>
        <p:nvSpPr>
          <p:cNvPr id="26" name="Shape 24"/>
          <p:cNvSpPr/>
          <p:nvPr/>
        </p:nvSpPr>
        <p:spPr>
          <a:xfrm>
            <a:off x="3017520" y="2103120"/>
            <a:ext cx="1828800" cy="393192"/>
          </a:xfrm>
          <a:prstGeom prst="rect">
            <a:avLst/>
          </a:prstGeom>
          <a:solidFill>
            <a:srgbClr val="10213A"/>
          </a:solidFill>
          <a:ln w="5080">
            <a:solidFill>
              <a:srgbClr val="2B3C5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090672" y="2212848"/>
            <a:ext cx="16824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dirty="0">
                <a:solidFill>
                  <a:srgbClr val="F8FAFC"/>
                </a:solidFill>
              </a:rPr>
              <a:t>0.00</a:t>
            </a:r>
            <a:endParaRPr lang="en-US" sz="910" dirty="0"/>
          </a:p>
        </p:txBody>
      </p:sp>
      <p:sp>
        <p:nvSpPr>
          <p:cNvPr id="28" name="Shape 26"/>
          <p:cNvSpPr/>
          <p:nvPr/>
        </p:nvSpPr>
        <p:spPr>
          <a:xfrm>
            <a:off x="4846320" y="2103120"/>
            <a:ext cx="1828800" cy="393192"/>
          </a:xfrm>
          <a:prstGeom prst="rect">
            <a:avLst/>
          </a:prstGeom>
          <a:solidFill>
            <a:srgbClr val="10213A"/>
          </a:solidFill>
          <a:ln w="5080">
            <a:solidFill>
              <a:srgbClr val="2B3C5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19472" y="2212848"/>
            <a:ext cx="16824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dirty="0">
                <a:solidFill>
                  <a:srgbClr val="F8FAFC"/>
                </a:solidFill>
              </a:rPr>
              <a:t>0.05</a:t>
            </a:r>
            <a:endParaRPr lang="en-US" sz="910" dirty="0"/>
          </a:p>
        </p:txBody>
      </p:sp>
      <p:sp>
        <p:nvSpPr>
          <p:cNvPr id="30" name="Shape 28"/>
          <p:cNvSpPr/>
          <p:nvPr/>
        </p:nvSpPr>
        <p:spPr>
          <a:xfrm>
            <a:off x="6675120" y="2103120"/>
            <a:ext cx="4754880" cy="393192"/>
          </a:xfrm>
          <a:prstGeom prst="rect">
            <a:avLst/>
          </a:prstGeom>
          <a:solidFill>
            <a:srgbClr val="10213A"/>
          </a:solidFill>
          <a:ln w="5080">
            <a:solidFill>
              <a:srgbClr val="2B3C5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48272" y="2212848"/>
            <a:ext cx="460857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F8FAFC"/>
                </a:solidFill>
              </a:rPr>
              <a:t>Se agregó para corregir error fino por fricción.</a:t>
            </a:r>
            <a:endParaRPr lang="en-US" sz="880" dirty="0"/>
          </a:p>
        </p:txBody>
      </p:sp>
      <p:sp>
        <p:nvSpPr>
          <p:cNvPr id="32" name="Shape 30"/>
          <p:cNvSpPr/>
          <p:nvPr/>
        </p:nvSpPr>
        <p:spPr>
          <a:xfrm>
            <a:off x="640080" y="2496312"/>
            <a:ext cx="2377440" cy="393192"/>
          </a:xfrm>
          <a:prstGeom prst="rect">
            <a:avLst/>
          </a:prstGeom>
          <a:solidFill>
            <a:srgbClr val="0E1E34"/>
          </a:solidFill>
          <a:ln w="5080">
            <a:solidFill>
              <a:srgbClr val="2B3C5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3232" y="2606040"/>
            <a:ext cx="223113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F8FAFC"/>
                </a:solidFill>
              </a:rPr>
              <a:t>Kd</a:t>
            </a:r>
            <a:endParaRPr lang="en-US" sz="910" dirty="0"/>
          </a:p>
        </p:txBody>
      </p:sp>
      <p:sp>
        <p:nvSpPr>
          <p:cNvPr id="34" name="Shape 32"/>
          <p:cNvSpPr/>
          <p:nvPr/>
        </p:nvSpPr>
        <p:spPr>
          <a:xfrm>
            <a:off x="3017520" y="2496312"/>
            <a:ext cx="1828800" cy="393192"/>
          </a:xfrm>
          <a:prstGeom prst="rect">
            <a:avLst/>
          </a:prstGeom>
          <a:solidFill>
            <a:srgbClr val="0E1E34"/>
          </a:solidFill>
          <a:ln w="5080">
            <a:solidFill>
              <a:srgbClr val="2B3C5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090672" y="2606040"/>
            <a:ext cx="16824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dirty="0">
                <a:solidFill>
                  <a:srgbClr val="F8FAFC"/>
                </a:solidFill>
              </a:rPr>
              <a:t>0.05</a:t>
            </a:r>
            <a:endParaRPr lang="en-US" sz="910" dirty="0"/>
          </a:p>
        </p:txBody>
      </p:sp>
      <p:sp>
        <p:nvSpPr>
          <p:cNvPr id="36" name="Shape 34"/>
          <p:cNvSpPr/>
          <p:nvPr/>
        </p:nvSpPr>
        <p:spPr>
          <a:xfrm>
            <a:off x="4846320" y="2496312"/>
            <a:ext cx="1828800" cy="393192"/>
          </a:xfrm>
          <a:prstGeom prst="rect">
            <a:avLst/>
          </a:prstGeom>
          <a:solidFill>
            <a:srgbClr val="0E1E34"/>
          </a:solidFill>
          <a:ln w="5080">
            <a:solidFill>
              <a:srgbClr val="2B3C5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19472" y="2606040"/>
            <a:ext cx="16824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dirty="0">
                <a:solidFill>
                  <a:srgbClr val="F8FAFC"/>
                </a:solidFill>
              </a:rPr>
              <a:t>0.05</a:t>
            </a:r>
            <a:endParaRPr lang="en-US" sz="910" dirty="0"/>
          </a:p>
        </p:txBody>
      </p:sp>
      <p:sp>
        <p:nvSpPr>
          <p:cNvPr id="38" name="Shape 36"/>
          <p:cNvSpPr/>
          <p:nvPr/>
        </p:nvSpPr>
        <p:spPr>
          <a:xfrm>
            <a:off x="6675120" y="2496312"/>
            <a:ext cx="4754880" cy="393192"/>
          </a:xfrm>
          <a:prstGeom prst="rect">
            <a:avLst/>
          </a:prstGeom>
          <a:solidFill>
            <a:srgbClr val="0E1E34"/>
          </a:solidFill>
          <a:ln w="5080">
            <a:solidFill>
              <a:srgbClr val="2B3C5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748272" y="2606040"/>
            <a:ext cx="460857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F8FAFC"/>
                </a:solidFill>
              </a:rPr>
              <a:t>Se mantuvo: aporta amortiguamiento.</a:t>
            </a:r>
            <a:endParaRPr lang="en-US" sz="880" dirty="0"/>
          </a:p>
        </p:txBody>
      </p:sp>
      <p:sp>
        <p:nvSpPr>
          <p:cNvPr id="40" name="Shape 38"/>
          <p:cNvSpPr/>
          <p:nvPr/>
        </p:nvSpPr>
        <p:spPr>
          <a:xfrm>
            <a:off x="640080" y="2889504"/>
            <a:ext cx="2377440" cy="393192"/>
          </a:xfrm>
          <a:prstGeom prst="rect">
            <a:avLst/>
          </a:prstGeom>
          <a:solidFill>
            <a:srgbClr val="10213A"/>
          </a:solidFill>
          <a:ln w="5080">
            <a:solidFill>
              <a:srgbClr val="2B3C5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13232" y="2999232"/>
            <a:ext cx="223113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F8FAFC"/>
                </a:solidFill>
              </a:rPr>
              <a:t>PWM máx.</a:t>
            </a:r>
            <a:endParaRPr lang="en-US" sz="910" dirty="0"/>
          </a:p>
        </p:txBody>
      </p:sp>
      <p:sp>
        <p:nvSpPr>
          <p:cNvPr id="42" name="Shape 40"/>
          <p:cNvSpPr/>
          <p:nvPr/>
        </p:nvSpPr>
        <p:spPr>
          <a:xfrm>
            <a:off x="3017520" y="2889504"/>
            <a:ext cx="1828800" cy="393192"/>
          </a:xfrm>
          <a:prstGeom prst="rect">
            <a:avLst/>
          </a:prstGeom>
          <a:solidFill>
            <a:srgbClr val="10213A"/>
          </a:solidFill>
          <a:ln w="5080">
            <a:solidFill>
              <a:srgbClr val="2B3C5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090672" y="2999232"/>
            <a:ext cx="16824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dirty="0">
                <a:solidFill>
                  <a:srgbClr val="F8FAFC"/>
                </a:solidFill>
              </a:rPr>
              <a:t>80</a:t>
            </a:r>
            <a:endParaRPr lang="en-US" sz="910" dirty="0"/>
          </a:p>
        </p:txBody>
      </p:sp>
      <p:sp>
        <p:nvSpPr>
          <p:cNvPr id="44" name="Shape 42"/>
          <p:cNvSpPr/>
          <p:nvPr/>
        </p:nvSpPr>
        <p:spPr>
          <a:xfrm>
            <a:off x="4846320" y="2889504"/>
            <a:ext cx="1828800" cy="393192"/>
          </a:xfrm>
          <a:prstGeom prst="rect">
            <a:avLst/>
          </a:prstGeom>
          <a:solidFill>
            <a:srgbClr val="10213A"/>
          </a:solidFill>
          <a:ln w="5080">
            <a:solidFill>
              <a:srgbClr val="2B3C5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919472" y="2999232"/>
            <a:ext cx="16824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dirty="0">
                <a:solidFill>
                  <a:srgbClr val="F8FAFC"/>
                </a:solidFill>
              </a:rPr>
              <a:t>80</a:t>
            </a:r>
            <a:endParaRPr lang="en-US" sz="910" dirty="0"/>
          </a:p>
        </p:txBody>
      </p:sp>
      <p:sp>
        <p:nvSpPr>
          <p:cNvPr id="46" name="Shape 44"/>
          <p:cNvSpPr/>
          <p:nvPr/>
        </p:nvSpPr>
        <p:spPr>
          <a:xfrm>
            <a:off x="6675120" y="2889504"/>
            <a:ext cx="4754880" cy="393192"/>
          </a:xfrm>
          <a:prstGeom prst="rect">
            <a:avLst/>
          </a:prstGeom>
          <a:solidFill>
            <a:srgbClr val="10213A"/>
          </a:solidFill>
          <a:ln w="5080">
            <a:solidFill>
              <a:srgbClr val="2B3C5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748272" y="2999232"/>
            <a:ext cx="460857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F8FAFC"/>
                </a:solidFill>
              </a:rPr>
              <a:t>Límite seguro conservado.</a:t>
            </a:r>
            <a:endParaRPr lang="en-US" sz="880" dirty="0"/>
          </a:p>
        </p:txBody>
      </p:sp>
      <p:sp>
        <p:nvSpPr>
          <p:cNvPr id="48" name="Shape 46"/>
          <p:cNvSpPr/>
          <p:nvPr/>
        </p:nvSpPr>
        <p:spPr>
          <a:xfrm>
            <a:off x="640080" y="3282696"/>
            <a:ext cx="2377440" cy="393192"/>
          </a:xfrm>
          <a:prstGeom prst="rect">
            <a:avLst/>
          </a:prstGeom>
          <a:solidFill>
            <a:srgbClr val="0E1E34"/>
          </a:solidFill>
          <a:ln w="5080">
            <a:solidFill>
              <a:srgbClr val="2B3C5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13232" y="3392424"/>
            <a:ext cx="223113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F8FAFC"/>
                </a:solidFill>
              </a:rPr>
              <a:t>PWM mín. efectivo</a:t>
            </a:r>
            <a:endParaRPr lang="en-US" sz="910" dirty="0"/>
          </a:p>
        </p:txBody>
      </p:sp>
      <p:sp>
        <p:nvSpPr>
          <p:cNvPr id="50" name="Shape 48"/>
          <p:cNvSpPr/>
          <p:nvPr/>
        </p:nvSpPr>
        <p:spPr>
          <a:xfrm>
            <a:off x="3017520" y="3282696"/>
            <a:ext cx="1828800" cy="393192"/>
          </a:xfrm>
          <a:prstGeom prst="rect">
            <a:avLst/>
          </a:prstGeom>
          <a:solidFill>
            <a:srgbClr val="0E1E34"/>
          </a:solidFill>
          <a:ln w="5080">
            <a:solidFill>
              <a:srgbClr val="2B3C5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090672" y="3392424"/>
            <a:ext cx="16824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dirty="0">
                <a:solidFill>
                  <a:srgbClr val="F8FAFC"/>
                </a:solidFill>
              </a:rPr>
              <a:t>55</a:t>
            </a:r>
            <a:endParaRPr lang="en-US" sz="910" dirty="0"/>
          </a:p>
        </p:txBody>
      </p:sp>
      <p:sp>
        <p:nvSpPr>
          <p:cNvPr id="52" name="Shape 50"/>
          <p:cNvSpPr/>
          <p:nvPr/>
        </p:nvSpPr>
        <p:spPr>
          <a:xfrm>
            <a:off x="4846320" y="3282696"/>
            <a:ext cx="1828800" cy="393192"/>
          </a:xfrm>
          <a:prstGeom prst="rect">
            <a:avLst/>
          </a:prstGeom>
          <a:solidFill>
            <a:srgbClr val="0E1E34"/>
          </a:solidFill>
          <a:ln w="5080">
            <a:solidFill>
              <a:srgbClr val="2B3C59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919472" y="3392424"/>
            <a:ext cx="16824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dirty="0">
                <a:solidFill>
                  <a:srgbClr val="F8FAFC"/>
                </a:solidFill>
              </a:rPr>
              <a:t>75</a:t>
            </a:r>
            <a:endParaRPr lang="en-US" sz="910" dirty="0"/>
          </a:p>
        </p:txBody>
      </p:sp>
      <p:sp>
        <p:nvSpPr>
          <p:cNvPr id="54" name="Shape 52"/>
          <p:cNvSpPr/>
          <p:nvPr/>
        </p:nvSpPr>
        <p:spPr>
          <a:xfrm>
            <a:off x="6675120" y="3282696"/>
            <a:ext cx="4754880" cy="393192"/>
          </a:xfrm>
          <a:prstGeom prst="rect">
            <a:avLst/>
          </a:prstGeom>
          <a:solidFill>
            <a:srgbClr val="0E1E34"/>
          </a:solidFill>
          <a:ln w="5080">
            <a:solidFill>
              <a:srgbClr val="2B3C59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748272" y="3392424"/>
            <a:ext cx="460857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F8FAFC"/>
                </a:solidFill>
              </a:rPr>
              <a:t>El hardware exigió más para vencer arranque/fricción.</a:t>
            </a:r>
            <a:endParaRPr lang="en-US" sz="880" dirty="0"/>
          </a:p>
        </p:txBody>
      </p:sp>
      <p:sp>
        <p:nvSpPr>
          <p:cNvPr id="56" name="Shape 54"/>
          <p:cNvSpPr/>
          <p:nvPr/>
        </p:nvSpPr>
        <p:spPr>
          <a:xfrm>
            <a:off x="640080" y="3675888"/>
            <a:ext cx="2377440" cy="393192"/>
          </a:xfrm>
          <a:prstGeom prst="rect">
            <a:avLst/>
          </a:prstGeom>
          <a:solidFill>
            <a:srgbClr val="10213A"/>
          </a:solidFill>
          <a:ln w="5080">
            <a:solidFill>
              <a:srgbClr val="2B3C59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13232" y="3785616"/>
            <a:ext cx="223113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F8FAFC"/>
                </a:solidFill>
              </a:rPr>
              <a:t>Zona mín. efectiva</a:t>
            </a:r>
            <a:endParaRPr lang="en-US" sz="910" dirty="0"/>
          </a:p>
        </p:txBody>
      </p:sp>
      <p:sp>
        <p:nvSpPr>
          <p:cNvPr id="58" name="Shape 56"/>
          <p:cNvSpPr/>
          <p:nvPr/>
        </p:nvSpPr>
        <p:spPr>
          <a:xfrm>
            <a:off x="3017520" y="3675888"/>
            <a:ext cx="1828800" cy="393192"/>
          </a:xfrm>
          <a:prstGeom prst="rect">
            <a:avLst/>
          </a:prstGeom>
          <a:solidFill>
            <a:srgbClr val="10213A"/>
          </a:solidFill>
          <a:ln w="5080">
            <a:solidFill>
              <a:srgbClr val="2B3C59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090672" y="3785616"/>
            <a:ext cx="16824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dirty="0">
                <a:solidFill>
                  <a:srgbClr val="F8FAFC"/>
                </a:solidFill>
              </a:rPr>
              <a:t>6°</a:t>
            </a:r>
            <a:endParaRPr lang="en-US" sz="910" dirty="0"/>
          </a:p>
        </p:txBody>
      </p:sp>
      <p:sp>
        <p:nvSpPr>
          <p:cNvPr id="60" name="Shape 58"/>
          <p:cNvSpPr/>
          <p:nvPr/>
        </p:nvSpPr>
        <p:spPr>
          <a:xfrm>
            <a:off x="4846320" y="3675888"/>
            <a:ext cx="1828800" cy="393192"/>
          </a:xfrm>
          <a:prstGeom prst="rect">
            <a:avLst/>
          </a:prstGeom>
          <a:solidFill>
            <a:srgbClr val="10213A"/>
          </a:solidFill>
          <a:ln w="5080">
            <a:solidFill>
              <a:srgbClr val="2B3C59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919472" y="3785616"/>
            <a:ext cx="16824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dirty="0">
                <a:solidFill>
                  <a:srgbClr val="F8FAFC"/>
                </a:solidFill>
              </a:rPr>
              <a:t>2°</a:t>
            </a:r>
            <a:endParaRPr lang="en-US" sz="910" dirty="0"/>
          </a:p>
        </p:txBody>
      </p:sp>
      <p:sp>
        <p:nvSpPr>
          <p:cNvPr id="62" name="Shape 60"/>
          <p:cNvSpPr/>
          <p:nvPr/>
        </p:nvSpPr>
        <p:spPr>
          <a:xfrm>
            <a:off x="6675120" y="3675888"/>
            <a:ext cx="4754880" cy="393192"/>
          </a:xfrm>
          <a:prstGeom prst="rect">
            <a:avLst/>
          </a:prstGeom>
          <a:solidFill>
            <a:srgbClr val="10213A"/>
          </a:solidFill>
          <a:ln w="5080">
            <a:solidFill>
              <a:srgbClr val="2B3C59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748272" y="3785616"/>
            <a:ext cx="460857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F8FAFC"/>
                </a:solidFill>
              </a:rPr>
              <a:t>Se bajó para no empujar de más cerca del target.</a:t>
            </a:r>
            <a:endParaRPr lang="en-US" sz="880" dirty="0"/>
          </a:p>
        </p:txBody>
      </p:sp>
      <p:sp>
        <p:nvSpPr>
          <p:cNvPr id="64" name="Shape 62"/>
          <p:cNvSpPr/>
          <p:nvPr/>
        </p:nvSpPr>
        <p:spPr>
          <a:xfrm>
            <a:off x="640080" y="4069080"/>
            <a:ext cx="2377440" cy="393192"/>
          </a:xfrm>
          <a:prstGeom prst="rect">
            <a:avLst/>
          </a:prstGeom>
          <a:solidFill>
            <a:srgbClr val="0E1E34"/>
          </a:solidFill>
          <a:ln w="5080">
            <a:solidFill>
              <a:srgbClr val="2B3C59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13232" y="4178808"/>
            <a:ext cx="223113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F8FAFC"/>
                </a:solidFill>
              </a:rPr>
              <a:t>Integral activa</a:t>
            </a:r>
            <a:endParaRPr lang="en-US" sz="910" dirty="0"/>
          </a:p>
        </p:txBody>
      </p:sp>
      <p:sp>
        <p:nvSpPr>
          <p:cNvPr id="66" name="Shape 64"/>
          <p:cNvSpPr/>
          <p:nvPr/>
        </p:nvSpPr>
        <p:spPr>
          <a:xfrm>
            <a:off x="3017520" y="4069080"/>
            <a:ext cx="1828800" cy="393192"/>
          </a:xfrm>
          <a:prstGeom prst="rect">
            <a:avLst/>
          </a:prstGeom>
          <a:solidFill>
            <a:srgbClr val="0E1E34"/>
          </a:solidFill>
          <a:ln w="5080">
            <a:solidFill>
              <a:srgbClr val="2B3C59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090672" y="4178808"/>
            <a:ext cx="16824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dirty="0">
                <a:solidFill>
                  <a:srgbClr val="F8FAFC"/>
                </a:solidFill>
              </a:rPr>
              <a:t>35°</a:t>
            </a:r>
            <a:endParaRPr lang="en-US" sz="910" dirty="0"/>
          </a:p>
        </p:txBody>
      </p:sp>
      <p:sp>
        <p:nvSpPr>
          <p:cNvPr id="68" name="Shape 66"/>
          <p:cNvSpPr/>
          <p:nvPr/>
        </p:nvSpPr>
        <p:spPr>
          <a:xfrm>
            <a:off x="4846320" y="4069080"/>
            <a:ext cx="1828800" cy="393192"/>
          </a:xfrm>
          <a:prstGeom prst="rect">
            <a:avLst/>
          </a:prstGeom>
          <a:solidFill>
            <a:srgbClr val="0E1E34"/>
          </a:solidFill>
          <a:ln w="5080">
            <a:solidFill>
              <a:srgbClr val="2B3C59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919472" y="4178808"/>
            <a:ext cx="16824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dirty="0">
                <a:solidFill>
                  <a:srgbClr val="F8FAFC"/>
                </a:solidFill>
              </a:rPr>
              <a:t>20°</a:t>
            </a:r>
            <a:endParaRPr lang="en-US" sz="910" dirty="0"/>
          </a:p>
        </p:txBody>
      </p:sp>
      <p:sp>
        <p:nvSpPr>
          <p:cNvPr id="70" name="Shape 68"/>
          <p:cNvSpPr/>
          <p:nvPr/>
        </p:nvSpPr>
        <p:spPr>
          <a:xfrm>
            <a:off x="6675120" y="4069080"/>
            <a:ext cx="4754880" cy="393192"/>
          </a:xfrm>
          <a:prstGeom prst="rect">
            <a:avLst/>
          </a:prstGeom>
          <a:solidFill>
            <a:srgbClr val="0E1E34"/>
          </a:solidFill>
          <a:ln w="5080">
            <a:solidFill>
              <a:srgbClr val="2B3C59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748272" y="4178808"/>
            <a:ext cx="460857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F8FAFC"/>
                </a:solidFill>
              </a:rPr>
              <a:t>Integral acotada a zona de llegada.</a:t>
            </a:r>
            <a:endParaRPr lang="en-US" sz="880" dirty="0"/>
          </a:p>
        </p:txBody>
      </p:sp>
      <p:sp>
        <p:nvSpPr>
          <p:cNvPr id="72" name="Shape 70"/>
          <p:cNvSpPr/>
          <p:nvPr/>
        </p:nvSpPr>
        <p:spPr>
          <a:xfrm>
            <a:off x="640080" y="4462272"/>
            <a:ext cx="2377440" cy="393192"/>
          </a:xfrm>
          <a:prstGeom prst="rect">
            <a:avLst/>
          </a:prstGeom>
          <a:solidFill>
            <a:srgbClr val="10213A"/>
          </a:solidFill>
          <a:ln w="5080">
            <a:solidFill>
              <a:srgbClr val="2B3C59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13232" y="4572000"/>
            <a:ext cx="223113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F8FAFC"/>
                </a:solidFill>
              </a:rPr>
              <a:t>Límite integral</a:t>
            </a:r>
            <a:endParaRPr lang="en-US" sz="910" dirty="0"/>
          </a:p>
        </p:txBody>
      </p:sp>
      <p:sp>
        <p:nvSpPr>
          <p:cNvPr id="74" name="Shape 72"/>
          <p:cNvSpPr/>
          <p:nvPr/>
        </p:nvSpPr>
        <p:spPr>
          <a:xfrm>
            <a:off x="3017520" y="4462272"/>
            <a:ext cx="1828800" cy="393192"/>
          </a:xfrm>
          <a:prstGeom prst="rect">
            <a:avLst/>
          </a:prstGeom>
          <a:solidFill>
            <a:srgbClr val="10213A"/>
          </a:solidFill>
          <a:ln w="5080">
            <a:solidFill>
              <a:srgbClr val="2B3C59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090672" y="4572000"/>
            <a:ext cx="16824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dirty="0">
                <a:solidFill>
                  <a:srgbClr val="F8FAFC"/>
                </a:solidFill>
              </a:rPr>
              <a:t>120</a:t>
            </a:r>
            <a:endParaRPr lang="en-US" sz="910" dirty="0"/>
          </a:p>
        </p:txBody>
      </p:sp>
      <p:sp>
        <p:nvSpPr>
          <p:cNvPr id="76" name="Shape 74"/>
          <p:cNvSpPr/>
          <p:nvPr/>
        </p:nvSpPr>
        <p:spPr>
          <a:xfrm>
            <a:off x="4846320" y="4462272"/>
            <a:ext cx="1828800" cy="393192"/>
          </a:xfrm>
          <a:prstGeom prst="rect">
            <a:avLst/>
          </a:prstGeom>
          <a:solidFill>
            <a:srgbClr val="10213A"/>
          </a:solidFill>
          <a:ln w="5080">
            <a:solidFill>
              <a:srgbClr val="2B3C59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919472" y="4572000"/>
            <a:ext cx="16824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dirty="0">
                <a:solidFill>
                  <a:srgbClr val="F8FAFC"/>
                </a:solidFill>
              </a:rPr>
              <a:t>120</a:t>
            </a:r>
            <a:endParaRPr lang="en-US" sz="910" dirty="0"/>
          </a:p>
        </p:txBody>
      </p:sp>
      <p:sp>
        <p:nvSpPr>
          <p:cNvPr id="78" name="Shape 76"/>
          <p:cNvSpPr/>
          <p:nvPr/>
        </p:nvSpPr>
        <p:spPr>
          <a:xfrm>
            <a:off x="6675120" y="4462272"/>
            <a:ext cx="4754880" cy="393192"/>
          </a:xfrm>
          <a:prstGeom prst="rect">
            <a:avLst/>
          </a:prstGeom>
          <a:solidFill>
            <a:srgbClr val="10213A"/>
          </a:solidFill>
          <a:ln w="5080">
            <a:solidFill>
              <a:srgbClr val="2B3C59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748272" y="4572000"/>
            <a:ext cx="460857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F8FAFC"/>
                </a:solidFill>
              </a:rPr>
              <a:t>Con Ki=0.05 aporta solo ±6 PWM.</a:t>
            </a:r>
            <a:endParaRPr lang="en-US" sz="880" dirty="0"/>
          </a:p>
        </p:txBody>
      </p:sp>
      <p:sp>
        <p:nvSpPr>
          <p:cNvPr id="80" name="Text 78"/>
          <p:cNvSpPr/>
          <p:nvPr/>
        </p:nvSpPr>
        <p:spPr>
          <a:xfrm>
            <a:off x="1051560" y="571500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0C46B"/>
                </a:solidFill>
              </a:rPr>
              <a:t>Conclusión: la simulación acertó la dinámica gruesa; el hardware ajustó la no linealidad.</a:t>
            </a:r>
            <a:endParaRPr lang="en-US" sz="1550" dirty="0"/>
          </a:p>
        </p:txBody>
      </p:sp>
      <p:sp>
        <p:nvSpPr>
          <p:cNvPr id="81" name="Shape 79"/>
          <p:cNvSpPr/>
          <p:nvPr/>
        </p:nvSpPr>
        <p:spPr>
          <a:xfrm>
            <a:off x="502920" y="6144768"/>
            <a:ext cx="5486400" cy="292608"/>
          </a:xfrm>
          <a:prstGeom prst="roundRect">
            <a:avLst>
              <a:gd name="adj" fmla="val 12500"/>
            </a:avLst>
          </a:prstGeom>
          <a:solidFill>
            <a:srgbClr val="0B3945"/>
          </a:solidFill>
          <a:ln w="6350">
            <a:solidFill>
              <a:srgbClr val="1C718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94944" y="6236208"/>
            <a:ext cx="5120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B7FAF8"/>
                </a:solidFill>
              </a:rPr>
              <a:t>Materias: Sistemas de Control · Electrónica · Automatización · Proyecto Final</a:t>
            </a:r>
            <a:endParaRPr lang="en-US" sz="7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BD4D0"/>
          </a:solidFill>
          <a:ln w="12700">
            <a:solidFill>
              <a:srgbClr val="2BD4D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891"/>
                </a:solidFill>
              </a:rPr>
              <a:t>esp32-motorized-door-controller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0881360" y="6510528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7891"/>
                </a:solidFill>
              </a:rPr>
              <a:t>Etapa 4 · 6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02920" y="329184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</a:rPr>
              <a:t>5. Qué quedó implementado en v4.1c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02920" y="80467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3C7"/>
                </a:solidFill>
              </a:rPr>
              <a:t>PID durante MOVING; todavía sin HOLDING activo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1051560"/>
            <a:ext cx="10972800" cy="0"/>
          </a:xfrm>
          <a:prstGeom prst="line">
            <a:avLst/>
          </a:prstGeom>
          <a:noFill/>
          <a:ln w="15240">
            <a:solidFill>
              <a:srgbClr val="2BD4D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417320"/>
            <a:ext cx="5029200" cy="4160520"/>
          </a:xfrm>
          <a:prstGeom prst="roundRect">
            <a:avLst>
              <a:gd name="adj" fmla="val 2637"/>
            </a:avLst>
          </a:prstGeom>
          <a:solidFill>
            <a:srgbClr val="0D1B2F"/>
          </a:solidFill>
          <a:ln w="12700">
            <a:solidFill>
              <a:srgbClr val="2B3C59">
                <a:alpha val="9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1664208"/>
            <a:ext cx="731520" cy="256032"/>
          </a:xfrm>
          <a:prstGeom prst="roundRect">
            <a:avLst>
              <a:gd name="adj" fmla="val 28571"/>
            </a:avLst>
          </a:prstGeom>
          <a:solidFill>
            <a:srgbClr val="2BD4D0"/>
          </a:solidFill>
          <a:ln w="12700">
            <a:solidFill>
              <a:srgbClr val="2BD4D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1719072"/>
            <a:ext cx="640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8FAFC"/>
                </a:solidFill>
              </a:rPr>
              <a:t>FLUJO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60120" y="2423160"/>
            <a:ext cx="841248" cy="685800"/>
          </a:xfrm>
          <a:prstGeom prst="roundRect">
            <a:avLst>
              <a:gd name="adj" fmla="val 13333"/>
            </a:avLst>
          </a:prstGeom>
          <a:solidFill>
            <a:srgbClr val="20C46B"/>
          </a:solidFill>
          <a:ln w="12700">
            <a:solidFill>
              <a:srgbClr val="C7D2FE">
                <a:alpha val="3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33272" y="2542032"/>
            <a:ext cx="69494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START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828800" y="2761488"/>
            <a:ext cx="274320" cy="0"/>
          </a:xfrm>
          <a:prstGeom prst="line">
            <a:avLst/>
          </a:prstGeom>
          <a:noFill/>
          <a:ln w="25400">
            <a:solidFill>
              <a:srgbClr val="2BD4D0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148840" y="2423160"/>
            <a:ext cx="841248" cy="685800"/>
          </a:xfrm>
          <a:prstGeom prst="roundRect">
            <a:avLst>
              <a:gd name="adj" fmla="val 13333"/>
            </a:avLst>
          </a:prstGeom>
          <a:solidFill>
            <a:srgbClr val="8B5CF6"/>
          </a:solidFill>
          <a:ln w="12700">
            <a:solidFill>
              <a:srgbClr val="C7D2FE">
                <a:alpha val="3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21992" y="2542032"/>
            <a:ext cx="69494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MOVING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PID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017520" y="2761488"/>
            <a:ext cx="274320" cy="0"/>
          </a:xfrm>
          <a:prstGeom prst="line">
            <a:avLst/>
          </a:prstGeom>
          <a:noFill/>
          <a:ln w="25400">
            <a:solidFill>
              <a:srgbClr val="2BD4D0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337560" y="2423160"/>
            <a:ext cx="841248" cy="685800"/>
          </a:xfrm>
          <a:prstGeom prst="roundRect">
            <a:avLst>
              <a:gd name="adj" fmla="val 13333"/>
            </a:avLst>
          </a:prstGeom>
          <a:solidFill>
            <a:srgbClr val="F59E0B"/>
          </a:solidFill>
          <a:ln w="12700">
            <a:solidFill>
              <a:srgbClr val="C7D2FE">
                <a:alpha val="3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10712" y="2542032"/>
            <a:ext cx="69494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SETTLING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206240" y="2761488"/>
            <a:ext cx="274320" cy="0"/>
          </a:xfrm>
          <a:prstGeom prst="line">
            <a:avLst/>
          </a:prstGeom>
          <a:noFill/>
          <a:ln w="25400">
            <a:solidFill>
              <a:srgbClr val="2BD4D0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526280" y="2423160"/>
            <a:ext cx="841248" cy="685800"/>
          </a:xfrm>
          <a:prstGeom prst="roundRect">
            <a:avLst>
              <a:gd name="adj" fmla="val 13333"/>
            </a:avLst>
          </a:prstGeom>
          <a:solidFill>
            <a:srgbClr val="3B82F6"/>
          </a:solidFill>
          <a:ln w="12700">
            <a:solidFill>
              <a:srgbClr val="C7D2FE">
                <a:alpha val="3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99432" y="2542032"/>
            <a:ext cx="69494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IDLE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41832" y="4041648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A8B3C7"/>
                </a:solidFill>
              </a:rPr>
              <a:t>La versión cierra el movimiento. No intenta mantener posición activamente después de llegar.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080760" y="1417320"/>
            <a:ext cx="5440680" cy="4160520"/>
          </a:xfrm>
          <a:prstGeom prst="roundRect">
            <a:avLst>
              <a:gd name="adj" fmla="val 2637"/>
            </a:avLst>
          </a:prstGeom>
          <a:solidFill>
            <a:srgbClr val="0D1B2F"/>
          </a:solidFill>
          <a:ln w="12700">
            <a:solidFill>
              <a:srgbClr val="2B3C59">
                <a:alpha val="9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55080" y="1664208"/>
            <a:ext cx="914400" cy="256032"/>
          </a:xfrm>
          <a:prstGeom prst="roundRect">
            <a:avLst>
              <a:gd name="adj" fmla="val 28571"/>
            </a:avLst>
          </a:prstGeom>
          <a:solidFill>
            <a:srgbClr val="20C46B"/>
          </a:solidFill>
          <a:ln w="12700">
            <a:solidFill>
              <a:srgbClr val="20C46B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0" y="1719072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8FAFC"/>
                </a:solidFill>
              </a:rPr>
              <a:t>SET BASE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355080" y="2121408"/>
            <a:ext cx="4800600" cy="2377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230" dirty="0">
                <a:solidFill>
                  <a:srgbClr val="F8FAFC"/>
                </a:solidFill>
              </a:rPr>
              <a:t>motion_mode = 2</a:t>
            </a:r>
            <a:endParaRPr lang="en-US" sz="1230" dirty="0"/>
          </a:p>
          <a:p>
            <a:r>
              <a:rPr lang="en-US" sz="1230" dirty="0">
                <a:solidFill>
                  <a:srgbClr val="F8FAFC"/>
                </a:solidFill>
              </a:rPr>
              <a:t>Kp / Ki / Kd = 0.70 / 0.05 / 0.05</a:t>
            </a:r>
            <a:endParaRPr lang="en-US" sz="1230" dirty="0"/>
          </a:p>
          <a:p>
            <a:r>
              <a:rPr lang="en-US" sz="1230" dirty="0">
                <a:solidFill>
                  <a:srgbClr val="F8FAFC"/>
                </a:solidFill>
              </a:rPr>
              <a:t>PWM máximo = 80</a:t>
            </a:r>
            <a:endParaRPr lang="en-US" sz="1230" dirty="0"/>
          </a:p>
          <a:p>
            <a:r>
              <a:rPr lang="en-US" sz="1230" dirty="0">
                <a:solidFill>
                  <a:srgbClr val="F8FAFC"/>
                </a:solidFill>
              </a:rPr>
              <a:t>PWM mínimo efectivo = 75 si error &gt; 2°</a:t>
            </a:r>
            <a:endParaRPr lang="en-US" sz="1230" dirty="0"/>
          </a:p>
          <a:p>
            <a:r>
              <a:rPr lang="en-US" sz="1230" dirty="0">
                <a:solidFill>
                  <a:srgbClr val="F8FAFC"/>
                </a:solidFill>
              </a:rPr>
              <a:t>Integral activa hasta 20° con acumulador limitado</a:t>
            </a:r>
            <a:endParaRPr lang="en-US" sz="1230" dirty="0"/>
          </a:p>
          <a:p>
            <a:r>
              <a:rPr lang="en-US" sz="1230" dirty="0">
                <a:solidFill>
                  <a:srgbClr val="F8FAFC"/>
                </a:solidFill>
              </a:rPr>
              <a:t>Aporte máximo de I: ±6 PWM equivalente</a:t>
            </a:r>
            <a:endParaRPr lang="en-US" sz="1230" dirty="0"/>
          </a:p>
        </p:txBody>
      </p:sp>
      <p:sp>
        <p:nvSpPr>
          <p:cNvPr id="27" name="Shape 25"/>
          <p:cNvSpPr/>
          <p:nvPr/>
        </p:nvSpPr>
        <p:spPr>
          <a:xfrm>
            <a:off x="502920" y="6144768"/>
            <a:ext cx="5486400" cy="292608"/>
          </a:xfrm>
          <a:prstGeom prst="roundRect">
            <a:avLst>
              <a:gd name="adj" fmla="val 12500"/>
            </a:avLst>
          </a:prstGeom>
          <a:solidFill>
            <a:srgbClr val="0B3945"/>
          </a:solidFill>
          <a:ln w="6350">
            <a:solidFill>
              <a:srgbClr val="1C718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4944" y="6236208"/>
            <a:ext cx="5120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B7FAF8"/>
                </a:solidFill>
              </a:rPr>
              <a:t>Materias: Programación Avanzada · Sistemas de Control · Automatización</a:t>
            </a:r>
            <a:endParaRPr lang="en-US" sz="7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BD4D0"/>
          </a:solidFill>
          <a:ln w="12700">
            <a:solidFill>
              <a:srgbClr val="2BD4D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891"/>
                </a:solidFill>
              </a:rPr>
              <a:t>esp32-motorized-door-controller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0881360" y="6510528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7891"/>
                </a:solidFill>
              </a:rPr>
              <a:t>Etapa 4 · 7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02920" y="329184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</a:rPr>
              <a:t>6. La no linealidad real: PWM matemático vs movimiento físico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02920" y="80467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3C7"/>
                </a:solidFill>
              </a:rPr>
              <a:t>El PID puede pedir poco, pero el motor real necesita vencer fricción y zona muerta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1051560"/>
            <a:ext cx="10972800" cy="0"/>
          </a:xfrm>
          <a:prstGeom prst="line">
            <a:avLst/>
          </a:prstGeom>
          <a:noFill/>
          <a:ln w="15240">
            <a:solidFill>
              <a:srgbClr val="2BD4D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325880"/>
            <a:ext cx="5303520" cy="3794760"/>
          </a:xfrm>
          <a:prstGeom prst="roundRect">
            <a:avLst>
              <a:gd name="adj" fmla="val 1928"/>
            </a:avLst>
          </a:prstGeom>
          <a:solidFill>
            <a:srgbClr val="FFFFFF"/>
          </a:solidFill>
          <a:ln w="10160">
            <a:solidFill>
              <a:srgbClr val="334155"/>
            </a:solidFill>
            <a:prstDash val="solid"/>
          </a:ln>
        </p:spPr>
      </p:sp>
      <p:pic>
        <p:nvPicPr>
          <p:cNvPr id="9" name="Image 0" descr="/mnt/data/simulation_output_extracted/simulation_output/07_pid_inicial_con_corte_pw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933956"/>
            <a:ext cx="5157216" cy="2578608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263640" y="1325880"/>
            <a:ext cx="5303520" cy="3794760"/>
          </a:xfrm>
          <a:prstGeom prst="roundRect">
            <a:avLst>
              <a:gd name="adj" fmla="val 2892"/>
            </a:avLst>
          </a:prstGeom>
          <a:solidFill>
            <a:srgbClr val="0D1B2F"/>
          </a:solidFill>
          <a:ln w="12700">
            <a:solidFill>
              <a:srgbClr val="2B3C59">
                <a:alpha val="95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37960" y="1600200"/>
            <a:ext cx="1097280" cy="256032"/>
          </a:xfrm>
          <a:prstGeom prst="roundRect">
            <a:avLst>
              <a:gd name="adj" fmla="val 28571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83680" y="1655064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8FAFC"/>
                </a:solidFill>
              </a:rPr>
              <a:t>APRENDIZAJE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6537960" y="2084832"/>
            <a:ext cx="4480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</a:rPr>
              <a:t>El controlador calcula una salida continua.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</a:rPr>
              <a:t>El motor ejecuta una acción física.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6583680" y="2926080"/>
            <a:ext cx="4434840" cy="16642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250" dirty="0">
                <a:solidFill>
                  <a:srgbClr val="F8FAFC"/>
                </a:solidFill>
              </a:rPr>
              <a:t>Por debajo de cierto PWM, el motor puede no moverse.</a:t>
            </a:r>
            <a:endParaRPr lang="en-US" sz="1250" dirty="0"/>
          </a:p>
          <a:p>
            <a:r>
              <a:rPr lang="en-US" sz="1250" dirty="0">
                <a:solidFill>
                  <a:srgbClr val="F8FAFC"/>
                </a:solidFill>
              </a:rPr>
              <a:t>El PWM mínimo efectivo no es un capricho: representa fricción y arranque.</a:t>
            </a:r>
            <a:endParaRPr lang="en-US" sz="1250" dirty="0"/>
          </a:p>
          <a:p>
            <a:r>
              <a:rPr lang="en-US" sz="1250" dirty="0">
                <a:solidFill>
                  <a:srgbClr val="F8FAFC"/>
                </a:solidFill>
              </a:rPr>
              <a:t>Cerca del target, forzar demasiado PWM puede crear sobrepaso.</a:t>
            </a:r>
            <a:endParaRPr lang="en-US" sz="1250" dirty="0"/>
          </a:p>
          <a:p>
            <a:r>
              <a:rPr lang="en-US" sz="1250" dirty="0">
                <a:solidFill>
                  <a:srgbClr val="F8FAFC"/>
                </a:solidFill>
              </a:rPr>
              <a:t>Por eso se acota dónde y cuándo aplicar el mínimo efectivo.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02920" y="6144768"/>
            <a:ext cx="5486400" cy="292608"/>
          </a:xfrm>
          <a:prstGeom prst="roundRect">
            <a:avLst>
              <a:gd name="adj" fmla="val 12500"/>
            </a:avLst>
          </a:prstGeom>
          <a:solidFill>
            <a:srgbClr val="0B3945"/>
          </a:solidFill>
          <a:ln w="6350">
            <a:solidFill>
              <a:srgbClr val="1C718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94944" y="6236208"/>
            <a:ext cx="5120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B7FAF8"/>
                </a:solidFill>
              </a:rPr>
              <a:t>Materias: Sistemas de Control · Electrónica de potencia · Automatización</a:t>
            </a:r>
            <a:endParaRPr lang="en-US" sz="7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BD4D0"/>
          </a:solidFill>
          <a:ln w="12700">
            <a:solidFill>
              <a:srgbClr val="2BD4D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891"/>
                </a:solidFill>
              </a:rPr>
              <a:t>esp32-motorized-door-controller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0881360" y="6510528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7891"/>
                </a:solidFill>
              </a:rPr>
              <a:t>Etapa 4 · 8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02920" y="329184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</a:rPr>
              <a:t>7. Resultados con cargas prácticas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02920" y="80467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3C7"/>
                </a:solidFill>
              </a:rPr>
              <a:t>El PID de movimiento absorbió variaciones razonables sin cambiar la arquitectura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1051560"/>
            <a:ext cx="10972800" cy="0"/>
          </a:xfrm>
          <a:prstGeom prst="line">
            <a:avLst/>
          </a:prstGeom>
          <a:noFill/>
          <a:ln w="15240">
            <a:solidFill>
              <a:srgbClr val="2BD4D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664208"/>
            <a:ext cx="2286000" cy="411480"/>
          </a:xfrm>
          <a:prstGeom prst="rect">
            <a:avLst/>
          </a:prstGeom>
          <a:solidFill>
            <a:srgbClr val="17375C"/>
          </a:solidFill>
          <a:ln w="6350">
            <a:solidFill>
              <a:srgbClr val="3A4A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2104" y="1801368"/>
            <a:ext cx="21762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8FAFC"/>
                </a:solidFill>
              </a:rPr>
              <a:t>Condición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063240" y="1664208"/>
            <a:ext cx="2377440" cy="411480"/>
          </a:xfrm>
          <a:prstGeom prst="rect">
            <a:avLst/>
          </a:prstGeom>
          <a:solidFill>
            <a:srgbClr val="17375C"/>
          </a:solidFill>
          <a:ln w="6350">
            <a:solidFill>
              <a:srgbClr val="3A4A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18104" y="1801368"/>
            <a:ext cx="22677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8FAFC"/>
                </a:solidFill>
              </a:rPr>
              <a:t>Movimientos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440680" y="1664208"/>
            <a:ext cx="2103120" cy="411480"/>
          </a:xfrm>
          <a:prstGeom prst="rect">
            <a:avLst/>
          </a:prstGeom>
          <a:solidFill>
            <a:srgbClr val="17375C"/>
          </a:solidFill>
          <a:ln w="6350">
            <a:solidFill>
              <a:srgbClr val="3A4A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95544" y="1801368"/>
            <a:ext cx="19933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8FAFC"/>
                </a:solidFill>
              </a:rPr>
              <a:t>Stall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543800" y="1664208"/>
            <a:ext cx="2103120" cy="411480"/>
          </a:xfrm>
          <a:prstGeom prst="rect">
            <a:avLst/>
          </a:prstGeom>
          <a:solidFill>
            <a:srgbClr val="17375C"/>
          </a:solidFill>
          <a:ln w="6350">
            <a:solidFill>
              <a:srgbClr val="3A4A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98664" y="1801368"/>
            <a:ext cx="19933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8FAFC"/>
                </a:solidFill>
              </a:rPr>
              <a:t>Error típico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9646920" y="1664208"/>
            <a:ext cx="2194560" cy="411480"/>
          </a:xfrm>
          <a:prstGeom prst="rect">
            <a:avLst/>
          </a:prstGeom>
          <a:solidFill>
            <a:srgbClr val="17375C"/>
          </a:solidFill>
          <a:ln w="6350">
            <a:solidFill>
              <a:srgbClr val="3A4A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01784" y="1801368"/>
            <a:ext cx="20848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8FAFC"/>
                </a:solidFill>
              </a:rPr>
              <a:t>Lectura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77240" y="2075688"/>
            <a:ext cx="2286000" cy="566928"/>
          </a:xfrm>
          <a:prstGeom prst="rect">
            <a:avLst/>
          </a:prstGeom>
          <a:solidFill>
            <a:srgbClr val="0E1E34"/>
          </a:solidFill>
          <a:ln w="5080">
            <a:solidFill>
              <a:srgbClr val="2B3C5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0392" y="2240280"/>
            <a:ext cx="2139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F8FAFC"/>
                </a:solidFill>
              </a:rPr>
              <a:t>Sin carga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063240" y="2075688"/>
            <a:ext cx="2377440" cy="566928"/>
          </a:xfrm>
          <a:prstGeom prst="rect">
            <a:avLst/>
          </a:prstGeom>
          <a:solidFill>
            <a:srgbClr val="0E1E34"/>
          </a:solidFill>
          <a:ln w="5080">
            <a:solidFill>
              <a:srgbClr val="2B3C5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36392" y="2240280"/>
            <a:ext cx="22311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F8FAFC"/>
                </a:solidFill>
              </a:rPr>
              <a:t>POS_3, POS_1, POS_2, POS_3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440680" y="2075688"/>
            <a:ext cx="2103120" cy="566928"/>
          </a:xfrm>
          <a:prstGeom prst="rect">
            <a:avLst/>
          </a:prstGeom>
          <a:solidFill>
            <a:srgbClr val="0E1E34"/>
          </a:solidFill>
          <a:ln w="5080">
            <a:solidFill>
              <a:srgbClr val="2B3C5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13832" y="2240280"/>
            <a:ext cx="19568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F8FAFC"/>
                </a:solidFill>
              </a:rPr>
              <a:t>0/3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543800" y="2075688"/>
            <a:ext cx="2103120" cy="566928"/>
          </a:xfrm>
          <a:prstGeom prst="rect">
            <a:avLst/>
          </a:prstGeom>
          <a:solidFill>
            <a:srgbClr val="0E1E34"/>
          </a:solidFill>
          <a:ln w="5080">
            <a:solidFill>
              <a:srgbClr val="2B3C5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16952" y="2240280"/>
            <a:ext cx="19568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F8FAFC"/>
                </a:solidFill>
              </a:rPr>
              <a:t>-0.42° a -1.28°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646920" y="2075688"/>
            <a:ext cx="2194560" cy="566928"/>
          </a:xfrm>
          <a:prstGeom prst="rect">
            <a:avLst/>
          </a:prstGeom>
          <a:solidFill>
            <a:srgbClr val="0E1E34"/>
          </a:solidFill>
          <a:ln w="5080">
            <a:solidFill>
              <a:srgbClr val="2B3C5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720072" y="2240280"/>
            <a:ext cx="20482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20C46B"/>
                </a:solidFill>
              </a:rPr>
              <a:t>Base OK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77240" y="2642616"/>
            <a:ext cx="2286000" cy="566928"/>
          </a:xfrm>
          <a:prstGeom prst="rect">
            <a:avLst/>
          </a:prstGeom>
          <a:solidFill>
            <a:srgbClr val="10213A"/>
          </a:solidFill>
          <a:ln w="5080">
            <a:solidFill>
              <a:srgbClr val="2B3C5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50392" y="2807208"/>
            <a:ext cx="2139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F8FAFC"/>
                </a:solidFill>
              </a:rPr>
              <a:t>Carga 8 g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063240" y="2642616"/>
            <a:ext cx="2377440" cy="566928"/>
          </a:xfrm>
          <a:prstGeom prst="rect">
            <a:avLst/>
          </a:prstGeom>
          <a:solidFill>
            <a:srgbClr val="10213A"/>
          </a:solidFill>
          <a:ln w="5080">
            <a:solidFill>
              <a:srgbClr val="2B3C5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136392" y="2807208"/>
            <a:ext cx="22311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F8FAFC"/>
                </a:solidFill>
              </a:rPr>
              <a:t>4 movimientos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440680" y="2642616"/>
            <a:ext cx="2103120" cy="566928"/>
          </a:xfrm>
          <a:prstGeom prst="rect">
            <a:avLst/>
          </a:prstGeom>
          <a:solidFill>
            <a:srgbClr val="10213A"/>
          </a:solidFill>
          <a:ln w="5080">
            <a:solidFill>
              <a:srgbClr val="2B3C5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513832" y="2807208"/>
            <a:ext cx="19568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F8FAFC"/>
                </a:solidFill>
              </a:rPr>
              <a:t>0/3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7543800" y="2642616"/>
            <a:ext cx="2103120" cy="566928"/>
          </a:xfrm>
          <a:prstGeom prst="rect">
            <a:avLst/>
          </a:prstGeom>
          <a:solidFill>
            <a:srgbClr val="10213A"/>
          </a:solidFill>
          <a:ln w="5080">
            <a:solidFill>
              <a:srgbClr val="2B3C5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616952" y="2807208"/>
            <a:ext cx="19568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F8FAFC"/>
                </a:solidFill>
              </a:rPr>
              <a:t>-1.83° a +1.03°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9646920" y="2642616"/>
            <a:ext cx="2194560" cy="566928"/>
          </a:xfrm>
          <a:prstGeom prst="rect">
            <a:avLst/>
          </a:prstGeom>
          <a:solidFill>
            <a:srgbClr val="10213A"/>
          </a:solidFill>
          <a:ln w="5080">
            <a:solidFill>
              <a:srgbClr val="2B3C5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720072" y="2807208"/>
            <a:ext cx="20482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20C46B"/>
                </a:solidFill>
              </a:rPr>
              <a:t>OK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777240" y="3209544"/>
            <a:ext cx="2286000" cy="566928"/>
          </a:xfrm>
          <a:prstGeom prst="rect">
            <a:avLst/>
          </a:prstGeom>
          <a:solidFill>
            <a:srgbClr val="0E1E34"/>
          </a:solidFill>
          <a:ln w="5080">
            <a:solidFill>
              <a:srgbClr val="2B3C5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50392" y="3374136"/>
            <a:ext cx="2139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F8FAFC"/>
                </a:solidFill>
              </a:rPr>
              <a:t>Carga 14 g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063240" y="3209544"/>
            <a:ext cx="2377440" cy="566928"/>
          </a:xfrm>
          <a:prstGeom prst="rect">
            <a:avLst/>
          </a:prstGeom>
          <a:solidFill>
            <a:srgbClr val="0E1E34"/>
          </a:solidFill>
          <a:ln w="5080">
            <a:solidFill>
              <a:srgbClr val="2B3C5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136392" y="3374136"/>
            <a:ext cx="22311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F8FAFC"/>
                </a:solidFill>
              </a:rPr>
              <a:t>4 movimientos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440680" y="3209544"/>
            <a:ext cx="2103120" cy="566928"/>
          </a:xfrm>
          <a:prstGeom prst="rect">
            <a:avLst/>
          </a:prstGeom>
          <a:solidFill>
            <a:srgbClr val="0E1E34"/>
          </a:solidFill>
          <a:ln w="5080">
            <a:solidFill>
              <a:srgbClr val="2B3C5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3374136"/>
            <a:ext cx="19568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F8FAFC"/>
                </a:solidFill>
              </a:rPr>
              <a:t>0/3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7543800" y="3209544"/>
            <a:ext cx="2103120" cy="566928"/>
          </a:xfrm>
          <a:prstGeom prst="rect">
            <a:avLst/>
          </a:prstGeom>
          <a:solidFill>
            <a:srgbClr val="0E1E34"/>
          </a:solidFill>
          <a:ln w="5080">
            <a:solidFill>
              <a:srgbClr val="2B3C5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616952" y="3374136"/>
            <a:ext cx="19568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F8FAFC"/>
                </a:solidFill>
              </a:rPr>
              <a:t>-1.59° a +0.99°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9646920" y="3209544"/>
            <a:ext cx="2194560" cy="566928"/>
          </a:xfrm>
          <a:prstGeom prst="rect">
            <a:avLst/>
          </a:prstGeom>
          <a:solidFill>
            <a:srgbClr val="0E1E34"/>
          </a:solidFill>
          <a:ln w="5080">
            <a:solidFill>
              <a:srgbClr val="2B3C5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720072" y="3374136"/>
            <a:ext cx="20482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20C46B"/>
                </a:solidFill>
              </a:rPr>
              <a:t>OK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777240" y="3776472"/>
            <a:ext cx="2286000" cy="566928"/>
          </a:xfrm>
          <a:prstGeom prst="rect">
            <a:avLst/>
          </a:prstGeom>
          <a:solidFill>
            <a:srgbClr val="2B1A1A"/>
          </a:solidFill>
          <a:ln w="5080">
            <a:solidFill>
              <a:srgbClr val="2B3C5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50392" y="3941064"/>
            <a:ext cx="2139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F8FAFC"/>
                </a:solidFill>
              </a:rPr>
              <a:t>Carga 20 g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3063240" y="3776472"/>
            <a:ext cx="2377440" cy="566928"/>
          </a:xfrm>
          <a:prstGeom prst="rect">
            <a:avLst/>
          </a:prstGeom>
          <a:solidFill>
            <a:srgbClr val="2B1A1A"/>
          </a:solidFill>
          <a:ln w="5080">
            <a:solidFill>
              <a:srgbClr val="2B3C5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136392" y="3941064"/>
            <a:ext cx="22311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F8FAFC"/>
                </a:solidFill>
              </a:rPr>
              <a:t>5 movimientos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5440680" y="3776472"/>
            <a:ext cx="2103120" cy="566928"/>
          </a:xfrm>
          <a:prstGeom prst="rect">
            <a:avLst/>
          </a:prstGeom>
          <a:solidFill>
            <a:srgbClr val="2B1A1A"/>
          </a:solidFill>
          <a:ln w="5080">
            <a:solidFill>
              <a:srgbClr val="2B3C59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513832" y="3941064"/>
            <a:ext cx="19568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F8FAFC"/>
                </a:solidFill>
              </a:rPr>
              <a:t>2 fallas POS_3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7543800" y="3776472"/>
            <a:ext cx="2103120" cy="566928"/>
          </a:xfrm>
          <a:prstGeom prst="rect">
            <a:avLst/>
          </a:prstGeom>
          <a:solidFill>
            <a:srgbClr val="2B1A1A"/>
          </a:solidFill>
          <a:ln w="5080">
            <a:solidFill>
              <a:srgbClr val="2B3C59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616952" y="3941064"/>
            <a:ext cx="19568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F8FAFC"/>
                </a:solidFill>
              </a:rPr>
              <a:t>borde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9646920" y="3776472"/>
            <a:ext cx="2194560" cy="566928"/>
          </a:xfrm>
          <a:prstGeom prst="rect">
            <a:avLst/>
          </a:prstGeom>
          <a:solidFill>
            <a:srgbClr val="2B1A1A"/>
          </a:solidFill>
          <a:ln w="5080">
            <a:solidFill>
              <a:srgbClr val="2B3C59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720072" y="3941064"/>
            <a:ext cx="20482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F8FAFC"/>
                </a:solidFill>
              </a:rPr>
              <a:t>Fuera de rango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1005840" y="4572000"/>
            <a:ext cx="9875520" cy="530352"/>
          </a:xfrm>
          <a:prstGeom prst="roundRect">
            <a:avLst>
              <a:gd name="adj" fmla="val 8621"/>
            </a:avLst>
          </a:prstGeom>
          <a:solidFill>
            <a:srgbClr val="073B2A"/>
          </a:solidFill>
          <a:ln w="10160">
            <a:solidFill>
              <a:srgbClr val="20C46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207008" y="4773168"/>
            <a:ext cx="9418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C6F7D6"/>
                </a:solidFill>
              </a:rPr>
              <a:t>Lectura: 8 g y 14 g validan variaciones prácticas; 20 g documenta el borde, no una especificación de producto.</a:t>
            </a:r>
            <a:endParaRPr lang="en-US" sz="1120" dirty="0"/>
          </a:p>
        </p:txBody>
      </p:sp>
      <p:sp>
        <p:nvSpPr>
          <p:cNvPr id="60" name="Shape 58"/>
          <p:cNvSpPr/>
          <p:nvPr/>
        </p:nvSpPr>
        <p:spPr>
          <a:xfrm>
            <a:off x="502920" y="6144768"/>
            <a:ext cx="5486400" cy="292608"/>
          </a:xfrm>
          <a:prstGeom prst="roundRect">
            <a:avLst>
              <a:gd name="adj" fmla="val 12500"/>
            </a:avLst>
          </a:prstGeom>
          <a:solidFill>
            <a:srgbClr val="0B3945"/>
          </a:solidFill>
          <a:ln w="6350">
            <a:solidFill>
              <a:srgbClr val="1C718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94944" y="6236208"/>
            <a:ext cx="5120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B7FAF8"/>
                </a:solidFill>
              </a:rPr>
              <a:t>Materias: Sistemas de Control · Ensayo experimental · Proyecto Final</a:t>
            </a:r>
            <a:endParaRPr lang="en-US" sz="7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BD4D0"/>
          </a:solidFill>
          <a:ln w="12700">
            <a:solidFill>
              <a:srgbClr val="2BD4D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891"/>
                </a:solidFill>
              </a:rPr>
              <a:t>esp32-motorized-door-controller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0881360" y="6510528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7891"/>
                </a:solidFill>
              </a:rPr>
              <a:t>Etapa 4 · 9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02920" y="329184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</a:rPr>
              <a:t>8. Prueba extrema: 20 g no es producción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02920" y="80467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3C7"/>
                </a:solidFill>
              </a:rPr>
              <a:t>El montaje agrega más variables que una carga limpia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1051560"/>
            <a:ext cx="10972800" cy="0"/>
          </a:xfrm>
          <a:prstGeom prst="line">
            <a:avLst/>
          </a:prstGeom>
          <a:noFill/>
          <a:ln w="15240">
            <a:solidFill>
              <a:srgbClr val="2BD4D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280160"/>
            <a:ext cx="475488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0160">
            <a:solidFill>
              <a:srgbClr val="334155"/>
            </a:solidFill>
            <a:prstDash val="solid"/>
          </a:ln>
        </p:spPr>
      </p:sp>
      <p:pic>
        <p:nvPicPr>
          <p:cNvPr id="9" name="Image 0" descr="/mnt/data/etapa4_assets/carga_extrema_crop.png">    </p:cNvPr>
          <p:cNvPicPr>
            <a:picLocks noChangeAspect="1"/>
          </p:cNvPicPr>
          <p:nvPr/>
        </p:nvPicPr>
        <p:blipFill>
          <a:blip r:embed="rId1"/>
          <a:srcRect l="0" r="0" t="1408" b="1408"/>
          <a:stretch/>
        </p:blipFill>
        <p:spPr>
          <a:xfrm>
            <a:off x="630936" y="1316736"/>
            <a:ext cx="4681728" cy="4453128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687568" y="1280160"/>
            <a:ext cx="5897880" cy="4526280"/>
          </a:xfrm>
          <a:prstGeom prst="roundRect">
            <a:avLst>
              <a:gd name="adj" fmla="val 2424"/>
            </a:avLst>
          </a:prstGeom>
          <a:solidFill>
            <a:srgbClr val="0D1B2F"/>
          </a:solidFill>
          <a:ln w="12700">
            <a:solidFill>
              <a:srgbClr val="2B3C59">
                <a:alpha val="95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989320" y="1572768"/>
            <a:ext cx="1874520" cy="256032"/>
          </a:xfrm>
          <a:prstGeom prst="roundRect">
            <a:avLst>
              <a:gd name="adj" fmla="val 28571"/>
            </a:avLst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035040" y="1627632"/>
            <a:ext cx="1783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8FAFC"/>
                </a:solidFill>
              </a:rPr>
              <a:t>ADVERTENCIA MECÁNICA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5989320" y="202996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8FAFC"/>
                </a:solidFill>
              </a:rPr>
              <a:t>Un N20 no es un eje industrial.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6053328" y="2697480"/>
            <a:ext cx="4892040" cy="1737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220" dirty="0">
                <a:solidFill>
                  <a:srgbClr val="F8FAFC"/>
                </a:solidFill>
              </a:rPr>
              <a:t>Estos motorreductores suelen mover ruedas o engranajes pequeños.</a:t>
            </a:r>
            <a:endParaRPr lang="en-US" sz="1220" dirty="0"/>
          </a:p>
          <a:p>
            <a:r>
              <a:rPr lang="en-US" sz="1220" dirty="0">
                <a:solidFill>
                  <a:srgbClr val="F8FAFC"/>
                </a:solidFill>
              </a:rPr>
              <a:t>No conviene aplicarles cargas axiales, laterales o palancas sobre el eje.</a:t>
            </a:r>
            <a:endParaRPr lang="en-US" sz="1220" dirty="0"/>
          </a:p>
          <a:p>
            <a:r>
              <a:rPr lang="en-US" sz="1220" dirty="0">
                <a:solidFill>
                  <a:srgbClr val="F8FAFC"/>
                </a:solidFill>
              </a:rPr>
              <a:t>El clip + imanes introdujo torque variable, rozamiento posible y campo cerca del AS5048A.</a:t>
            </a:r>
            <a:endParaRPr lang="en-US" sz="1220" dirty="0"/>
          </a:p>
          <a:p>
            <a:r>
              <a:rPr lang="en-US" sz="1220" dirty="0">
                <a:solidFill>
                  <a:srgbClr val="F8FAFC"/>
                </a:solidFill>
              </a:rPr>
              <a:t>El ensayo sirve como estrés intencional, no como diseño mecánico recomendado.</a:t>
            </a:r>
            <a:endParaRPr lang="en-US" sz="1220" dirty="0"/>
          </a:p>
        </p:txBody>
      </p:sp>
      <p:sp>
        <p:nvSpPr>
          <p:cNvPr id="15" name="Text 12"/>
          <p:cNvSpPr/>
          <p:nvPr/>
        </p:nvSpPr>
        <p:spPr>
          <a:xfrm>
            <a:off x="6053328" y="4892040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59E0B"/>
                </a:solidFill>
              </a:rPr>
              <a:t>Conclusión: cuando la mecánica queda fuera de rango, el controlador no debe ser culpado ni usado para tapar un problema de diseño.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02920" y="6144768"/>
            <a:ext cx="5486400" cy="292608"/>
          </a:xfrm>
          <a:prstGeom prst="roundRect">
            <a:avLst>
              <a:gd name="adj" fmla="val 12500"/>
            </a:avLst>
          </a:prstGeom>
          <a:solidFill>
            <a:srgbClr val="0B3945"/>
          </a:solidFill>
          <a:ln w="6350">
            <a:solidFill>
              <a:srgbClr val="1C718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94944" y="6236208"/>
            <a:ext cx="5120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B7FAF8"/>
                </a:solidFill>
              </a:rPr>
              <a:t>Materias: Automatización · Mecánica/electromecánica · Sensores · Proyecto Final</a:t>
            </a:r>
            <a:endParaRPr lang="en-US" sz="7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BD4D0"/>
          </a:solidFill>
          <a:ln w="12700">
            <a:solidFill>
              <a:srgbClr val="2BD4D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891"/>
                </a:solidFill>
              </a:rPr>
              <a:t>esp32-motorized-door-controller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0881360" y="6510528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7891"/>
                </a:solidFill>
              </a:rPr>
              <a:t>Etapa 4 · 10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02920" y="329184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</a:rPr>
              <a:t>9. Lectura para un producto real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02920" y="80467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3C7"/>
                </a:solidFill>
              </a:rPr>
              <a:t>En una pasarela real, la planta incluye muchas más piezas y tolerancias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1051560"/>
            <a:ext cx="10972800" cy="0"/>
          </a:xfrm>
          <a:prstGeom prst="line">
            <a:avLst/>
          </a:prstGeom>
          <a:noFill/>
          <a:ln w="15240">
            <a:solidFill>
              <a:srgbClr val="2BD4D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600200"/>
            <a:ext cx="1600200" cy="640080"/>
          </a:xfrm>
          <a:prstGeom prst="roundRect">
            <a:avLst>
              <a:gd name="adj" fmla="val 14286"/>
            </a:avLst>
          </a:prstGeom>
          <a:solidFill>
            <a:srgbClr val="20C46B"/>
          </a:solidFill>
          <a:ln w="12700">
            <a:solidFill>
              <a:srgbClr val="C7D2FE">
                <a:alpha val="3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719072"/>
            <a:ext cx="14538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Motor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520440" y="1600200"/>
            <a:ext cx="1600200" cy="640080"/>
          </a:xfrm>
          <a:prstGeom prst="roundRect">
            <a:avLst>
              <a:gd name="adj" fmla="val 14286"/>
            </a:avLst>
          </a:prstGeom>
          <a:solidFill>
            <a:srgbClr val="3B82F6"/>
          </a:solidFill>
          <a:ln w="12700">
            <a:solidFill>
              <a:srgbClr val="C7D2FE">
                <a:alpha val="3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93592" y="1719072"/>
            <a:ext cx="14538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Embrague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09360" y="1600200"/>
            <a:ext cx="1600200" cy="640080"/>
          </a:xfrm>
          <a:prstGeom prst="roundRect">
            <a:avLst>
              <a:gd name="adj" fmla="val 14286"/>
            </a:avLst>
          </a:prstGeom>
          <a:solidFill>
            <a:srgbClr val="8B5CF6"/>
          </a:solidFill>
          <a:ln w="12700">
            <a:solidFill>
              <a:srgbClr val="C7D2FE">
                <a:alpha val="3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82512" y="1719072"/>
            <a:ext cx="14538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Eje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098280" y="1600200"/>
            <a:ext cx="1600200" cy="640080"/>
          </a:xfrm>
          <a:prstGeom prst="roundRect">
            <a:avLst>
              <a:gd name="adj" fmla="val 14286"/>
            </a:avLst>
          </a:prstGeom>
          <a:solidFill>
            <a:srgbClr val="F59E0B"/>
          </a:solidFill>
          <a:ln w="12700">
            <a:solidFill>
              <a:srgbClr val="C7D2FE">
                <a:alpha val="3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71432" y="1719072"/>
            <a:ext cx="14538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Reductora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2651760"/>
            <a:ext cx="1600200" cy="640080"/>
          </a:xfrm>
          <a:prstGeom prst="roundRect">
            <a:avLst>
              <a:gd name="adj" fmla="val 14286"/>
            </a:avLst>
          </a:prstGeom>
          <a:solidFill>
            <a:srgbClr val="2BD4D0"/>
          </a:solidFill>
          <a:ln w="12700">
            <a:solidFill>
              <a:srgbClr val="C7D2FE">
                <a:alpha val="3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672" y="2770632"/>
            <a:ext cx="14538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Puerta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520440" y="2651760"/>
            <a:ext cx="1600200" cy="640080"/>
          </a:xfrm>
          <a:prstGeom prst="roundRect">
            <a:avLst>
              <a:gd name="adj" fmla="val 14286"/>
            </a:avLst>
          </a:prstGeom>
          <a:solidFill>
            <a:srgbClr val="3B82F6"/>
          </a:solidFill>
          <a:ln w="12700">
            <a:solidFill>
              <a:srgbClr val="C7D2FE">
                <a:alpha val="3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93592" y="2770632"/>
            <a:ext cx="14538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Rodamientos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309360" y="2651760"/>
            <a:ext cx="1600200" cy="640080"/>
          </a:xfrm>
          <a:prstGeom prst="roundRect">
            <a:avLst>
              <a:gd name="adj" fmla="val 14286"/>
            </a:avLst>
          </a:prstGeom>
          <a:solidFill>
            <a:srgbClr val="EF4444"/>
          </a:solidFill>
          <a:ln w="12700">
            <a:solidFill>
              <a:srgbClr val="C7D2FE">
                <a:alpha val="3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82512" y="2770632"/>
            <a:ext cx="14538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Topes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098280" y="2651760"/>
            <a:ext cx="1600200" cy="640080"/>
          </a:xfrm>
          <a:prstGeom prst="roundRect">
            <a:avLst>
              <a:gd name="adj" fmla="val 14286"/>
            </a:avLst>
          </a:prstGeom>
          <a:solidFill>
            <a:srgbClr val="20C46B"/>
          </a:solidFill>
          <a:ln w="12700">
            <a:solidFill>
              <a:srgbClr val="C7D2FE">
                <a:alpha val="3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71432" y="2770632"/>
            <a:ext cx="14538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Montaje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14400" y="4069080"/>
            <a:ext cx="10287000" cy="1325880"/>
          </a:xfrm>
          <a:prstGeom prst="roundRect">
            <a:avLst>
              <a:gd name="adj" fmla="val 8276"/>
            </a:avLst>
          </a:prstGeom>
          <a:solidFill>
            <a:srgbClr val="08182C"/>
          </a:solidFill>
          <a:ln w="12700">
            <a:solidFill>
              <a:srgbClr val="2BD4D0">
                <a:alpha val="9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88720" y="4370832"/>
            <a:ext cx="9784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8FAFC"/>
                </a:solidFill>
              </a:rPr>
              <a:t>La planta real no es “el motor”: es el conjunto completo. Cada tolerancia de montaje cambia la respuesta.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1188720" y="4754880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A8B3C7"/>
                </a:solidFill>
              </a:rPr>
              <a:t>En producción se mide una familia de plantas. Una vez conocida la media y la dispersión, la sintonización suele ser homogénea y las unidades particulares se corrigen por calibración.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02920" y="6144768"/>
            <a:ext cx="5486400" cy="292608"/>
          </a:xfrm>
          <a:prstGeom prst="roundRect">
            <a:avLst>
              <a:gd name="adj" fmla="val 12500"/>
            </a:avLst>
          </a:prstGeom>
          <a:solidFill>
            <a:srgbClr val="0B3945"/>
          </a:solidFill>
          <a:ln w="6350">
            <a:solidFill>
              <a:srgbClr val="1C718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4944" y="6236208"/>
            <a:ext cx="5120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B7FAF8"/>
                </a:solidFill>
              </a:rPr>
              <a:t>Materias: Proyecto Final · Sistemas de Control · Automatización · Manufactura</a:t>
            </a:r>
            <a:endParaRPr lang="en-US" sz="7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BD4D0"/>
          </a:solidFill>
          <a:ln w="12700">
            <a:solidFill>
              <a:srgbClr val="2BD4D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891"/>
                </a:solidFill>
              </a:rPr>
              <a:t>esp32-motorized-door-controller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0881360" y="6510528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7891"/>
                </a:solidFill>
              </a:rPr>
              <a:t>Etapa 4 · 11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02920" y="329184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</a:rPr>
              <a:t>10. ¿Qué se puede mostrar en video?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02920" y="80467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3C7"/>
                </a:solidFill>
              </a:rPr>
              <a:t>La maqueta quizá no muestre grandes variaciones de carga, pero sí muestra el método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1051560"/>
            <a:ext cx="10972800" cy="0"/>
          </a:xfrm>
          <a:prstGeom prst="line">
            <a:avLst/>
          </a:prstGeom>
          <a:noFill/>
          <a:ln w="15240">
            <a:solidFill>
              <a:srgbClr val="2BD4D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417320"/>
            <a:ext cx="5303520" cy="4297680"/>
          </a:xfrm>
          <a:prstGeom prst="roundRect">
            <a:avLst>
              <a:gd name="adj" fmla="val 2553"/>
            </a:avLst>
          </a:prstGeom>
          <a:solidFill>
            <a:srgbClr val="0D1B2F"/>
          </a:solidFill>
          <a:ln w="12700">
            <a:solidFill>
              <a:srgbClr val="2B3C59">
                <a:alpha val="9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0120" y="1700784"/>
            <a:ext cx="1417320" cy="256032"/>
          </a:xfrm>
          <a:prstGeom prst="roundRect">
            <a:avLst>
              <a:gd name="adj" fmla="val 28571"/>
            </a:avLst>
          </a:prstGeom>
          <a:solidFill>
            <a:srgbClr val="20C46B"/>
          </a:solidFill>
          <a:ln w="12700">
            <a:solidFill>
              <a:srgbClr val="20C46B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755648"/>
            <a:ext cx="1325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8FAFC"/>
                </a:solidFill>
              </a:rPr>
              <a:t>SE PUEDE MOSTRAR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7552" y="2240280"/>
            <a:ext cx="4434840" cy="1691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300" dirty="0">
                <a:solidFill>
                  <a:srgbClr val="F8FAFC"/>
                </a:solidFill>
              </a:rPr>
              <a:t>Que el sistema llega repetidamente.</a:t>
            </a:r>
            <a:endParaRPr lang="en-US" sz="1300" dirty="0"/>
          </a:p>
          <a:p>
            <a:r>
              <a:rPr lang="en-US" sz="1300" dirty="0">
                <a:solidFill>
                  <a:srgbClr val="F8FAFC"/>
                </a:solidFill>
              </a:rPr>
              <a:t>Que los parámetros vienen de simulación, no de tanteo ciego.</a:t>
            </a:r>
            <a:endParaRPr lang="en-US" sz="1300" dirty="0"/>
          </a:p>
          <a:p>
            <a:r>
              <a:rPr lang="en-US" sz="1300" dirty="0">
                <a:solidFill>
                  <a:srgbClr val="F8FAFC"/>
                </a:solidFill>
              </a:rPr>
              <a:t>Que el hardware obligó a recalibrar fricción y PWM mínimo.</a:t>
            </a:r>
            <a:endParaRPr lang="en-US" sz="1300" dirty="0"/>
          </a:p>
          <a:p>
            <a:r>
              <a:rPr lang="en-US" sz="1300" dirty="0">
                <a:solidFill>
                  <a:srgbClr val="F8FAFC"/>
                </a:solidFill>
              </a:rPr>
              <a:t>Que 8 g y 14 g no rompieron la llegada.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36208" y="1417320"/>
            <a:ext cx="5303520" cy="4297680"/>
          </a:xfrm>
          <a:prstGeom prst="roundRect">
            <a:avLst>
              <a:gd name="adj" fmla="val 2553"/>
            </a:avLst>
          </a:prstGeom>
          <a:solidFill>
            <a:srgbClr val="0D1B2F"/>
          </a:solidFill>
          <a:ln w="12700">
            <a:solidFill>
              <a:srgbClr val="2B3C59">
                <a:alpha val="9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10528" y="1700784"/>
            <a:ext cx="1234440" cy="256032"/>
          </a:xfrm>
          <a:prstGeom prst="roundRect">
            <a:avLst>
              <a:gd name="adj" fmla="val 28571"/>
            </a:avLst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56248" y="1755648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8FAFC"/>
                </a:solidFill>
              </a:rPr>
              <a:t>NO VENDER COMO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537960" y="2240280"/>
            <a:ext cx="4434840" cy="1691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300" dirty="0">
                <a:solidFill>
                  <a:srgbClr val="F8FAFC"/>
                </a:solidFill>
              </a:rPr>
              <a:t>Un PID “mágico” visible a simple vista.</a:t>
            </a:r>
            <a:endParaRPr lang="en-US" sz="1300" dirty="0"/>
          </a:p>
          <a:p>
            <a:r>
              <a:rPr lang="en-US" sz="1300" dirty="0">
                <a:solidFill>
                  <a:srgbClr val="F8FAFC"/>
                </a:solidFill>
              </a:rPr>
              <a:t>Una validación de seguridad industrial.</a:t>
            </a:r>
            <a:endParaRPr lang="en-US" sz="1300" dirty="0"/>
          </a:p>
          <a:p>
            <a:r>
              <a:rPr lang="en-US" sz="1300" dirty="0">
                <a:solidFill>
                  <a:srgbClr val="F8FAFC"/>
                </a:solidFill>
              </a:rPr>
              <a:t>Una sintonización final de una puerta real.</a:t>
            </a:r>
            <a:endParaRPr lang="en-US" sz="1300" dirty="0"/>
          </a:p>
          <a:p>
            <a:r>
              <a:rPr lang="en-US" sz="1300" dirty="0">
                <a:solidFill>
                  <a:srgbClr val="F8FAFC"/>
                </a:solidFill>
              </a:rPr>
              <a:t>Una prueba de carga limpia en 20 g.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97280" y="5715000"/>
            <a:ext cx="9966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2BD4D0"/>
                </a:solidFill>
              </a:rPr>
              <a:t>Mensaje para el video: el valor no está solo en que se mueva; está en cómo se llegó a un set defendible.</a:t>
            </a:r>
            <a:endParaRPr lang="en-US" sz="1430" dirty="0"/>
          </a:p>
        </p:txBody>
      </p:sp>
      <p:sp>
        <p:nvSpPr>
          <p:cNvPr id="17" name="Shape 15"/>
          <p:cNvSpPr/>
          <p:nvPr/>
        </p:nvSpPr>
        <p:spPr>
          <a:xfrm>
            <a:off x="502920" y="6144768"/>
            <a:ext cx="5486400" cy="292608"/>
          </a:xfrm>
          <a:prstGeom prst="roundRect">
            <a:avLst>
              <a:gd name="adj" fmla="val 12500"/>
            </a:avLst>
          </a:prstGeom>
          <a:solidFill>
            <a:srgbClr val="0B3945"/>
          </a:solidFill>
          <a:ln w="6350">
            <a:solidFill>
              <a:srgbClr val="1C71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4944" y="6236208"/>
            <a:ext cx="5120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B7FAF8"/>
                </a:solidFill>
              </a:rPr>
              <a:t>Materias: Comunicación técnica · Proyecto Final · Sistemas de Control</a:t>
            </a:r>
            <a:endParaRPr lang="en-US" sz="7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BD4D0"/>
          </a:solidFill>
          <a:ln w="12700">
            <a:solidFill>
              <a:srgbClr val="2BD4D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891"/>
                </a:solidFill>
              </a:rPr>
              <a:t>esp32-motorized-door-controller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0881360" y="6510528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7891"/>
                </a:solidFill>
              </a:rPr>
              <a:t>Etapa 4 · 12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02920" y="329184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</a:rPr>
              <a:t>11. Cierre de la Etapa 4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02920" y="80467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3C7"/>
                </a:solidFill>
              </a:rPr>
              <a:t>PID de movimiento aceptado; quedan decisiones de producto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1051560"/>
            <a:ext cx="10972800" cy="0"/>
          </a:xfrm>
          <a:prstGeom prst="line">
            <a:avLst/>
          </a:prstGeom>
          <a:noFill/>
          <a:ln w="15240">
            <a:solidFill>
              <a:srgbClr val="2BD4D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828800"/>
            <a:ext cx="1737360" cy="2331720"/>
          </a:xfrm>
          <a:prstGeom prst="roundRect">
            <a:avLst>
              <a:gd name="adj" fmla="val 6316"/>
            </a:avLst>
          </a:prstGeom>
          <a:solidFill>
            <a:srgbClr val="0D1B2F"/>
          </a:solidFill>
          <a:ln w="12700">
            <a:solidFill>
              <a:srgbClr val="2B3C59">
                <a:alpha val="9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35024" y="2057400"/>
            <a:ext cx="502920" cy="502920"/>
          </a:xfrm>
          <a:prstGeom prst="ellipse">
            <a:avLst/>
          </a:prstGeom>
          <a:solidFill>
            <a:srgbClr val="20C46B"/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63040" y="2212848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✓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28346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PID moving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v4.1c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367588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A8B3C7"/>
                </a:solidFill>
              </a:rPr>
              <a:t>Aceptado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971800" y="1828800"/>
            <a:ext cx="1737360" cy="2331720"/>
          </a:xfrm>
          <a:prstGeom prst="roundRect">
            <a:avLst>
              <a:gd name="adj" fmla="val 6316"/>
            </a:avLst>
          </a:prstGeom>
          <a:solidFill>
            <a:srgbClr val="0D1B2F"/>
          </a:solidFill>
          <a:ln w="12700">
            <a:solidFill>
              <a:srgbClr val="2B3C59">
                <a:alpha val="9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75304" y="2057400"/>
            <a:ext cx="502920" cy="5029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03320" y="2212848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✓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108960" y="28346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Carga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práctica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154680" y="367588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A8B3C7"/>
                </a:solidFill>
              </a:rPr>
              <a:t>8 g / 14 g OK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212080" y="1828800"/>
            <a:ext cx="1737360" cy="2331720"/>
          </a:xfrm>
          <a:prstGeom prst="roundRect">
            <a:avLst>
              <a:gd name="adj" fmla="val 6316"/>
            </a:avLst>
          </a:prstGeom>
          <a:solidFill>
            <a:srgbClr val="0D1B2F"/>
          </a:solidFill>
          <a:ln w="12700">
            <a:solidFill>
              <a:srgbClr val="2B3C59">
                <a:alpha val="9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815584" y="205740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0" y="2212848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✓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349240" y="28346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20 g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394960" y="367588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A8B3C7"/>
                </a:solidFill>
              </a:rPr>
              <a:t>Fuera de rango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452360" y="1828800"/>
            <a:ext cx="1737360" cy="2331720"/>
          </a:xfrm>
          <a:prstGeom prst="roundRect">
            <a:avLst>
              <a:gd name="adj" fmla="val 6316"/>
            </a:avLst>
          </a:prstGeom>
          <a:solidFill>
            <a:srgbClr val="0D1B2F"/>
          </a:solidFill>
          <a:ln w="12700">
            <a:solidFill>
              <a:srgbClr val="2B3C59">
                <a:alpha val="9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055864" y="2057400"/>
            <a:ext cx="502920" cy="50292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83880" y="2212848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✓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589520" y="28346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HOLDING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635240" y="367588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A8B3C7"/>
                </a:solidFill>
              </a:rPr>
              <a:t>Pendiente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9692640" y="1828800"/>
            <a:ext cx="1737360" cy="2331720"/>
          </a:xfrm>
          <a:prstGeom prst="roundRect">
            <a:avLst>
              <a:gd name="adj" fmla="val 6316"/>
            </a:avLst>
          </a:prstGeom>
          <a:solidFill>
            <a:srgbClr val="0D1B2F"/>
          </a:solidFill>
          <a:ln w="12700">
            <a:solidFill>
              <a:srgbClr val="2B3C59">
                <a:alpha val="9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296144" y="2057400"/>
            <a:ext cx="502920" cy="502920"/>
          </a:xfrm>
          <a:prstGeom prst="ellipse">
            <a:avLst/>
          </a:prstGeom>
          <a:solidFill>
            <a:srgbClr val="2BD4D0"/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424160" y="2212848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✓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829800" y="28346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Producto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9875520" y="367588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A8B3C7"/>
                </a:solidFill>
              </a:rPr>
              <a:t>Próximo branch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960120" y="5184648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F8FAFC"/>
                </a:solidFill>
              </a:rPr>
              <a:t>Recomendación técnica: cerrar v4.1c como control PID de movimiento aceptado y pasar a la etapa de HOLDING / control de dispositivo.</a:t>
            </a:r>
            <a:endParaRPr lang="en-US" sz="1750" dirty="0"/>
          </a:p>
        </p:txBody>
      </p:sp>
      <p:sp>
        <p:nvSpPr>
          <p:cNvPr id="34" name="Text 32"/>
          <p:cNvSpPr/>
          <p:nvPr/>
        </p:nvSpPr>
        <p:spPr>
          <a:xfrm>
            <a:off x="1097280" y="5715000"/>
            <a:ext cx="9966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80" b="1" dirty="0">
                <a:solidFill>
                  <a:srgbClr val="20C46B"/>
                </a:solidFill>
              </a:rPr>
              <a:t>La simulación dio una base cercana; el banco real corrigió lo que el modelo simple no podía conocer.</a:t>
            </a:r>
            <a:endParaRPr lang="en-US" sz="1380" dirty="0"/>
          </a:p>
        </p:txBody>
      </p:sp>
      <p:sp>
        <p:nvSpPr>
          <p:cNvPr id="35" name="Shape 33"/>
          <p:cNvSpPr/>
          <p:nvPr/>
        </p:nvSpPr>
        <p:spPr>
          <a:xfrm>
            <a:off x="502920" y="6144768"/>
            <a:ext cx="5486400" cy="292608"/>
          </a:xfrm>
          <a:prstGeom prst="roundRect">
            <a:avLst>
              <a:gd name="adj" fmla="val 12500"/>
            </a:avLst>
          </a:prstGeom>
          <a:solidFill>
            <a:srgbClr val="0B3945"/>
          </a:solidFill>
          <a:ln w="6350">
            <a:solidFill>
              <a:srgbClr val="1C718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94944" y="6236208"/>
            <a:ext cx="5120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B7FAF8"/>
                </a:solidFill>
              </a:rPr>
              <a:t>Materias: Integración de competencias · Proyecto Final</a:t>
            </a:r>
            <a:endParaRPr lang="en-US" sz="7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Etapa 4 - Simulación, PID en hardware y validación con carga</dc:title>
  <dc:subject>esp32-motorized-door-controller</dc:subject>
  <dc:creator>OpenAI</dc:creator>
  <cp:lastModifiedBy>OpenAI</cp:lastModifiedBy>
  <cp:revision>1</cp:revision>
  <dcterms:created xsi:type="dcterms:W3CDTF">2026-08-09T10:59:48Z</dcterms:created>
  <dcterms:modified xsi:type="dcterms:W3CDTF">2026-08-09T10:59:48Z</dcterms:modified>
</cp:coreProperties>
</file>