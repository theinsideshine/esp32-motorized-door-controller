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esta clase como glosario técnico previo: sirve para que el alumno entienda target, error, cruce, stall, timeout, PWM fijo, approach y el puente conceptual hacia PID.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puente H no “sabe” de posición: solo entrega energía en un sentido u otro. La realimentación aparece cuando el sensor cierra el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línea como analogía angular simplificada. Aclarar que en el firmware real hay normalización 0–360 y camino corto, pero para la explicación inicial alcanza con target, posición y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prototipo: la tolerancia evita perseguir un cero irreal. El settle evita medir justo en el momento del frenado, cuando todavía hay inercia o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cruce no es un error de lectura: puede ser una estrategia de detección. El sobrepaso aparece por energía cinética, rozamiento y respuesta del mecanismo.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Stall: se comanda el motor pero no cambia la posición. Timeout: nunca queda accionando para siempre. Final de carrera: señal física independiente. Cancelar: una orden externa siempre puede interrumpir.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resume v3.1: PWM 65 falla, 70 es mínimo sin carga, 75/80 llegan pero se pasan. La carga no empeora todo linealmente: cambia la dinámica.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approach como puente: no es PID, no “piensa” con error/velocidad de forma formal. Se diseñan fases para vencer arranque y llegar con menos energía.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primero se puede probar P o PD. La I no siempre conviene; puede sumar sobrepaso si no se controla bien. El PID no reemplaza la validación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importante para no sobreprometer PID. El controlador es una herramienta; no reemplaza un buen mecanismo ni sensores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señalando que el recurso entrenado no “adivina”: observa, reconoce patrones, hace hipótesis razonables y decide cuál es la próxima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29E6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1230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1A9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5895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 base de control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3898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E6D1"/>
                </a:solidFill>
              </a:rPr>
              <a:t>para la puerta motorizada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C2D7"/>
                </a:solidFill>
              </a:rPr>
              <a:t>Clase de apoyo para leer la Etapa 2 y entender por qué aparece la necesidad de control realimentado.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34440" y="4114800"/>
            <a:ext cx="1508760" cy="0"/>
          </a:xfrm>
          <a:prstGeom prst="line">
            <a:avLst/>
          </a:prstGeom>
          <a:noFill/>
          <a:ln w="2794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86200" y="4114800"/>
            <a:ext cx="1508760" cy="0"/>
          </a:xfrm>
          <a:prstGeom prst="line">
            <a:avLst/>
          </a:prstGeom>
          <a:noFill/>
          <a:ln w="2794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37960" y="4114800"/>
            <a:ext cx="1508760" cy="0"/>
          </a:xfrm>
          <a:prstGeom prst="line">
            <a:avLst/>
          </a:prstGeom>
          <a:noFill/>
          <a:ln w="2794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89720" y="4114800"/>
            <a:ext cx="1188720" cy="0"/>
          </a:xfrm>
          <a:prstGeom prst="line">
            <a:avLst/>
          </a:prstGeom>
          <a:noFill/>
          <a:ln w="2794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5488" y="3429000"/>
            <a:ext cx="1325880" cy="132588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PLANTA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FÍSICA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3429000"/>
            <a:ext cx="1325880" cy="1325880"/>
          </a:xfrm>
          <a:prstGeom prst="ellipse">
            <a:avLst/>
          </a:prstGeom>
          <a:solidFill>
            <a:srgbClr val="2F80E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PWM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76672" y="3429000"/>
            <a:ext cx="1325880" cy="1325880"/>
          </a:xfrm>
          <a:prstGeom prst="ellipse">
            <a:avLst/>
          </a:prstGeom>
          <a:solidFill>
            <a:srgbClr val="7E5BEF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SENSOR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73568" y="3429000"/>
            <a:ext cx="1325880" cy="132588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31552" y="3429000"/>
            <a:ext cx="1325880" cy="1325880"/>
          </a:xfrm>
          <a:prstGeom prst="ellipse">
            <a:avLst/>
          </a:prstGeom>
          <a:solidFill>
            <a:srgbClr val="FF4D5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" y="56235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Objetivo didáctico: poner nombre a los fenómenos que ya aparecieron en las pruebas.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Automatización · Programación Avanzada · Proyecto Final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Actuar no es controlar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El PWM mueve el motor, pero el sistema físico decide cómo responde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788920"/>
            <a:ext cx="128016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2788920"/>
            <a:ext cx="128016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35240" y="2788920"/>
            <a:ext cx="128016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464040" y="3840480"/>
            <a:ext cx="-2468880" cy="1325880"/>
          </a:xfrm>
          <a:prstGeom prst="line">
            <a:avLst/>
          </a:prstGeom>
          <a:noFill/>
          <a:ln w="21590">
            <a:solidFill>
              <a:srgbClr val="F6A2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5166360"/>
            <a:ext cx="-2514600" cy="-1280160"/>
          </a:xfrm>
          <a:prstGeom prst="line">
            <a:avLst/>
          </a:prstGeom>
          <a:noFill/>
          <a:ln w="21590">
            <a:solidFill>
              <a:srgbClr val="F6A21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41248" y="2130552"/>
            <a:ext cx="1325880" cy="1325880"/>
          </a:xfrm>
          <a:prstGeom prst="ellipse">
            <a:avLst/>
          </a:prstGeom>
          <a:solidFill>
            <a:srgbClr val="2F80E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ESP32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firmware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130552"/>
            <a:ext cx="1325880" cy="1325880"/>
          </a:xfrm>
          <a:prstGeom prst="ellipse">
            <a:avLst/>
          </a:prstGeom>
          <a:solidFill>
            <a:srgbClr val="7E5BEF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DRV8833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puente 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87568" y="2130552"/>
            <a:ext cx="1325880" cy="132588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130552"/>
            <a:ext cx="1325880" cy="132588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Puerta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/ carga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4645152"/>
            <a:ext cx="1325880" cy="1325880"/>
          </a:xfrm>
          <a:prstGeom prst="ellipse">
            <a:avLst/>
          </a:prstGeom>
          <a:solidFill>
            <a:srgbClr val="28E6D1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AS5048A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4443984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0B1729"/>
          </a:solidFill>
          <a:ln w="15240">
            <a:solidFill>
              <a:srgbClr val="1B385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realimentación, el firmware ordena una potencia y espera que la mecánica acompañe.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18120" y="461772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0B1729"/>
          </a:solidFill>
          <a:ln w="15240">
            <a:solidFill>
              <a:srgbClr val="1B385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sensor, el sistema puede comparar lo que pidió contra lo que realmente pasó.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Electrónica de Potencia · Sistemas Embebidos · Sistemas de Control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Posición, target y error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Tres palabras básicas para hablar de control de posición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246120"/>
            <a:ext cx="7955280" cy="0"/>
          </a:xfrm>
          <a:prstGeom prst="line">
            <a:avLst/>
          </a:prstGeom>
          <a:noFill/>
          <a:ln w="38100">
            <a:solidFill>
              <a:srgbClr val="5F71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423160"/>
            <a:ext cx="0" cy="1691640"/>
          </a:xfrm>
          <a:prstGeom prst="line">
            <a:avLst/>
          </a:prstGeom>
          <a:noFill/>
          <a:ln w="38100">
            <a:solidFill>
              <a:srgbClr val="27C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743200"/>
            <a:ext cx="0" cy="1097280"/>
          </a:xfrm>
          <a:prstGeom prst="line">
            <a:avLst/>
          </a:prstGeom>
          <a:noFill/>
          <a:ln w="38100">
            <a:solidFill>
              <a:srgbClr val="F6A2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4096512"/>
            <a:ext cx="2148840" cy="0"/>
          </a:xfrm>
          <a:prstGeom prst="line">
            <a:avLst/>
          </a:prstGeom>
          <a:noFill/>
          <a:ln w="3048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06040" y="2148840"/>
            <a:ext cx="1051560" cy="105156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actual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57800" y="1938528"/>
            <a:ext cx="1051560" cy="105156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target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4315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E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= target − posición actual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69164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0F2238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para explicar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posición actual viene del sensor.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target es la posición deseada.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error indica cuánto falta.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signo del error también indica de qué lado estamos.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Sensores e Instrumentación · Programación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Tolerancia y llegada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En un mecanismo real no se exige error matemáticamente cero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971800"/>
            <a:ext cx="8001000" cy="0"/>
          </a:xfrm>
          <a:prstGeom prst="line">
            <a:avLst/>
          </a:prstGeom>
          <a:noFill/>
          <a:ln w="38100">
            <a:solidFill>
              <a:srgbClr val="5F71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3480" y="2240280"/>
            <a:ext cx="1097280" cy="1417320"/>
          </a:xfrm>
          <a:prstGeom prst="rect">
            <a:avLst/>
          </a:prstGeom>
          <a:solidFill>
            <a:srgbClr val="27C96B">
              <a:alpha val="25000"/>
            </a:srgbClr>
          </a:solidFill>
          <a:ln w="17780">
            <a:solidFill>
              <a:srgbClr val="27C96B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0" y="2057400"/>
            <a:ext cx="0" cy="1783080"/>
          </a:xfrm>
          <a:prstGeom prst="line">
            <a:avLst/>
          </a:prstGeom>
          <a:noFill/>
          <a:ln w="38100">
            <a:solidFill>
              <a:srgbClr val="27C9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3977640"/>
            <a:ext cx="1417320" cy="141732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zona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aceptable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01768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C96B"/>
                </a:solidFill>
              </a:rPr>
              <a:t>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224528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0B1729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Tolerancia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donde el firmware acepta que la posición fue alcanzada.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09560" y="2084832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F2238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 / estabilización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frenar, se espera un instante para leer la posición final con menos movimiento residual.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4160520"/>
            <a:ext cx="1280160" cy="-914400"/>
          </a:xfrm>
          <a:prstGeom prst="line">
            <a:avLst/>
          </a:prstGeom>
          <a:noFill/>
          <a:ln w="2159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Mecánica · Sistemas Embebidos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Cruce del objetivo y sobrepaso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A veces conviene detener aunque no se haya caído dentro de la tolerancia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983480"/>
            <a:ext cx="7955280" cy="0"/>
          </a:xfrm>
          <a:prstGeom prst="line">
            <a:avLst/>
          </a:prstGeom>
          <a:noFill/>
          <a:ln w="19050">
            <a:solidFill>
              <a:srgbClr val="5164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0" cy="3291840"/>
          </a:xfrm>
          <a:prstGeom prst="line">
            <a:avLst/>
          </a:prstGeom>
          <a:noFill/>
          <a:ln w="19050">
            <a:solidFill>
              <a:srgbClr val="5164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61488"/>
            <a:ext cx="7955280" cy="0"/>
          </a:xfrm>
          <a:prstGeom prst="line">
            <a:avLst/>
          </a:prstGeom>
          <a:noFill/>
          <a:ln w="25400">
            <a:solidFill>
              <a:srgbClr val="27C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4663440"/>
            <a:ext cx="1463040" cy="-1234440"/>
          </a:xfrm>
          <a:prstGeom prst="line">
            <a:avLst/>
          </a:prstGeom>
          <a:noFill/>
          <a:ln w="38100">
            <a:solidFill>
              <a:srgbClr val="28E6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3429000"/>
            <a:ext cx="1463040" cy="-868680"/>
          </a:xfrm>
          <a:prstGeom prst="line">
            <a:avLst/>
          </a:prstGeom>
          <a:noFill/>
          <a:ln w="38100">
            <a:solidFill>
              <a:srgbClr val="28E6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2560320"/>
            <a:ext cx="1417320" cy="-137160"/>
          </a:xfrm>
          <a:prstGeom prst="line">
            <a:avLst/>
          </a:prstGeom>
          <a:noFill/>
          <a:ln w="38100">
            <a:solidFill>
              <a:srgbClr val="F6A2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2423160"/>
            <a:ext cx="1280160" cy="91440"/>
          </a:xfrm>
          <a:prstGeom prst="line">
            <a:avLst/>
          </a:prstGeom>
          <a:noFill/>
          <a:ln w="38100">
            <a:solidFill>
              <a:srgbClr val="F6A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167128"/>
            <a:ext cx="676656" cy="676656"/>
          </a:xfrm>
          <a:prstGeom prst="ellipse">
            <a:avLst/>
          </a:prstGeom>
          <a:solidFill>
            <a:srgbClr val="FF4D5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cruce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18120" y="25877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C96B"/>
                </a:solidFill>
              </a:rPr>
              <a:t>target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49640" y="1609344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0F2238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Sobrepaso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puerta sigue moviéndose por inercia después de que el firmware decidió cortar.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Cruce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trayectoria pasó al otro lado del objetivo: es una señal útil para detener.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Mecánica · Sistemas de Control · Automatización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Protecciones: stall, timeout y final de carrera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Llegar al target no es la única condición que debe vigilar el firmware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2331720"/>
            <a:ext cx="1417320" cy="1417320"/>
          </a:xfrm>
          <a:prstGeom prst="ellipse">
            <a:avLst/>
          </a:prstGeom>
          <a:solidFill>
            <a:srgbClr val="7E5BEF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121408"/>
            <a:ext cx="1417320" cy="1417320"/>
          </a:xfrm>
          <a:prstGeom prst="ellipse">
            <a:avLst/>
          </a:prstGeom>
          <a:solidFill>
            <a:srgbClr val="FF4D5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4224528"/>
            <a:ext cx="1417320" cy="141732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TIMEOUT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35240" y="4224528"/>
            <a:ext cx="1417320" cy="141732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CARRERA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46920" y="2121408"/>
            <a:ext cx="1417320" cy="1417320"/>
          </a:xfrm>
          <a:prstGeom prst="ellipse">
            <a:avLst/>
          </a:prstGeom>
          <a:solidFill>
            <a:srgbClr val="2F80E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CANCELAR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00200" y="1325880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F"/>
                </a:solidFill>
              </a:rPr>
              <a:t>Mientras se mueve, el firmware debe mirar varias señales a la vez.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5870448"/>
            <a:ext cx="10927080" cy="310896"/>
          </a:xfrm>
          <a:prstGeom prst="roundRect">
            <a:avLst>
              <a:gd name="adj" fmla="val 23529"/>
            </a:avLst>
          </a:prstGeom>
          <a:solidFill>
            <a:srgbClr val="0B1729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3C2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Stall: sin movimiento efectivo · Timeout: tiempo máximo · Final de carrera: límite físico · Cancelación: orden externa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Embebidos · Automatización · Seguridad Funcional básica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PWM fijo: una sola perilla, muchos compromisos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El primer control funciona, pero queda atado a la física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PWM 65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2039112"/>
            <a:ext cx="1097280" cy="219456"/>
          </a:xfrm>
          <a:prstGeom prst="rect">
            <a:avLst/>
          </a:prstGeom>
          <a:solidFill>
            <a:srgbClr val="FF4D5D"/>
          </a:solidFill>
          <a:ln w="12700">
            <a:solidFill>
              <a:srgbClr val="FF4D5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93592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stalls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724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PWM 70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752344"/>
            <a:ext cx="2286000" cy="219456"/>
          </a:xfrm>
          <a:prstGeom prst="rect">
            <a:avLst/>
          </a:prstGeom>
          <a:solidFill>
            <a:srgbClr val="27C96B"/>
          </a:solidFill>
          <a:ln w="12700">
            <a:solidFill>
              <a:srgbClr val="27C9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2706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mínimo útil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4381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PWM 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3465576"/>
            <a:ext cx="2743200" cy="219456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3419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más sobrepaso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4151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PWM 80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4178808"/>
            <a:ext cx="2971800" cy="219456"/>
          </a:xfrm>
          <a:prstGeom prst="rect">
            <a:avLst/>
          </a:prstGeom>
          <a:solidFill>
            <a:srgbClr val="FF4D5D"/>
          </a:solidFill>
          <a:ln w="12700">
            <a:solidFill>
              <a:srgbClr val="FF4D5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demasiada energía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17830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0F2238"/>
          </a:solidFill>
          <a:ln w="15240">
            <a:solidFill>
              <a:srgbClr val="F6A21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técnica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lazo abierto no existe un único PWM que garantice arranque, precisión y robustez en todas las condiciones.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26680" y="397764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0B1729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carga puede ayudar a frenar el sobrepaso y, al mismo tiempo, hacer más difícil el arranque.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Electrónica de Potencia · Ensayo experimental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Approach no-PID: mejorar sin formalizar todavía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Una estrategia empírica útil antes de pasar a control cerrado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983480"/>
            <a:ext cx="7498080" cy="0"/>
          </a:xfrm>
          <a:prstGeom prst="line">
            <a:avLst/>
          </a:prstGeom>
          <a:noFill/>
          <a:ln w="19050">
            <a:solidFill>
              <a:srgbClr val="5164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28800"/>
            <a:ext cx="0" cy="3154680"/>
          </a:xfrm>
          <a:prstGeom prst="line">
            <a:avLst/>
          </a:prstGeom>
          <a:noFill/>
          <a:ln w="19050">
            <a:solidFill>
              <a:srgbClr val="5164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148840"/>
            <a:ext cx="1828800" cy="0"/>
          </a:xfrm>
          <a:prstGeom prst="line">
            <a:avLst/>
          </a:prstGeom>
          <a:noFill/>
          <a:ln w="50800">
            <a:solidFill>
              <a:srgbClr val="27C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2148840"/>
            <a:ext cx="0" cy="777240"/>
          </a:xfrm>
          <a:prstGeom prst="line">
            <a:avLst/>
          </a:prstGeom>
          <a:noFill/>
          <a:ln w="50800">
            <a:solidFill>
              <a:srgbClr val="27C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2926080"/>
            <a:ext cx="2468880" cy="0"/>
          </a:xfrm>
          <a:prstGeom prst="line">
            <a:avLst/>
          </a:prstGeom>
          <a:noFill/>
          <a:ln w="50800">
            <a:solidFill>
              <a:srgbClr val="2F8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2926080"/>
            <a:ext cx="0" cy="960120"/>
          </a:xfrm>
          <a:prstGeom prst="line">
            <a:avLst/>
          </a:prstGeom>
          <a:noFill/>
          <a:ln w="50800">
            <a:solidFill>
              <a:srgbClr val="2F80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3886200"/>
            <a:ext cx="1920240" cy="0"/>
          </a:xfrm>
          <a:prstGeom prst="line">
            <a:avLst/>
          </a:prstGeom>
          <a:noFill/>
          <a:ln w="50800">
            <a:solidFill>
              <a:srgbClr val="F6A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508760"/>
            <a:ext cx="1737360" cy="292608"/>
          </a:xfrm>
          <a:prstGeom prst="roundRect">
            <a:avLst/>
          </a:prstGeom>
          <a:solidFill>
            <a:srgbClr val="27C96B"/>
          </a:solidFill>
          <a:ln>
            <a:solidFill>
              <a:srgbClr val="27C96B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boost de arranque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3154680"/>
            <a:ext cx="1143000" cy="292608"/>
          </a:xfrm>
          <a:prstGeom prst="round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recorrido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4133088"/>
            <a:ext cx="1143000" cy="292608"/>
          </a:xfrm>
          <a:prstGeom prst="roundRect">
            <a:avLst/>
          </a:prstGeom>
          <a:solidFill>
            <a:srgbClr val="F6A21A"/>
          </a:solidFill>
          <a:ln>
            <a:solidFill>
              <a:srgbClr val="F6A21A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zona lenta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96528" y="1600200"/>
            <a:ext cx="2423160" cy="3566160"/>
          </a:xfrm>
          <a:prstGeom prst="roundRect">
            <a:avLst>
              <a:gd name="adj" fmla="val 3019"/>
            </a:avLst>
          </a:prstGeom>
          <a:solidFill>
            <a:srgbClr val="0F2238"/>
          </a:solidFill>
          <a:ln w="15240">
            <a:solidFill>
              <a:srgbClr val="27476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Aparecen más parámetros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pwm_start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start_boost_ms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pwm_move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slow_zone_deg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pwm_slow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Sirven, pero dependen de la mecánica.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Automatización · Proyecto Final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Por qué aparece la necesidad de PD/PID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El ajuste empírico crece; el control cerrado ordena el problema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3703320"/>
            <a:ext cx="123444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60520" y="3703320"/>
            <a:ext cx="123444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92240" y="3703320"/>
            <a:ext cx="1234440" cy="0"/>
          </a:xfrm>
          <a:prstGeom prst="line">
            <a:avLst/>
          </a:prstGeom>
          <a:noFill/>
          <a:ln w="25400">
            <a:solidFill>
              <a:srgbClr val="B3C2D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49808" y="2999232"/>
            <a:ext cx="1280160" cy="128016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2999232"/>
            <a:ext cx="1280160" cy="128016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30368" y="2999232"/>
            <a:ext cx="1280160" cy="1280160"/>
          </a:xfrm>
          <a:prstGeom prst="ellipse">
            <a:avLst/>
          </a:prstGeom>
          <a:solidFill>
            <a:srgbClr val="2F80E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479792" y="2999232"/>
            <a:ext cx="1280160" cy="1280160"/>
          </a:xfrm>
          <a:prstGeom prst="ellipse">
            <a:avLst/>
          </a:prstGeom>
          <a:solidFill>
            <a:srgbClr val="7E5BEF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468880" y="1627632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0B1729"/>
          </a:solidFill>
          <a:ln w="15240">
            <a:solidFill>
              <a:srgbClr val="27C96B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empuja según cuánto falta.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627632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0B1729"/>
          </a:solidFill>
          <a:ln w="15240">
            <a:solidFill>
              <a:srgbClr val="2F80ED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ayuda a frenar usando velocidad.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1627632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0B1729"/>
          </a:solidFill>
          <a:ln w="15240">
            <a:solidFill>
              <a:srgbClr val="7E5B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corrige errores persistentes.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240280" cy="2103120"/>
          </a:xfrm>
          <a:prstGeom prst="roundRect">
            <a:avLst>
              <a:gd name="adj" fmla="val 3478"/>
            </a:avLst>
          </a:prstGeom>
          <a:solidFill>
            <a:srgbClr val="0F2238"/>
          </a:solidFill>
          <a:ln w="15240">
            <a:solidFill>
              <a:srgbClr val="28E6D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“poner PID porque sí”.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pasar de perillas físicas a una ley de control basada en error, movimiento y evidencia.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Análisis de datos · Proyecto Final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Qué puede y qué no puede resolver un PID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El control mejora el comportamiento, pero no arregla por arte de magia la mecánica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00600" cy="3383280"/>
          </a:xfrm>
          <a:prstGeom prst="roundRect">
            <a:avLst>
              <a:gd name="adj" fmla="val 2162"/>
            </a:avLst>
          </a:prstGeom>
          <a:solidFill>
            <a:srgbClr val="0B221A"/>
          </a:solidFill>
          <a:ln w="15240">
            <a:solidFill>
              <a:srgbClr val="27C96B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ayudar 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repetir posiciones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reducir sobrepaso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ajustar potencia al error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compensar variaciones moderadas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llegar con menos golpes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analizar la planta con datos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1691640"/>
            <a:ext cx="4800600" cy="3383280"/>
          </a:xfrm>
          <a:prstGeom prst="roundRect">
            <a:avLst>
              <a:gd name="adj" fmla="val 2162"/>
            </a:avLst>
          </a:prstGeom>
          <a:solidFill>
            <a:srgbClr val="24131A"/>
          </a:solidFill>
          <a:ln w="15240">
            <a:solidFill>
              <a:srgbClr val="FF4D5D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debe usarse para tapar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mala alineación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juego mecánico excesivo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motor insuficiente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alimentación inestable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falta de sensores de seguridad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diseño mecánico débil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548640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E6D1"/>
                </a:solidFill>
              </a:rPr>
              <a:t>Regla práctica: primero validar la planta física; después sintonizar el controlador.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Sistemas de Control · Mecánica · Electrónica de Potencia · Proyecto Final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Lectura de ingeniería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2D7"/>
                </a:solidFill>
              </a:rPr>
              <a:t>La medición entrega datos; el criterio técnico decide qué significan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9050">
            <a:solidFill>
              <a:srgbClr val="28E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3246120"/>
            <a:ext cx="1188720" cy="0"/>
          </a:xfrm>
          <a:prstGeom prst="line">
            <a:avLst/>
          </a:prstGeom>
          <a:noFill/>
          <a:ln w="2540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17720" y="3246120"/>
            <a:ext cx="1188720" cy="0"/>
          </a:xfrm>
          <a:prstGeom prst="line">
            <a:avLst/>
          </a:prstGeom>
          <a:noFill/>
          <a:ln w="2540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8040" y="3246120"/>
            <a:ext cx="1188720" cy="0"/>
          </a:xfrm>
          <a:prstGeom prst="line">
            <a:avLst/>
          </a:prstGeom>
          <a:noFill/>
          <a:ln w="25400">
            <a:solidFill>
              <a:srgbClr val="28E6D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2587752"/>
            <a:ext cx="1325880" cy="1325880"/>
          </a:xfrm>
          <a:prstGeom prst="ellipse">
            <a:avLst/>
          </a:prstGeom>
          <a:solidFill>
            <a:srgbClr val="27C96B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587752"/>
            <a:ext cx="1325880" cy="1325880"/>
          </a:xfrm>
          <a:prstGeom prst="ellipse">
            <a:avLst/>
          </a:prstGeom>
          <a:solidFill>
            <a:srgbClr val="2F80ED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hipótesis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587752"/>
            <a:ext cx="1325880" cy="1325880"/>
          </a:xfrm>
          <a:prstGeom prst="ellipse">
            <a:avLst/>
          </a:prstGeom>
          <a:solidFill>
            <a:srgbClr val="F6A21A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2587752"/>
            <a:ext cx="1325880" cy="1325880"/>
          </a:xfrm>
          <a:prstGeom prst="ellipse">
            <a:avLst/>
          </a:prstGeom>
          <a:solidFill>
            <a:srgbClr val="7E5BEF"/>
          </a:solidFill>
          <a:ln w="17780">
            <a:solidFill>
              <a:srgbClr val="162B4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decidir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01952" y="4645152"/>
            <a:ext cx="8183880" cy="868680"/>
          </a:xfrm>
          <a:prstGeom prst="roundRect">
            <a:avLst>
              <a:gd name="adj" fmla="val 8421"/>
            </a:avLst>
          </a:prstGeom>
          <a:solidFill>
            <a:srgbClr val="0F2238"/>
          </a:solidFill>
          <a:ln w="15240">
            <a:solidFill>
              <a:srgbClr val="28E6D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no reemplaza la medición: ayuda a convertirla en conocimiento de ingeniería.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40280" y="57058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C2D7"/>
                </a:solidFill>
              </a:rPr>
              <a:t>Este es el puente entre la Etapa 2 y la identificación de planta.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" y="6291072"/>
            <a:ext cx="8046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8E6D1"/>
                </a:solidFill>
              </a:rPr>
              <a:t>Materias: Proyecto Final · Metodología de I+D · Sistemas de Control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1A9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</a:rPr>
              <a:t>2b. Ángulos circulares y wrap 0/360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33271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ACAE0"/>
                </a:solidFill>
              </a:rPr>
              <a:t>El error angular debe calcularse por el camino corto, no por una resta directa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024128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663440" cy="3886200"/>
          </a:xfrm>
          <a:prstGeom prst="roundRect">
            <a:avLst/>
          </a:prstGeom>
          <a:solidFill>
            <a:srgbClr val="0E1A2F"/>
          </a:solidFill>
          <a:ln w="15240">
            <a:solidFill>
              <a:srgbClr val="304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0" y="1783080"/>
            <a:ext cx="5029200" cy="3886200"/>
          </a:xfrm>
          <a:prstGeom prst="roundRect">
            <a:avLst/>
          </a:prstGeom>
          <a:solidFill>
            <a:srgbClr val="0E1A2F"/>
          </a:solidFill>
          <a:ln w="15240">
            <a:solidFill>
              <a:srgbClr val="304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645920" cy="4114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50C1E"/>
                </a:solidFill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F5F7FA"/>
                </a:solidFill>
              </a:rPr>
              <a:t>La posición angular no es una recta infinita: después de 359° vuelve a 0°.</a:t>
            </a:r>
          </a:p>
          <a:p>
            <a:pPr/>
            <a:r>
              <a:rPr sz="1800">
                <a:solidFill>
                  <a:srgbClr val="F5F7FA"/>
                </a:solidFill>
              </a:rPr>
              <a:t>• 0° y 360° representan la misma posición física.</a:t>
            </a:r>
          </a:p>
          <a:p>
            <a:pPr/>
            <a:r>
              <a:rPr sz="1800">
                <a:solidFill>
                  <a:srgbClr val="F5F7FA"/>
                </a:solidFill>
              </a:rPr>
              <a:t>• El firmware debe calcular el error considerando el camino corto.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4069080" cy="411480"/>
          </a:xfrm>
          <a:prstGeom prst="round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C1E"/>
                </a:solidFill>
              </a:rPr>
              <a:t>No alcanza con target - actual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993392"/>
            <a:ext cx="4206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7FA"/>
                </a:solidFill>
              </a:rPr>
              <a:t>actual 358°  →  target 2°</a:t>
            </a:r>
          </a:p>
        </p:txBody>
      </p:sp>
      <p:sp>
        <p:nvSpPr>
          <p:cNvPr id="12" name="Oval 11"/>
          <p:cNvSpPr/>
          <p:nvPr/>
        </p:nvSpPr>
        <p:spPr>
          <a:xfrm>
            <a:off x="6793991" y="2633472"/>
            <a:ext cx="1865376" cy="1865376"/>
          </a:xfrm>
          <a:prstGeom prst="ellipse">
            <a:avLst/>
          </a:prstGeom>
          <a:solidFill>
            <a:srgbClr val="050C1E"/>
          </a:solidFill>
          <a:ln w="381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79" y="232257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</a:rPr>
              <a:t>0°/360°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5" y="3456432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ACAE0"/>
                </a:solidFill>
              </a:rPr>
              <a:t>90°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459028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ACAE0"/>
                </a:solidFill>
              </a:rPr>
              <a:t>180°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3" y="3456432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ACAE0"/>
                </a:solidFill>
              </a:rPr>
              <a:t>270°</a:t>
            </a:r>
          </a:p>
        </p:txBody>
      </p:sp>
      <p:sp>
        <p:nvSpPr>
          <p:cNvPr id="17" name="Oval 16"/>
          <p:cNvSpPr/>
          <p:nvPr/>
        </p:nvSpPr>
        <p:spPr>
          <a:xfrm>
            <a:off x="7306055" y="2679192"/>
            <a:ext cx="201168" cy="201168"/>
          </a:xfrm>
          <a:prstGeom prst="ellipse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19" y="2679192"/>
            <a:ext cx="201168" cy="201168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98280" y="2926080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8529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0A5FA"/>
                </a:solidFill>
              </a:rPr>
              <a:t>actual = 358°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331012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323697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DE80"/>
                </a:solidFill>
              </a:rPr>
              <a:t>target = 2°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800600"/>
            <a:ext cx="1965960" cy="621792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resta directa:
2 - 358 = -356°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4800600"/>
            <a:ext cx="2057400" cy="62179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camino corto:
+4°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84A0"/>
                </a:solidFill>
              </a:rPr>
              <a:t>esp32-motorized-door-controller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esp32-motorized-door-controller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base de control para la puerta motorizada</dc:title>
  <dc:subject>Conceptos base de control para puerta motorizada</dc:subject>
  <dc:creator>OpenAI</dc:creator>
  <cp:lastModifiedBy>OpenAI</cp:lastModifiedBy>
  <cp:revision>1</cp:revision>
  <dcterms:created xsi:type="dcterms:W3CDTF">2026-08-08T10:57:04Z</dcterms:created>
  <dcterms:modified xsi:type="dcterms:W3CDTF">2026-08-08T10:57:04Z</dcterms:modified>
</cp:coreProperties>
</file>