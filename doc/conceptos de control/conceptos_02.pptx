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73152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Conceptos de control II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9D9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planta física al PID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21792" y="190195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8CC"/>
                </a:solidFill>
              </a:rPr>
              <a:t>Clase de apoyo antes de la Etapa 3: identificar la planta, simular y recién después tocar el firmware.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49808" cy="749808"/>
          </a:xfrm>
          <a:prstGeom prst="ellipse">
            <a:avLst/>
          </a:prstGeom>
          <a:solidFill>
            <a:srgbClr val="22C55E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64208" y="4032504"/>
            <a:ext cx="107899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743200" y="3657600"/>
            <a:ext cx="749808" cy="749808"/>
          </a:xfrm>
          <a:prstGeom prst="ellipse">
            <a:avLst/>
          </a:prstGeom>
          <a:solidFill>
            <a:srgbClr val="3B82F6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93008" y="4032504"/>
            <a:ext cx="107899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572000" y="3657600"/>
            <a:ext cx="749808" cy="749808"/>
          </a:xfrm>
          <a:prstGeom prst="ellipse">
            <a:avLst/>
          </a:prstGeom>
          <a:solidFill>
            <a:srgbClr val="29D9D0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21808" y="4032504"/>
            <a:ext cx="107899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0" y="3657600"/>
            <a:ext cx="749808" cy="749808"/>
          </a:xfrm>
          <a:prstGeom prst="ellipse">
            <a:avLst/>
          </a:prstGeom>
          <a:solidFill>
            <a:srgbClr val="F59E0B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50608" y="4032504"/>
            <a:ext cx="107899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229600" y="3657600"/>
            <a:ext cx="749808" cy="749808"/>
          </a:xfrm>
          <a:prstGeom prst="ellipse">
            <a:avLst/>
          </a:prstGeom>
          <a:solidFill>
            <a:srgbClr val="8B5CF6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PD/PID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79408" y="4032504"/>
            <a:ext cx="1078992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058400" y="3657600"/>
            <a:ext cx="749808" cy="749808"/>
          </a:xfrm>
          <a:prstGeom prst="ellipse">
            <a:avLst/>
          </a:prstGeom>
          <a:solidFill>
            <a:srgbClr val="F43F5E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892040"/>
            <a:ext cx="10652760" cy="786384"/>
          </a:xfrm>
          <a:prstGeom prst="roundRect">
            <a:avLst>
              <a:gd name="adj" fmla="val 9302"/>
            </a:avLst>
          </a:prstGeom>
          <a:solidFill>
            <a:srgbClr val="101E38"/>
          </a:solidFill>
          <a:ln w="12700">
            <a:solidFill>
              <a:srgbClr val="29D9D0"/>
            </a:solidFill>
          </a:ln>
        </p:spPr>
        <p:txBody>
          <a:bodyPr wrap="square" lIns="219456" tIns="292608" rIns="292608" bIns="16459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central no es “poner PID” por costumbre. Primero se entiende cómo responde el sistema físico.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conceptual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puente entre la prueba de movimiento y el control formal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594360" cy="594360"/>
          </a:xfrm>
          <a:prstGeom prst="ellipse">
            <a:avLst/>
          </a:prstGeom>
          <a:solidFill>
            <a:srgbClr val="22C55E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Sistema real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880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8CC"/>
                </a:solidFill>
              </a:rPr>
              <a:t>motor + puerta + sensor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07592" y="2304288"/>
            <a:ext cx="16367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944368" y="2011680"/>
            <a:ext cx="594360" cy="594360"/>
          </a:xfrm>
          <a:prstGeom prst="ellipse">
            <a:avLst/>
          </a:prstGeom>
          <a:solidFill>
            <a:srgbClr val="3B82F6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24328" y="2788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Ensayo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441448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8CC"/>
                </a:solidFill>
              </a:rPr>
              <a:t>PWM fijo y medición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66160" y="2304288"/>
            <a:ext cx="16367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202936" y="2011680"/>
            <a:ext cx="594360" cy="594360"/>
          </a:xfrm>
          <a:prstGeom prst="ellipse">
            <a:avLst/>
          </a:prstGeom>
          <a:solidFill>
            <a:srgbClr val="29D9D0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82896" y="2788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Modelo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0016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8CC"/>
                </a:solidFill>
              </a:rPr>
              <a:t>aproximación matemática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24728" y="2304288"/>
            <a:ext cx="16367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461504" y="2011680"/>
            <a:ext cx="594360" cy="594360"/>
          </a:xfrm>
          <a:prstGeom prst="ellipse">
            <a:avLst/>
          </a:prstGeom>
          <a:solidFill>
            <a:srgbClr val="F59E0B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41464" y="2788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Simulación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58584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8CC"/>
                </a:solidFill>
              </a:rPr>
              <a:t>probar sin romper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83296" y="2304288"/>
            <a:ext cx="163677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720072" y="2011680"/>
            <a:ext cx="594360" cy="594360"/>
          </a:xfrm>
          <a:prstGeom prst="ellipse">
            <a:avLst/>
          </a:prstGeom>
          <a:solidFill>
            <a:srgbClr val="8B5CF6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00032" y="27889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Control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17152" y="31089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8CC"/>
                </a:solidFill>
              </a:rPr>
              <a:t>PD/PID conservador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4572000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256032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estudiante debe poder explicar por qué cada paso existe: no se salta de “mueve” a “PID”; se construye evidencia.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una planta?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objeto físico que responde a nuestras órdenes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txBody>
          <a:bodyPr wrap="square" lIns="2011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75688" y="3099816"/>
            <a:ext cx="77724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52928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>
          <a:bodyPr wrap="square" lIns="2011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DRV8833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61688" y="3099816"/>
            <a:ext cx="77724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138928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2011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+ reductora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47688" y="3099816"/>
            <a:ext cx="77724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24928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wrap="square" lIns="2011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Mecanismo / puerta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33688" y="3099816"/>
            <a:ext cx="77724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710928" y="274320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29D9D0"/>
          </a:solidFill>
          <a:ln w="12700">
            <a:solidFill>
              <a:srgbClr val="29D9D0"/>
            </a:solidFill>
          </a:ln>
        </p:spPr>
        <p:txBody>
          <a:bodyPr wrap="square" lIns="2011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AS5048A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1508760"/>
            <a:ext cx="10652760" cy="786384"/>
          </a:xfrm>
          <a:prstGeom prst="roundRect">
            <a:avLst>
              <a:gd name="adj" fmla="val 9302"/>
            </a:avLst>
          </a:prstGeom>
          <a:solidFill>
            <a:srgbClr val="101E38"/>
          </a:solidFill>
          <a:ln w="12700">
            <a:solidFill>
              <a:srgbClr val="314568"/>
            </a:solidFill>
          </a:ln>
        </p:spPr>
        <p:txBody>
          <a:bodyPr wrap="square" lIns="2011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este proyecto, la planta no es solo el motor. Incluye reductora, acople, puerta/aguja, rozamiento, juego mecánico, carga y alimentación.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874520" y="4187952"/>
            <a:ext cx="8412480" cy="347472"/>
          </a:xfrm>
          <a:prstGeom prst="roundRect">
            <a:avLst>
              <a:gd name="adj" fmla="val 26316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427939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1600"/>
                </a:solidFill>
              </a:rPr>
              <a:t>perturbaciones: fricción · carga · backlash · tensión · desgaste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4526280"/>
            <a:ext cx="0" cy="-96012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754880" y="5120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9D9D0"/>
                </a:solidFill>
              </a:rPr>
              <a:t>Planta física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Entrada, salida y variables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controlar primero hay que nombrar qué entra y qué sale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783080"/>
            <a:ext cx="1325880" cy="310896"/>
          </a:xfrm>
          <a:prstGeom prst="roundRect">
            <a:avLst>
              <a:gd name="adj" fmla="val 20588"/>
            </a:avLst>
          </a:prstGeom>
          <a:solidFill>
            <a:srgbClr val="3B82F6"/>
          </a:solidFill>
          <a:ln>
            <a:solidFill>
              <a:srgbClr val="3B82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ACTUACIÓN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 aplicado al puente 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Sentido de giro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de activación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81728" y="1783080"/>
            <a:ext cx="1554480" cy="310896"/>
          </a:xfrm>
          <a:prstGeom prst="roundRect">
            <a:avLst>
              <a:gd name="adj" fmla="val 20588"/>
            </a:avLst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SISTEMA FÍSICO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60020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N20 + reductora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Mecanismo de puerta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Rozamiento e inercia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76488" y="1783080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29D9D0"/>
          </a:solidFill>
          <a:ln>
            <a:solidFill>
              <a:srgbClr val="29D9D0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MEDICIÓN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75320" y="160020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Posición angular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del recorrido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 estimada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86200" y="3063240"/>
            <a:ext cx="59436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80960" y="3063240"/>
            <a:ext cx="59436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51560" y="5074920"/>
            <a:ext cx="10058400" cy="658368"/>
          </a:xfrm>
          <a:prstGeom prst="roundRect">
            <a:avLst>
              <a:gd name="adj" fmla="val 11111"/>
            </a:avLst>
          </a:prstGeom>
          <a:solidFill>
            <a:srgbClr val="101E38"/>
          </a:solidFill>
          <a:ln w="12700">
            <a:solidFill>
              <a:srgbClr val="29D9D0"/>
            </a:solidFill>
          </a:ln>
        </p:spPr>
        <p:txBody>
          <a:bodyPr wrap="square" lIns="182880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Cadena conceptual: PWM → velocidad → posición. El sensor mide la salida; el controlador decide la siguiente acción.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identificar la planta?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antes de diseñar el controlador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783080"/>
            <a:ext cx="1280160" cy="310896"/>
          </a:xfrm>
          <a:prstGeom prst="roundRect">
            <a:avLst>
              <a:gd name="adj" fmla="val 20588"/>
            </a:avLst>
          </a:prstGeom>
          <a:solidFill>
            <a:srgbClr val="F43F5E"/>
          </a:solidFill>
          <a:ln>
            <a:solidFill>
              <a:srgbClr val="F43F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PROBLEMA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60020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alcanza con decir: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“PWM 70 mueve”.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que saber cuánto mueve, cuándo despega, con qué velocidad y cómo cambia al subir PWM.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10328" y="1783080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CRITERIO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09160" y="1600200"/>
            <a:ext cx="6583680" cy="3383280"/>
          </a:xfrm>
          <a:prstGeom prst="roundRect">
            <a:avLst>
              <a:gd name="adj" fmla="val 2162"/>
            </a:avLst>
          </a:prstGeom>
          <a:solidFill>
            <a:srgbClr val="101E38"/>
          </a:solidFill>
          <a:ln w="12700">
            <a:solidFill>
              <a:srgbClr val="314568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la planta significa aplicar entradas conocidas y registrar la respuesta real.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Step8F se usó motion_mode=0 y PWM fijo para no contaminar la medición.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94760" y="5349240"/>
            <a:ext cx="4206240" cy="347472"/>
          </a:xfrm>
          <a:prstGeom prst="roundRect">
            <a:avLst>
              <a:gd name="adj" fmla="val 26316"/>
            </a:avLst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544068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202B"/>
                </a:solidFill>
              </a:rPr>
              <a:t>Una variable controlada por vez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Ensayo de identificación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fija, medición temporal y zona útil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3B82F6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PWM fijo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444752" y="2139696"/>
            <a:ext cx="148132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26080" y="1874520"/>
            <a:ext cx="502920" cy="502920"/>
          </a:xfrm>
          <a:prstGeom prst="ellipse">
            <a:avLst/>
          </a:prstGeom>
          <a:solidFill>
            <a:srgbClr val="F59E0B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25420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Mover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6432" y="2139696"/>
            <a:ext cx="148132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937760" y="1874520"/>
            <a:ext cx="502920" cy="502920"/>
          </a:xfrm>
          <a:prstGeom prst="ellipse">
            <a:avLst/>
          </a:prstGeom>
          <a:solidFill>
            <a:srgbClr val="29D9D0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5420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Medir travel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68112" y="2139696"/>
            <a:ext cx="148132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949440" y="1874520"/>
            <a:ext cx="502920" cy="502920"/>
          </a:xfrm>
          <a:prstGeom prst="ellipse">
            <a:avLst/>
          </a:prstGeom>
          <a:solidFill>
            <a:srgbClr val="22C55E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25420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Estimar velocidad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79792" y="2139696"/>
            <a:ext cx="148132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961120" y="1874520"/>
            <a:ext cx="502920" cy="502920"/>
          </a:xfrm>
          <a:prstGeom prst="ellipse">
            <a:avLst/>
          </a:prstGeom>
          <a:solidFill>
            <a:srgbClr val="8B5CF6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49640" y="25420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7EEF9"/>
                </a:solidFill>
              </a:rPr>
              <a:t>Ajustar modelo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3886200"/>
            <a:ext cx="10241280" cy="1078992"/>
          </a:xfrm>
          <a:prstGeom prst="roundRect">
            <a:avLst>
              <a:gd name="adj" fmla="val 6780"/>
            </a:avLst>
          </a:prstGeom>
          <a:solidFill>
            <a:srgbClr val="101E38"/>
          </a:solidFill>
          <a:ln w="12700">
            <a:solidFill>
              <a:srgbClr val="314568"/>
            </a:solidFill>
          </a:ln>
        </p:spPr>
        <p:txBody>
          <a:bodyPr wrap="square" lIns="24688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informe, cada muestra del Plotter representa aproximadamente 0,05 s. La velocidad útil se calculó en la zona central de la curva, evitando arranque y llegada.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2148840" y="5440680"/>
            <a:ext cx="8046720" cy="347472"/>
          </a:xfrm>
          <a:prstGeom prst="roundRect">
            <a:avLst>
              <a:gd name="adj" fmla="val 26316"/>
            </a:avLst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5532120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202B"/>
                </a:solidFill>
              </a:rPr>
              <a:t>motion_mode = 0 · PWM = 70 / 75 / 80 · travel vs tiempo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Arranque, régimen y llegada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 la curva representa lo mismo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937760"/>
            <a:ext cx="9784080" cy="0"/>
          </a:xfrm>
          <a:prstGeom prst="line">
            <a:avLst/>
          </a:prstGeom>
          <a:noFill/>
          <a:ln w="13970">
            <a:solidFill>
              <a:srgbClr val="8391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937760"/>
            <a:ext cx="0" cy="-3200400"/>
          </a:xfrm>
          <a:prstGeom prst="line">
            <a:avLst/>
          </a:prstGeom>
          <a:noFill/>
          <a:ln w="13970">
            <a:solidFill>
              <a:srgbClr val="8391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16200000">
            <a:off x="685800" y="1508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CC"/>
                </a:solidFill>
              </a:rPr>
              <a:t>travel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12680" y="50474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CC"/>
                </a:solidFill>
              </a:rPr>
              <a:t>tiempo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97280" y="4800600"/>
            <a:ext cx="1280160" cy="-91440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0" y="4709160"/>
            <a:ext cx="4846320" cy="-2697480"/>
          </a:xfrm>
          <a:prstGeom prst="line">
            <a:avLst/>
          </a:prstGeom>
          <a:noFill/>
          <a:ln w="38100">
            <a:solidFill>
              <a:srgbClr val="29D9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2011680"/>
            <a:ext cx="1280160" cy="-25603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1755648"/>
            <a:ext cx="1143000" cy="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5248656"/>
            <a:ext cx="2240280" cy="777240"/>
          </a:xfrm>
          <a:prstGeom prst="roundRect">
            <a:avLst>
              <a:gd name="adj" fmla="val 9412"/>
            </a:avLst>
          </a:prstGeom>
          <a:solidFill>
            <a:srgbClr val="0D1830"/>
          </a:solidFill>
          <a:ln w="12700">
            <a:solidFill>
              <a:srgbClr val="F43F5E"/>
            </a:solidFill>
          </a:ln>
        </p:spPr>
        <p:txBody>
          <a:bodyPr wrap="square" lIns="91440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Arranque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fricción estática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retardo posible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160520" y="5248656"/>
            <a:ext cx="2880360" cy="777240"/>
          </a:xfrm>
          <a:prstGeom prst="roundRect">
            <a:avLst>
              <a:gd name="adj" fmla="val 9412"/>
            </a:avLst>
          </a:prstGeom>
          <a:solidFill>
            <a:srgbClr val="0D1830"/>
          </a:solidFill>
          <a:ln w="12700">
            <a:solidFill>
              <a:srgbClr val="29D9D0"/>
            </a:solidFill>
          </a:ln>
        </p:spPr>
        <p:txBody>
          <a:bodyPr wrap="square" lIns="91440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Régimen útil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 casi constante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 estimable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90688" y="5248656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D1830"/>
          </a:solidFill>
          <a:ln w="12700">
            <a:solidFill>
              <a:srgbClr val="F59E0B"/>
            </a:solidFill>
          </a:ln>
        </p:spPr>
        <p:txBody>
          <a:bodyPr wrap="square" lIns="91440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Llegada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inercia + corte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final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Zona muerta y fricción estática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haber PWM aplicado sin movimiento visible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737360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F43F5E"/>
          </a:solidFill>
          <a:ln>
            <a:solidFill>
              <a:srgbClr val="F43F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CONCEPTO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4480560" cy="4114800"/>
          </a:xfrm>
          <a:prstGeom prst="roundRect">
            <a:avLst>
              <a:gd name="adj" fmla="val 1778"/>
            </a:avLst>
          </a:prstGeom>
          <a:solidFill>
            <a:srgbClr val="0D1830"/>
          </a:solidFill>
          <a:ln w="12700">
            <a:solidFill>
              <a:srgbClr val="F43F5E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 muerta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motor recibe energía, pero la planta todavía no se mueve.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aparecer por fricción estática, juego, zona dura o torque insuficiente.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0" y="4846320"/>
            <a:ext cx="5120640" cy="0"/>
          </a:xfrm>
          <a:prstGeom prst="line">
            <a:avLst/>
          </a:prstGeom>
          <a:noFill/>
          <a:ln w="13970">
            <a:solidFill>
              <a:srgbClr val="8391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4846320"/>
            <a:ext cx="0" cy="-3200400"/>
          </a:xfrm>
          <a:prstGeom prst="line">
            <a:avLst/>
          </a:prstGeom>
          <a:noFill/>
          <a:ln w="13970">
            <a:solidFill>
              <a:srgbClr val="8391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0" y="501091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CC"/>
                </a:solidFill>
              </a:rPr>
              <a:t>PWM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4681728"/>
            <a:ext cx="1143000" cy="0"/>
          </a:xfrm>
          <a:prstGeom prst="line">
            <a:avLst/>
          </a:prstGeom>
          <a:noFill/>
          <a:ln w="38100">
            <a:solidFill>
              <a:srgbClr val="F43F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4681728"/>
            <a:ext cx="2926080" cy="-1874520"/>
          </a:xfrm>
          <a:prstGeom prst="line">
            <a:avLst/>
          </a:prstGeom>
          <a:noFill/>
          <a:ln w="38100">
            <a:solidFill>
              <a:srgbClr val="29D9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4526280"/>
            <a:ext cx="1143000" cy="228600"/>
          </a:xfrm>
          <a:prstGeom prst="rect">
            <a:avLst/>
          </a:prstGeom>
          <a:solidFill>
            <a:srgbClr val="F43F5E">
              <a:alpha val="30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4864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</a:rPr>
              <a:t>PWM_dead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1325880"/>
            <a:ext cx="4983480" cy="841248"/>
          </a:xfrm>
          <a:prstGeom prst="roundRect">
            <a:avLst>
              <a:gd name="adj" fmla="val 8696"/>
            </a:avLst>
          </a:prstGeom>
          <a:solidFill>
            <a:srgbClr val="101E38"/>
          </a:solidFill>
          <a:ln w="12700">
            <a:solidFill>
              <a:srgbClr val="314568"/>
            </a:solidFill>
          </a:ln>
        </p:spPr>
        <p:txBody>
          <a:bodyPr wrap="square" lIns="182880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Step8F: con PWM 70, un sentido tuvo un retardo de arranque cercano a 0,95 s aunque luego la velocidad útil fue normal.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lineal simple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primera aproximación suficiente para simular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72768"/>
            <a:ext cx="4709160" cy="2011680"/>
          </a:xfrm>
          <a:prstGeom prst="roundRect">
            <a:avLst>
              <a:gd name="adj" fmla="val 3636"/>
            </a:avLst>
          </a:prstGeom>
          <a:solidFill>
            <a:srgbClr val="0D1830"/>
          </a:solidFill>
          <a:ln w="12700">
            <a:solidFill>
              <a:srgbClr val="29D9D0"/>
            </a:solidFill>
          </a:ln>
        </p:spPr>
        <p:txBody>
          <a:bodyPr wrap="square" lIns="411480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velocidad_deg_s = Kv · ( PWM − PWM_dead )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travel(t) = ∫ velocidad_deg_s dt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4709160" cy="1143000"/>
          </a:xfrm>
          <a:prstGeom prst="roundRect">
            <a:avLst>
              <a:gd name="adj" fmla="val 6400"/>
            </a:avLst>
          </a:prstGeom>
          <a:solidFill>
            <a:srgbClr val="101E38"/>
          </a:solidFill>
          <a:ln w="12700">
            <a:solidFill>
              <a:srgbClr val="22C55E"/>
            </a:solidFill>
          </a:ln>
        </p:spPr>
        <p:txBody>
          <a:bodyPr wrap="square" lIns="274320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identificado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velocidad_deg_s ≈ 4,97 · ( PWM − 18 )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0" y="4709160"/>
            <a:ext cx="4572000" cy="0"/>
          </a:xfrm>
          <a:prstGeom prst="line">
            <a:avLst/>
          </a:prstGeom>
          <a:noFill/>
          <a:ln w="12700">
            <a:solidFill>
              <a:srgbClr val="8391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4709160"/>
            <a:ext cx="0" cy="-2971800"/>
          </a:xfrm>
          <a:prstGeom prst="line">
            <a:avLst/>
          </a:prstGeom>
          <a:noFill/>
          <a:ln w="12700">
            <a:solidFill>
              <a:srgbClr val="8391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16200000">
            <a:off x="6016752" y="16916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</a:rPr>
              <a:t>velocidad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0" y="48737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8CC"/>
                </a:solidFill>
              </a:rPr>
              <a:t>PWM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4679442"/>
            <a:ext cx="4572000" cy="-2946327"/>
          </a:xfrm>
          <a:prstGeom prst="line">
            <a:avLst/>
          </a:prstGeom>
          <a:noFill/>
          <a:ln w="31750">
            <a:solidFill>
              <a:srgbClr val="29D9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9351" y="4103043"/>
            <a:ext cx="329184" cy="329184"/>
          </a:xfrm>
          <a:prstGeom prst="ellipse">
            <a:avLst/>
          </a:prstGeom>
          <a:solidFill>
            <a:srgbClr val="22C55E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22208" y="3011968"/>
            <a:ext cx="329184" cy="329184"/>
          </a:xfrm>
          <a:prstGeom prst="ellipse">
            <a:avLst/>
          </a:prstGeom>
          <a:solidFill>
            <a:srgbClr val="22C55E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155065" y="1993065"/>
            <a:ext cx="329184" cy="329184"/>
          </a:xfrm>
          <a:prstGeom prst="ellipse">
            <a:avLst/>
          </a:prstGeom>
          <a:solidFill>
            <a:srgbClr val="22C55E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66560" y="143560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Promedio medido vs modelo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≠ realidad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sirve aunque no capture todo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783080"/>
            <a:ext cx="1005840" cy="310896"/>
          </a:xfrm>
          <a:prstGeom prst="roundRect">
            <a:avLst>
              <a:gd name="adj" fmla="val 20588"/>
            </a:avLst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ÚTIL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160020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captura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velocidad aproximada en régimen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efecto principal del PWM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zona muerta promedio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relación entrada → salida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64808" y="1783080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LÍMITE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263640" y="160020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puede no capturar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juego mecánico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retardo puntual de arranque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ruido del sensor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desgaste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cambios de carga o rozamiento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25880" y="5897880"/>
            <a:ext cx="9509760" cy="411480"/>
          </a:xfrm>
          <a:prstGeom prst="roundRect">
            <a:avLst>
              <a:gd name="adj" fmla="val 17778"/>
            </a:avLst>
          </a:prstGeom>
          <a:solidFill>
            <a:srgbClr val="101E38"/>
          </a:solidFill>
          <a:ln w="12700">
            <a:solidFill>
              <a:srgbClr val="29D9D0"/>
            </a:solidFill>
          </a:ln>
        </p:spPr>
        <p:txBody>
          <a:bodyPr wrap="square" lIns="10972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I+D: un buen modelo no es una copia perfecta. Es una herramienta para decidir mejor la próxima prueba.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simular antes de tocar firmware?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Proteger la baseline y probar escenarios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0D1830"/>
          </a:solidFill>
          <a:ln w="12700">
            <a:solidFill>
              <a:srgbClr val="22C55E"/>
            </a:solidFill>
          </a:ln>
        </p:spPr>
        <p:txBody>
          <a:bodyPr wrap="square" lIns="256032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Firmware validado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toca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18288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0D1830"/>
          </a:solidFill>
          <a:ln w="12700">
            <a:solidFill>
              <a:srgbClr val="29D9D0"/>
            </a:solidFill>
          </a:ln>
        </p:spPr>
        <p:txBody>
          <a:bodyPr wrap="square" lIns="256032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9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planta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9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 → velocidad → travel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95160" y="182880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0D1830"/>
          </a:solidFill>
          <a:ln w="12700">
            <a:solidFill>
              <a:srgbClr val="F59E0B"/>
            </a:solidFill>
          </a:ln>
        </p:spPr>
        <p:txBody>
          <a:bodyPr wrap="square" lIns="256032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Simulación Python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Kp, Ki, Kd, saturación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66960" y="18288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0D1830"/>
          </a:solidFill>
          <a:ln w="12700">
            <a:solidFill>
              <a:srgbClr val="8B5CF6"/>
            </a:solidFill>
          </a:ln>
        </p:spPr>
        <p:txBody>
          <a:bodyPr wrap="square" lIns="237744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Constantes iniciales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conservadoras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17520" y="2331720"/>
            <a:ext cx="64008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63640" y="2331720"/>
            <a:ext cx="73152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0" y="2331720"/>
            <a:ext cx="36576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60120" y="4069080"/>
            <a:ext cx="10287000" cy="960120"/>
          </a:xfrm>
          <a:prstGeom prst="roundRect">
            <a:avLst>
              <a:gd name="adj" fmla="val 7619"/>
            </a:avLst>
          </a:prstGeom>
          <a:solidFill>
            <a:srgbClr val="101E38"/>
          </a:solidFill>
          <a:ln w="12700">
            <a:solidFill>
              <a:srgbClr val="314568"/>
            </a:solidFill>
          </a:ln>
        </p:spPr>
        <p:txBody>
          <a:bodyPr wrap="square" lIns="219456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Simular permite encontrar una zona razonable de parámetros antes de arriesgar el prototipo físico. No reemplaza la validación: la prepara.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Realimentación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Medir, comparar y corregir en cada ciclo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4320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0D1830"/>
          </a:solidFill>
          <a:ln w="12700">
            <a:solidFill>
              <a:srgbClr val="22C55E"/>
            </a:solidFill>
          </a:ln>
        </p:spPr>
        <p:txBody>
          <a:bodyPr wrap="square" lIns="146304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posición deseada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633472"/>
            <a:ext cx="640080" cy="640080"/>
          </a:xfrm>
          <a:prstGeom prst="ellipse">
            <a:avLst/>
          </a:prstGeom>
          <a:solidFill>
            <a:srgbClr val="3B82F6"/>
          </a:solidFill>
          <a:ln w="16510">
            <a:solidFill>
              <a:srgbClr val="14315C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94760" y="274320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0D1830"/>
          </a:solidFill>
          <a:ln w="12700">
            <a:solidFill>
              <a:srgbClr val="3B82F6"/>
            </a:solidFill>
          </a:ln>
        </p:spPr>
        <p:txBody>
          <a:bodyPr wrap="square" lIns="146304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23560" y="2514600"/>
            <a:ext cx="2057400" cy="1143000"/>
          </a:xfrm>
          <a:prstGeom prst="roundRect">
            <a:avLst>
              <a:gd name="adj" fmla="val 6400"/>
            </a:avLst>
          </a:prstGeom>
          <a:solidFill>
            <a:srgbClr val="0D1830"/>
          </a:solidFill>
          <a:ln w="12700">
            <a:solidFill>
              <a:srgbClr val="8B5CF6"/>
            </a:solidFill>
          </a:ln>
        </p:spPr>
        <p:txBody>
          <a:bodyPr wrap="square" lIns="237744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Controlador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/ PD / PID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25146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D1830"/>
          </a:solidFill>
          <a:ln w="12700">
            <a:solidFill>
              <a:srgbClr val="F59E0B"/>
            </a:solidFill>
          </a:ln>
        </p:spPr>
        <p:txBody>
          <a:bodyPr wrap="square" lIns="237744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puerta real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7800" y="4892040"/>
            <a:ext cx="2423160" cy="658368"/>
          </a:xfrm>
          <a:prstGeom prst="roundRect">
            <a:avLst>
              <a:gd name="adj" fmla="val 11111"/>
            </a:avLst>
          </a:prstGeom>
          <a:solidFill>
            <a:srgbClr val="0D1830"/>
          </a:solidFill>
          <a:ln w="12700">
            <a:solidFill>
              <a:srgbClr val="29D9D0"/>
            </a:solidFill>
          </a:ln>
        </p:spPr>
        <p:txBody>
          <a:bodyPr wrap="square" lIns="128016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9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9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posición medida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8880" y="3108960"/>
            <a:ext cx="365760" cy="-146304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74720" y="2962656"/>
            <a:ext cx="320040" cy="128016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37760" y="3090672"/>
            <a:ext cx="68580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80960" y="3090672"/>
            <a:ext cx="73152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400032" y="3657600"/>
            <a:ext cx="-2889504" cy="1234440"/>
          </a:xfrm>
          <a:prstGeom prst="line">
            <a:avLst/>
          </a:prstGeom>
          <a:noFill/>
          <a:ln w="16510">
            <a:solidFill>
              <a:srgbClr val="29D9D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57800" y="5230368"/>
            <a:ext cx="-2103120" cy="-1938528"/>
          </a:xfrm>
          <a:prstGeom prst="line">
            <a:avLst/>
          </a:prstGeom>
          <a:noFill/>
          <a:ln w="16510">
            <a:solidFill>
              <a:srgbClr val="29D9D0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05840" y="1508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El sistema ya no actúa a ciegas: usa la diferencia entre lo deseado y lo medido.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13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P, D e 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acciones distintas dentro del controlador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691640"/>
            <a:ext cx="640080" cy="310896"/>
          </a:xfrm>
          <a:prstGeom prst="roundRect">
            <a:avLst>
              <a:gd name="adj" fmla="val 20588"/>
            </a:avLst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508760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· Proporcional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Empuja según el error.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grande → más acción.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Cerca del objetivo → menos acción.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1691640"/>
            <a:ext cx="640080" cy="310896"/>
          </a:xfrm>
          <a:prstGeom prst="roundRect">
            <a:avLst>
              <a:gd name="adj" fmla="val 20588"/>
            </a:avLst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70832" y="1508760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· Derivativo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Actúa como amortiguación.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puerta llega rápido, ayuda a frenar antes.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47888" y="1691640"/>
            <a:ext cx="640080" cy="310896"/>
          </a:xfrm>
          <a:prstGeom prst="roundRect">
            <a:avLst>
              <a:gd name="adj" fmla="val 20588"/>
            </a:avLst>
          </a:prstGeom>
          <a:solidFill>
            <a:srgbClr val="8B5CF6"/>
          </a:solidFill>
          <a:ln>
            <a:solidFill>
              <a:srgbClr val="8B5C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046720" y="1508760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· Integral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Corrige errores persistentes acumulados.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cerca del punto, peligrosa si acumula de más.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74520" y="5742432"/>
            <a:ext cx="8458200" cy="594360"/>
          </a:xfrm>
          <a:prstGeom prst="roundRect">
            <a:avLst>
              <a:gd name="adj" fmla="val 12308"/>
            </a:avLst>
          </a:prstGeom>
          <a:solidFill>
            <a:srgbClr val="101E38"/>
          </a:solidFill>
          <a:ln w="12700">
            <a:solidFill>
              <a:srgbClr val="29D9D0"/>
            </a:solidFill>
          </a:ln>
        </p:spPr>
        <p:txBody>
          <a:bodyPr wrap="square" lIns="54864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9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PWM_control = Kp·error + Ki·integral − Kd·velocidad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Saturación, windup y anti-windup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PID real necesita límites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691640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LÍMITE FÍSICO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Saturación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controlador puede pedir más PWM del que el sistema debe aplicar.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Ejemplo: pedir 130, pero limitar a 80.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81728" y="1691640"/>
            <a:ext cx="1005840" cy="310896"/>
          </a:xfrm>
          <a:prstGeom prst="roundRect">
            <a:avLst>
              <a:gd name="adj" fmla="val 20588"/>
            </a:avLst>
          </a:prstGeom>
          <a:solidFill>
            <a:srgbClr val="F43F5E"/>
          </a:solidFill>
          <a:ln>
            <a:solidFill>
              <a:srgbClr val="F43F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RIESGO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480560" y="15087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Windup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integral sigue acumulando error aunque la salida esté saturada.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salir de saturación puede provocar sobrepaso.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5048" y="1691640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PROTECCIÓN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183880" y="1508760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0D1830"/>
          </a:solidFill>
          <a:ln w="12700">
            <a:solidFill>
              <a:srgbClr val="314568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Anti-windup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Limitar la acumulación, habilitar I solo en cierta zona o frenarla cuando el control satura.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0" y="5989320"/>
            <a:ext cx="7589520" cy="347472"/>
          </a:xfrm>
          <a:prstGeom prst="roundRect">
            <a:avLst>
              <a:gd name="adj" fmla="val 26316"/>
            </a:avLst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6080760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202B"/>
                </a:solidFill>
              </a:rPr>
              <a:t>Un PID sin restricciones no es automáticamente un buen controlador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15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empezar con PD?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decisión conservadora para este mecanismo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691640"/>
            <a:ext cx="914400" cy="310896"/>
          </a:xfrm>
          <a:prstGeom prst="roundRect">
            <a:avLst>
              <a:gd name="adj" fmla="val 20588"/>
            </a:avLst>
          </a:prstGeom>
          <a:solidFill>
            <a:srgbClr val="22C55E"/>
          </a:solidFill>
          <a:ln>
            <a:solidFill>
              <a:srgbClr val="22C55E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PASO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4892040" cy="4389120"/>
          </a:xfrm>
          <a:prstGeom prst="roundRect">
            <a:avLst>
              <a:gd name="adj" fmla="val 1667"/>
            </a:avLst>
          </a:prstGeom>
          <a:solidFill>
            <a:srgbClr val="0D1830"/>
          </a:solidFill>
          <a:ln w="12700">
            <a:solidFill>
              <a:srgbClr val="22C55E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PD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 empuja hacia el objetivo.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Kd amortigua la llegada usando velocidad.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 queda en cero al inicio.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47688" y="1691640"/>
            <a:ext cx="914400" cy="310896"/>
          </a:xfrm>
          <a:prstGeom prst="roundRect">
            <a:avLst>
              <a:gd name="adj" fmla="val 20588"/>
            </a:avLst>
          </a:prstGeom>
          <a:solidFill>
            <a:srgbClr val="8B5CF6"/>
          </a:solidFill>
          <a:ln>
            <a:solidFill>
              <a:srgbClr val="8B5CF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202B"/>
                </a:solidFill>
              </a:rPr>
              <a:t>PASO 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46520" y="1508760"/>
            <a:ext cx="4892040" cy="4389120"/>
          </a:xfrm>
          <a:prstGeom prst="roundRect">
            <a:avLst>
              <a:gd name="adj" fmla="val 1667"/>
            </a:avLst>
          </a:prstGeom>
          <a:solidFill>
            <a:srgbClr val="0D1830"/>
          </a:solidFill>
          <a:ln w="12700">
            <a:solidFill>
              <a:srgbClr val="8B5CF6"/>
            </a:solidFill>
          </a:ln>
        </p:spPr>
        <p:txBody>
          <a:bodyPr wrap="square" lIns="65836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evaluar 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si queda error persistente.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anti-windup.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Preferentemente cerca del objetivo y sin saturación.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5897880"/>
            <a:ext cx="10104120" cy="457200"/>
          </a:xfrm>
          <a:prstGeom prst="roundRect">
            <a:avLst>
              <a:gd name="adj" fmla="val 16000"/>
            </a:avLst>
          </a:prstGeom>
          <a:solidFill>
            <a:srgbClr val="101E38"/>
          </a:solidFill>
          <a:ln w="12700">
            <a:solidFill>
              <a:srgbClr val="29D9D0"/>
            </a:solidFill>
          </a:ln>
        </p:spPr>
        <p:txBody>
          <a:bodyPr wrap="square" lIns="109728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de ingeniería no es “¿podemos poner PID?”. Es “¿qué parte del controlador necesita realmente esta planta?”.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A"/>
          </a:solidFill>
          <a:ln w="12700">
            <a:solidFill>
              <a:srgbClr val="050B1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D9D0"/>
          </a:solidFill>
          <a:ln w="12700">
            <a:solidFill>
              <a:srgbClr val="29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esp32-motorized-door-controller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652760" y="65105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1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Conceptos II · 16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43891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Puente hacia la Etapa 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sí: identificación de planta y preparación del PD/PID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197864"/>
            <a:ext cx="10972800" cy="0"/>
          </a:xfrm>
          <a:prstGeom prst="line">
            <a:avLst/>
          </a:prstGeom>
          <a:noFill/>
          <a:ln w="15240">
            <a:solidFill>
              <a:srgbClr val="29D9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0D1830"/>
          </a:solidFill>
          <a:ln w="12700">
            <a:solidFill>
              <a:srgbClr val="3B82F6"/>
            </a:solidFill>
          </a:ln>
        </p:spPr>
        <p:txBody>
          <a:bodyPr wrap="square" lIns="228600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 fijo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vs tiempo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880360"/>
            <a:ext cx="5943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971800" y="19202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0D1830"/>
          </a:solidFill>
          <a:ln w="12700">
            <a:solidFill>
              <a:srgbClr val="29D9D0"/>
            </a:solidFill>
          </a:ln>
        </p:spPr>
        <p:txBody>
          <a:bodyPr wrap="square" lIns="228600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 y PWM_dead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simple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880360"/>
            <a:ext cx="5943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257800" y="19202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0D1830"/>
          </a:solidFill>
          <a:ln w="12700">
            <a:solidFill>
              <a:srgbClr val="F59E0B"/>
            </a:solidFill>
          </a:ln>
        </p:spPr>
        <p:txBody>
          <a:bodyPr wrap="square" lIns="228600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Kp, Kd, Ki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2880360"/>
            <a:ext cx="5943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543800" y="19202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0D1830"/>
          </a:solidFill>
          <a:ln w="12700">
            <a:solidFill>
              <a:srgbClr val="8B5CF6"/>
            </a:solidFill>
          </a:ln>
        </p:spPr>
        <p:txBody>
          <a:bodyPr wrap="square" lIns="228600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motion_mode=2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conservador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35440" y="2880360"/>
            <a:ext cx="5943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829800" y="192024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0D1830"/>
          </a:solidFill>
          <a:ln w="12700">
            <a:solidFill>
              <a:srgbClr val="22C55E"/>
            </a:solidFill>
          </a:ln>
        </p:spPr>
        <p:txBody>
          <a:bodyPr wrap="square" lIns="228600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real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7EE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curvas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5166360"/>
            <a:ext cx="10104120" cy="868680"/>
          </a:xfrm>
          <a:prstGeom prst="roundRect">
            <a:avLst>
              <a:gd name="adj" fmla="val 8421"/>
            </a:avLst>
          </a:prstGeom>
          <a:solidFill>
            <a:srgbClr val="101E38"/>
          </a:solidFill>
          <a:ln w="12700">
            <a:solidFill>
              <a:srgbClr val="29D9D0"/>
            </a:solidFill>
          </a:ln>
        </p:spPr>
        <p:txBody>
          <a:bodyPr wrap="square" lIns="182880" tIns="256032" rIns="256032" bIns="164592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conceptual: la planta se mide, el modelo se simula y el controlador se prueba con prudencia. Ese es el camino de I+D antes de exigirle al prototipo real.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esp32-motorized-door-controller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Conceptos de control II - De la planta física al PID</dc:title>
  <dc:subject>Conceptos de control II</dc:subject>
  <dc:creator>OpenAI</dc:creator>
  <cp:lastModifiedBy>OpenAI</cp:lastModifiedBy>
  <cp:revision>1</cp:revision>
  <dcterms:created xsi:type="dcterms:W3CDTF">2026-08-08T21:27:50Z</dcterms:created>
  <dcterms:modified xsi:type="dcterms:W3CDTF">2026-08-08T21:27:50Z</dcterms:modified>
</cp:coreProperties>
</file>