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esp32-motorized-door-controller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1069848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Etapa 3 · 1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D9D0"/>
                </a:solidFill>
              </a:rPr>
              <a:t>Etapa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024128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Identificación de planta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preparación PD/PID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21792" y="2331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8CC"/>
                </a:solidFill>
              </a:rPr>
              <a:t>Del Plotter Serial al primer modelo de la planta física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2907792"/>
            <a:ext cx="6812280" cy="1965960"/>
          </a:xfrm>
          <a:prstGeom prst="roundRect">
            <a:avLst>
              <a:gd name="adj" fmla="val 3721"/>
            </a:avLst>
          </a:prstGeom>
          <a:solidFill>
            <a:srgbClr val="101E38"/>
          </a:solidFill>
          <a:ln w="12700">
            <a:solidFill>
              <a:srgbClr val="314568"/>
            </a:solidFill>
          </a:ln>
        </p:spPr>
        <p:txBody>
          <a:bodyPr wrap="square" lIns="21945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DE LA ETAPA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deja de “probar PWM” a ciegas y se mide cómo responde la planta real. Con PWM fijo se registran curvas travel vs tiempo, se estima velocidad útil, se identifica un modelo simple y se decide simular antes de implementar PD/PID en firmware.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0" y="1261872"/>
            <a:ext cx="438912" cy="438912"/>
          </a:xfrm>
          <a:prstGeom prst="ellipse">
            <a:avLst/>
          </a:prstGeom>
          <a:solidFill>
            <a:srgbClr val="22C55E"/>
          </a:solidFill>
          <a:ln w="1397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0" y="13807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EF9"/>
                </a:solidFill>
              </a:rPr>
              <a:t>Plotter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449056" y="1709928"/>
            <a:ext cx="0" cy="35661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066544"/>
            <a:ext cx="438912" cy="438912"/>
          </a:xfrm>
          <a:prstGeom prst="ellipse">
            <a:avLst/>
          </a:prstGeom>
          <a:solidFill>
            <a:srgbClr val="3B82F6"/>
          </a:solidFill>
          <a:ln w="1397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0" y="218541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EF9"/>
                </a:solidFill>
              </a:rPr>
              <a:t>PWM fijo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49056" y="2514600"/>
            <a:ext cx="0" cy="35661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871216"/>
            <a:ext cx="438912" cy="438912"/>
          </a:xfrm>
          <a:prstGeom prst="ellipse">
            <a:avLst/>
          </a:prstGeom>
          <a:solidFill>
            <a:srgbClr val="F59E0B"/>
          </a:solidFill>
          <a:ln w="1397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0" y="299008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EF9"/>
                </a:solidFill>
              </a:rPr>
              <a:t>Curvas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449056" y="3319272"/>
            <a:ext cx="0" cy="35661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3675888"/>
            <a:ext cx="438912" cy="438912"/>
          </a:xfrm>
          <a:prstGeom prst="ellipse">
            <a:avLst/>
          </a:prstGeom>
          <a:solidFill>
            <a:srgbClr val="8B5CF6"/>
          </a:solidFill>
          <a:ln w="1397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69680" y="37947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EF9"/>
                </a:solidFill>
              </a:rPr>
              <a:t>Modelo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449056" y="4123944"/>
            <a:ext cx="0" cy="35661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4480560"/>
            <a:ext cx="438912" cy="438912"/>
          </a:xfrm>
          <a:prstGeom prst="ellipse">
            <a:avLst/>
          </a:prstGeom>
          <a:solidFill>
            <a:srgbClr val="29D9D0"/>
          </a:solidFill>
          <a:ln w="1397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0" y="4599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EF9"/>
                </a:solidFill>
              </a:rPr>
              <a:t>Simular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6172200"/>
            <a:ext cx="5486400" cy="201168"/>
          </a:xfrm>
          <a:prstGeom prst="roundRect">
            <a:avLst>
              <a:gd name="adj" fmla="val 18182"/>
            </a:avLst>
          </a:prstGeom>
          <a:solidFill>
            <a:srgbClr val="073B4C">
              <a:alpha val="90000"/>
            </a:srgbClr>
          </a:solidFill>
          <a:ln w="6350">
            <a:solidFill>
              <a:srgbClr val="1C7C8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9DEAE7"/>
                </a:solidFill>
              </a:rPr>
              <a:t>Materias: Sistemas de Control · Programación Avanzada · Automatización · Proyecto Final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esp32-motorized-door-controller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1069848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Etapa 3 · 2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594360" y="411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Punto de partida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9B8CC"/>
                </a:solidFill>
              </a:rPr>
              <a:t>La etapa anterior dejó una baseline, no una solución de control final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54480"/>
            <a:ext cx="4800600" cy="4160520"/>
          </a:xfrm>
          <a:prstGeom prst="roundRect">
            <a:avLst>
              <a:gd name="adj" fmla="val 1758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21945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ya sabemos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plataforma física se mueve.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sensor lee a tiempo.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firmware monolítico permitió medir.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PWM fijo no alcanza para todas las condiciones.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89320" y="155448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101E38"/>
          </a:solidFill>
          <a:ln w="12700">
            <a:solidFill>
              <a:srgbClr val="29D9D0"/>
            </a:solidFill>
          </a:ln>
        </p:spPr>
        <p:txBody>
          <a:bodyPr wrap="square" lIns="21945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Nueva pregunta de I+D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responde realmente la planta cuando aplicamos una entrada conocida?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no se supone: se mide.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6172200"/>
            <a:ext cx="5486400" cy="201168"/>
          </a:xfrm>
          <a:prstGeom prst="roundRect">
            <a:avLst>
              <a:gd name="adj" fmla="val 18182"/>
            </a:avLst>
          </a:prstGeom>
          <a:solidFill>
            <a:srgbClr val="073B4C">
              <a:alpha val="90000"/>
            </a:srgbClr>
          </a:solidFill>
          <a:ln w="6350">
            <a:solidFill>
              <a:srgbClr val="1C7C8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9DEAE7"/>
                </a:solidFill>
              </a:rPr>
              <a:t>Materias: Sistemas de Control · Proyecto Final · Programación Avanzada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esp32-motorized-door-controller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1069848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Etapa 3 · 3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594360" y="411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Instrumentar antes de controlar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9B8CC"/>
                </a:solidFill>
              </a:rPr>
              <a:t>Usar el Plotter como herramienta de observación de la planta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5448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21945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de ensayo</a:t>
            </a:r>
            <a:endParaRPr lang="en-US" sz="1650" dirty="0"/>
          </a:p>
          <a:p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Usar motion_mode=0.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Mantener PWM fijo en cada corrida.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Registrar travel y target.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Evitar confusiones por wrap 0/360.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modificar motor, sensor ni lógica ya validada.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217920" y="155448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101E38"/>
          </a:solidFill>
          <a:ln w="12700">
            <a:solidFill>
              <a:srgbClr val="314568"/>
            </a:solidFill>
          </a:ln>
        </p:spPr>
        <p:txBody>
          <a:bodyPr wrap="square" lIns="21945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PLANT_PLOT_PERIOD_MS = 50 ms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muestra representa aproximadamente 0,05 s.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PWM ensayados: 70, 75 y 80.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6172200"/>
            <a:ext cx="5486400" cy="201168"/>
          </a:xfrm>
          <a:prstGeom prst="roundRect">
            <a:avLst>
              <a:gd name="adj" fmla="val 18182"/>
            </a:avLst>
          </a:prstGeom>
          <a:solidFill>
            <a:srgbClr val="073B4C">
              <a:alpha val="90000"/>
            </a:srgbClr>
          </a:solidFill>
          <a:ln w="6350">
            <a:solidFill>
              <a:srgbClr val="1C7C8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9DEAE7"/>
                </a:solidFill>
              </a:rPr>
              <a:t>Materias: Programación Avanzada · Sistemas de Control · Instrumentación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esp32-motorized-door-controller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1069848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Etapa 3 · 4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594360" y="411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Curvas travel vs tiempo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9B8CC"/>
                </a:solidFill>
              </a:rPr>
              <a:t>El Plotter transforma movimiento en datos observables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pic>
        <p:nvPicPr>
          <p:cNvPr id="9" name="Image 0" descr="/mnt/data/etapa3_assets/curvas_tod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83578"/>
            <a:ext cx="7223760" cy="435718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0" y="1463040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101E38"/>
          </a:solidFill>
          <a:ln w="12700">
            <a:solidFill>
              <a:srgbClr val="314568"/>
            </a:solidFill>
          </a:ln>
        </p:spPr>
        <p:txBody>
          <a:bodyPr wrap="square" lIns="21945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de la gráfica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mayoría de las curvas suben casi linealmente una vez que el motor despega.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PWM mayor produce pendiente mayor.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caso PWM 70 en un sentido muestra retardo de arranque marcado.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curva ya separa tres momentos: arranque, régimen y llegada.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6172200"/>
            <a:ext cx="5486400" cy="201168"/>
          </a:xfrm>
          <a:prstGeom prst="roundRect">
            <a:avLst>
              <a:gd name="adj" fmla="val 18182"/>
            </a:avLst>
          </a:prstGeom>
          <a:solidFill>
            <a:srgbClr val="073B4C">
              <a:alpha val="90000"/>
            </a:srgbClr>
          </a:solidFill>
          <a:ln w="6350">
            <a:solidFill>
              <a:srgbClr val="1C7C8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9DEAE7"/>
                </a:solidFill>
              </a:rPr>
              <a:t>Materias: Sistemas de Control · Análisis de datos · Programación Avanzada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esp32-motorized-door-controller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1069848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Etapa 3 · 5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594360" y="411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 por sentido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9B8CC"/>
                </a:solidFill>
              </a:rPr>
              <a:t>La planta se parece, pero no siempre arranca igual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pic>
        <p:nvPicPr>
          <p:cNvPr id="9" name="Image 0" descr="/mnt/data/etapa3_assets/curva_p1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56737"/>
            <a:ext cx="5074920" cy="3061063"/>
          </a:xfrm>
          <a:prstGeom prst="rect">
            <a:avLst/>
          </a:prstGeom>
        </p:spPr>
      </p:pic>
      <p:pic>
        <p:nvPicPr>
          <p:cNvPr id="10" name="Image 1" descr="/mnt/data/etapa3_assets/curva_p3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904419"/>
            <a:ext cx="5074920" cy="27656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5532120"/>
            <a:ext cx="9692640" cy="621792"/>
          </a:xfrm>
          <a:prstGeom prst="roundRect">
            <a:avLst>
              <a:gd name="adj" fmla="val 11765"/>
            </a:avLst>
          </a:prstGeom>
          <a:solidFill>
            <a:srgbClr val="101E38"/>
          </a:solidFill>
          <a:ln w="12700">
            <a:solidFill>
              <a:srgbClr val="29D9D0"/>
            </a:solidFill>
          </a:ln>
        </p:spPr>
        <p:txBody>
          <a:bodyPr wrap="square" lIns="12801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régimen, ambos sentidos muestran velocidades parecidas. La diferencia importante aparece en el arranque: no basta con mirar la pendiente final.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502920" y="6172200"/>
            <a:ext cx="5486400" cy="201168"/>
          </a:xfrm>
          <a:prstGeom prst="roundRect">
            <a:avLst>
              <a:gd name="adj" fmla="val 18182"/>
            </a:avLst>
          </a:prstGeom>
          <a:solidFill>
            <a:srgbClr val="073B4C">
              <a:alpha val="90000"/>
            </a:srgbClr>
          </a:solidFill>
          <a:ln w="6350">
            <a:solidFill>
              <a:srgbClr val="1C7C8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9DEAE7"/>
                </a:solidFill>
              </a:rPr>
              <a:t>Materias: Sistemas de Control · Automatización · Análisis de datos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esp32-motorized-door-controller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1069848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Etapa 3 · 6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594360" y="411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Arranque marginal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9B8CC"/>
                </a:solidFill>
              </a:rPr>
              <a:t>PWM 70 no era lento: a veces tardaba en despegar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pic>
        <p:nvPicPr>
          <p:cNvPr id="9" name="Image 0" descr="/mnt/data/etapa3_assets/delay_arran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826236"/>
            <a:ext cx="6217920" cy="3717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0" y="1508760"/>
            <a:ext cx="4160520" cy="4297680"/>
          </a:xfrm>
          <a:prstGeom prst="roundRect">
            <a:avLst>
              <a:gd name="adj" fmla="val 1758"/>
            </a:avLst>
          </a:prstGeom>
          <a:solidFill>
            <a:srgbClr val="0D1830"/>
          </a:solidFill>
          <a:ln w="12700">
            <a:solidFill>
              <a:srgbClr val="F59E0B"/>
            </a:solidFill>
          </a:ln>
        </p:spPr>
        <p:txBody>
          <a:bodyPr wrap="square" lIns="21945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 clave</a:t>
            </a:r>
            <a:endParaRPr lang="en-US" sz="1620" dirty="0"/>
          </a:p>
          <a:p>
            <a:pPr indent="0" marL="0">
              <a:buNone/>
            </a:pP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PWM 70, POS_3 → POS_1 tuvo un retardo cercano a 0,95 s antes de que el travel empezara a crecer.</a:t>
            </a:r>
            <a:endParaRPr lang="en-US" sz="1620" dirty="0"/>
          </a:p>
          <a:p>
            <a:pPr indent="0" marL="0">
              <a:buNone/>
            </a:pP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vez que el motor se movió, la velocidad útil fue similar.</a:t>
            </a:r>
            <a:endParaRPr lang="en-US" sz="1620" dirty="0"/>
          </a:p>
          <a:p>
            <a:pPr indent="0" marL="0">
              <a:buNone/>
            </a:pP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Interpretación: fricción estática, zona muerta de arranque o condición mecánica puntual.</a:t>
            </a:r>
            <a:endParaRPr lang="en-US" sz="1620" dirty="0"/>
          </a:p>
        </p:txBody>
      </p:sp>
      <p:sp>
        <p:nvSpPr>
          <p:cNvPr id="11" name="Text 8"/>
          <p:cNvSpPr/>
          <p:nvPr/>
        </p:nvSpPr>
        <p:spPr>
          <a:xfrm>
            <a:off x="502920" y="6172200"/>
            <a:ext cx="5486400" cy="201168"/>
          </a:xfrm>
          <a:prstGeom prst="roundRect">
            <a:avLst>
              <a:gd name="adj" fmla="val 18182"/>
            </a:avLst>
          </a:prstGeom>
          <a:solidFill>
            <a:srgbClr val="073B4C">
              <a:alpha val="90000"/>
            </a:srgbClr>
          </a:solidFill>
          <a:ln w="6350">
            <a:solidFill>
              <a:srgbClr val="1C7C8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9DEAE7"/>
                </a:solidFill>
              </a:rPr>
              <a:t>Materias: Sistemas de Control · Automatización · Mecánica aplicada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esp32-motorized-door-controller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1069848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Etapa 3 · 7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594360" y="411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curva a la velocidad útil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9B8CC"/>
                </a:solidFill>
              </a:rPr>
              <a:t>La pendiente central evita contaminar el cálculo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212080"/>
            <a:ext cx="5029200" cy="0"/>
          </a:xfrm>
          <a:prstGeom prst="line">
            <a:avLst/>
          </a:prstGeom>
          <a:noFill/>
          <a:ln w="12700">
            <a:solidFill>
              <a:srgbClr val="8391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5212080"/>
            <a:ext cx="0" cy="-3383280"/>
          </a:xfrm>
          <a:prstGeom prst="line">
            <a:avLst/>
          </a:prstGeom>
          <a:noFill/>
          <a:ln w="12700">
            <a:solidFill>
              <a:srgbClr val="8391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5166360"/>
            <a:ext cx="914400" cy="-228600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4937760"/>
            <a:ext cx="2651760" cy="-2423160"/>
          </a:xfrm>
          <a:prstGeom prst="line">
            <a:avLst/>
          </a:prstGeom>
          <a:noFill/>
          <a:ln w="38100">
            <a:solidFill>
              <a:srgbClr val="29D9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514600"/>
            <a:ext cx="822960" cy="-16459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3949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D1830"/>
          </a:solidFill>
          <a:ln w="12700">
            <a:solidFill>
              <a:srgbClr val="F43F5E"/>
            </a:solidFill>
          </a:ln>
        </p:spPr>
        <p:txBody>
          <a:bodyPr wrap="square" lIns="73152" tIns="128016" rIns="128016" bIns="128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Arranque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usar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34640" y="53949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D1830"/>
          </a:solidFill>
          <a:ln w="12700">
            <a:solidFill>
              <a:srgbClr val="29D9D0"/>
            </a:solidFill>
          </a:ln>
        </p:spPr>
        <p:txBody>
          <a:bodyPr wrap="square" lIns="73152" tIns="128016" rIns="128016" bIns="128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 útil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 a 85%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539496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0D1830"/>
          </a:solidFill>
          <a:ln w="12700">
            <a:solidFill>
              <a:srgbClr val="F59E0B"/>
            </a:solidFill>
          </a:ln>
        </p:spPr>
        <p:txBody>
          <a:bodyPr wrap="square" lIns="73152" tIns="128016" rIns="128016" bIns="128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Llegada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1783080"/>
            <a:ext cx="4983480" cy="3063240"/>
          </a:xfrm>
          <a:prstGeom prst="roundRect">
            <a:avLst>
              <a:gd name="adj" fmla="val 2388"/>
            </a:avLst>
          </a:prstGeom>
          <a:solidFill>
            <a:srgbClr val="101E38"/>
          </a:solidFill>
          <a:ln w="12700">
            <a:solidFill>
              <a:srgbClr val="314568"/>
            </a:solidFill>
          </a:ln>
        </p:spPr>
        <p:txBody>
          <a:bodyPr wrap="square" lIns="21945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</a:t>
            </a:r>
            <a:endParaRPr lang="en-US" sz="1630" dirty="0"/>
          </a:p>
          <a:p>
            <a:pPr indent="0" marL="0">
              <a:buNone/>
            </a:pP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velocidad útil se estima con regresión lineal en la zona central de la curva. Así se evita mezclar el cálculo con retardo de arranque, inercia de llegada o muestras finales repetidas.</a:t>
            </a:r>
            <a:endParaRPr lang="en-US" sz="1630" dirty="0"/>
          </a:p>
        </p:txBody>
      </p:sp>
      <p:sp>
        <p:nvSpPr>
          <p:cNvPr id="18" name="Shape 16"/>
          <p:cNvSpPr/>
          <p:nvPr/>
        </p:nvSpPr>
        <p:spPr>
          <a:xfrm>
            <a:off x="6812280" y="5166360"/>
            <a:ext cx="4206240" cy="329184"/>
          </a:xfrm>
          <a:prstGeom prst="roundRect">
            <a:avLst>
              <a:gd name="adj" fmla="val 27778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5244084"/>
            <a:ext cx="4059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6202B"/>
                </a:solidFill>
              </a:rPr>
              <a:t>Pendiente de travel vs tiempo = velocidad útil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502920" y="6172200"/>
            <a:ext cx="5486400" cy="201168"/>
          </a:xfrm>
          <a:prstGeom prst="roundRect">
            <a:avLst>
              <a:gd name="adj" fmla="val 18182"/>
            </a:avLst>
          </a:prstGeom>
          <a:solidFill>
            <a:srgbClr val="073B4C">
              <a:alpha val="90000"/>
            </a:srgbClr>
          </a:solidFill>
          <a:ln w="6350">
            <a:solidFill>
              <a:srgbClr val="1C7C8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9DEAE7"/>
                </a:solidFill>
              </a:rPr>
              <a:t>Materias: Análisis de datos · Sistemas de Control · Programación Avanzada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esp32-motorized-door-controller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1069848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Etapa 3 · 8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594360" y="411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resumidos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9B8CC"/>
                </a:solidFill>
              </a:rPr>
              <a:t>PWM mayor produce mayor velocidad útil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54480"/>
            <a:ext cx="914400" cy="502920"/>
          </a:xfrm>
          <a:prstGeom prst="rect">
            <a:avLst/>
          </a:prstGeom>
          <a:solidFill>
            <a:srgbClr val="29D9D0"/>
          </a:solidFill>
          <a:ln w="7620">
            <a:solidFill>
              <a:srgbClr val="31456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202B"/>
                </a:solidFill>
              </a:rPr>
              <a:t>PWM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00200" y="1554480"/>
            <a:ext cx="1600200" cy="502920"/>
          </a:xfrm>
          <a:prstGeom prst="rect">
            <a:avLst/>
          </a:prstGeom>
          <a:solidFill>
            <a:srgbClr val="29D9D0"/>
          </a:solidFill>
          <a:ln w="7620">
            <a:solidFill>
              <a:srgbClr val="31456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202B"/>
                </a:solidFill>
              </a:rPr>
              <a:t>Vel. medida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00400" y="1554480"/>
            <a:ext cx="1600200" cy="502920"/>
          </a:xfrm>
          <a:prstGeom prst="rect">
            <a:avLst/>
          </a:prstGeom>
          <a:solidFill>
            <a:srgbClr val="29D9D0"/>
          </a:solidFill>
          <a:ln w="7620">
            <a:solidFill>
              <a:srgbClr val="31456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202B"/>
                </a:solidFill>
              </a:rPr>
              <a:t>Vel. modelo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2057400"/>
            <a:ext cx="914400" cy="502920"/>
          </a:xfrm>
          <a:prstGeom prst="rect">
            <a:avLst/>
          </a:prstGeom>
          <a:solidFill>
            <a:srgbClr val="0D1830"/>
          </a:solidFill>
          <a:ln w="7620">
            <a:solidFill>
              <a:srgbClr val="31456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7EEF9"/>
                </a:solidFill>
              </a:rPr>
              <a:t>70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2057400"/>
            <a:ext cx="1600200" cy="502920"/>
          </a:xfrm>
          <a:prstGeom prst="rect">
            <a:avLst/>
          </a:prstGeom>
          <a:solidFill>
            <a:srgbClr val="0D1830"/>
          </a:solidFill>
          <a:ln w="7620">
            <a:solidFill>
              <a:srgbClr val="31456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7EEF9"/>
                </a:solidFill>
              </a:rPr>
              <a:t>258,4 °/s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2057400"/>
            <a:ext cx="1600200" cy="502920"/>
          </a:xfrm>
          <a:prstGeom prst="rect">
            <a:avLst/>
          </a:prstGeom>
          <a:solidFill>
            <a:srgbClr val="0D1830"/>
          </a:solidFill>
          <a:ln w="7620">
            <a:solidFill>
              <a:srgbClr val="31456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7EEF9"/>
                </a:solidFill>
              </a:rPr>
              <a:t>258,7 °/s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2560320"/>
            <a:ext cx="914400" cy="502920"/>
          </a:xfrm>
          <a:prstGeom prst="rect">
            <a:avLst/>
          </a:prstGeom>
          <a:solidFill>
            <a:srgbClr val="101E38"/>
          </a:solidFill>
          <a:ln w="7620">
            <a:solidFill>
              <a:srgbClr val="31456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7EEF9"/>
                </a:solidFill>
              </a:rPr>
              <a:t>75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00200" y="2560320"/>
            <a:ext cx="1600200" cy="502920"/>
          </a:xfrm>
          <a:prstGeom prst="rect">
            <a:avLst/>
          </a:prstGeom>
          <a:solidFill>
            <a:srgbClr val="101E38"/>
          </a:solidFill>
          <a:ln w="7620">
            <a:solidFill>
              <a:srgbClr val="31456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7EEF9"/>
                </a:solidFill>
              </a:rPr>
              <a:t>284,1 °/s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0" y="2560320"/>
            <a:ext cx="1600200" cy="502920"/>
          </a:xfrm>
          <a:prstGeom prst="rect">
            <a:avLst/>
          </a:prstGeom>
          <a:solidFill>
            <a:srgbClr val="101E38"/>
          </a:solidFill>
          <a:ln w="7620">
            <a:solidFill>
              <a:srgbClr val="31456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7EEF9"/>
                </a:solidFill>
              </a:rPr>
              <a:t>283,5 °/s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063240"/>
            <a:ext cx="914400" cy="502920"/>
          </a:xfrm>
          <a:prstGeom prst="rect">
            <a:avLst/>
          </a:prstGeom>
          <a:solidFill>
            <a:srgbClr val="0D1830"/>
          </a:solidFill>
          <a:ln w="7620">
            <a:solidFill>
              <a:srgbClr val="31456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7EEF9"/>
                </a:solidFill>
              </a:rPr>
              <a:t>80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3063240"/>
            <a:ext cx="1600200" cy="502920"/>
          </a:xfrm>
          <a:prstGeom prst="rect">
            <a:avLst/>
          </a:prstGeom>
          <a:solidFill>
            <a:srgbClr val="0D1830"/>
          </a:solidFill>
          <a:ln w="7620">
            <a:solidFill>
              <a:srgbClr val="31456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7EEF9"/>
                </a:solidFill>
              </a:rPr>
              <a:t>308,1 °/s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00400" y="3063240"/>
            <a:ext cx="1600200" cy="502920"/>
          </a:xfrm>
          <a:prstGeom prst="rect">
            <a:avLst/>
          </a:prstGeom>
          <a:solidFill>
            <a:srgbClr val="0D1830"/>
          </a:solidFill>
          <a:ln w="7620">
            <a:solidFill>
              <a:srgbClr val="31456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7EEF9"/>
                </a:solidFill>
              </a:rPr>
              <a:t>308,4 °/s</a:t>
            </a:r>
            <a:endParaRPr lang="en-US" sz="1500" dirty="0"/>
          </a:p>
        </p:txBody>
      </p:sp>
      <p:pic>
        <p:nvPicPr>
          <p:cNvPr id="21" name="Image 0" descr="/mnt/data/etapa3_assets/modelo_lin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976328"/>
            <a:ext cx="5120640" cy="31339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1520" y="3977640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101E38"/>
          </a:solidFill>
          <a:ln w="12700">
            <a:solidFill>
              <a:srgbClr val="22C55E"/>
            </a:solidFill>
          </a:ln>
        </p:spPr>
        <p:txBody>
          <a:bodyPr wrap="square" lIns="21945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ajuste medido y el modelo prácticamente coinciden en el rango usado. Esto habilita una simulación inicial simple.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502920" y="6172200"/>
            <a:ext cx="5486400" cy="201168"/>
          </a:xfrm>
          <a:prstGeom prst="roundRect">
            <a:avLst>
              <a:gd name="adj" fmla="val 18182"/>
            </a:avLst>
          </a:prstGeom>
          <a:solidFill>
            <a:srgbClr val="073B4C">
              <a:alpha val="90000"/>
            </a:srgbClr>
          </a:solidFill>
          <a:ln w="6350">
            <a:solidFill>
              <a:srgbClr val="1C7C8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9DEAE7"/>
                </a:solidFill>
              </a:rPr>
              <a:t>Materias: Sistemas de Control · Análisis de datos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esp32-motorized-door-controller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1069848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Etapa 3 · 9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594360" y="411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planta identificado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9B8CC"/>
                </a:solidFill>
              </a:rPr>
              <a:t>Una aproximación simple para empezar a simular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0D1830"/>
          </a:solidFill>
          <a:ln w="12700">
            <a:solidFill>
              <a:srgbClr val="29D9D0"/>
            </a:solidFill>
          </a:ln>
        </p:spPr>
        <p:txBody>
          <a:bodyPr wrap="square" lIns="21945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propuesto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velocidad_deg_s = Kv · (PWM − PWM_dead)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travel(t) = ∫ velocidad_deg_s dt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101E38"/>
          </a:solidFill>
          <a:ln w="12700">
            <a:solidFill>
              <a:srgbClr val="22C55E"/>
            </a:solidFill>
          </a:ln>
        </p:spPr>
        <p:txBody>
          <a:bodyPr wrap="square" lIns="21945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 promedio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velocidad_deg_s ≈ 4,97 · (PWM − 18)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1600200"/>
            <a:ext cx="4983480" cy="3886200"/>
          </a:xfrm>
          <a:prstGeom prst="roundRect">
            <a:avLst>
              <a:gd name="adj" fmla="val 1882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21945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Interpretación</a:t>
            </a:r>
            <a:endParaRPr lang="en-US" sz="1620" dirty="0"/>
          </a:p>
          <a:p>
            <a:pPr indent="0" marL="0">
              <a:buNone/>
            </a:pP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PWM_dead ≈ zona muerta promedio.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Kv ≈ ganancia de velocidad.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modelo describe bien el régimen, pero no reemplaza la validación física.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Conviene separar arranque y movimiento en régimen.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502920" y="6172200"/>
            <a:ext cx="5486400" cy="201168"/>
          </a:xfrm>
          <a:prstGeom prst="roundRect">
            <a:avLst>
              <a:gd name="adj" fmla="val 18182"/>
            </a:avLst>
          </a:prstGeom>
          <a:solidFill>
            <a:srgbClr val="073B4C">
              <a:alpha val="90000"/>
            </a:srgbClr>
          </a:solidFill>
          <a:ln w="6350">
            <a:solidFill>
              <a:srgbClr val="1C7C8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9DEAE7"/>
                </a:solidFill>
              </a:rPr>
              <a:t>Materias: Sistemas de Control · Modelado · Proyecto Final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esp32-motorized-door-controller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1069848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Etapa 3 · 10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594360" y="411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Implicancias para PD/PID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9B8CC"/>
                </a:solidFill>
              </a:rPr>
              <a:t>No implementar todavía: simular primero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002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0D1830"/>
          </a:solidFill>
          <a:ln w="12700">
            <a:solidFill>
              <a:srgbClr val="22C55E"/>
            </a:solidFill>
          </a:ln>
        </p:spPr>
        <p:txBody>
          <a:bodyPr wrap="square" lIns="21945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· Proporcional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grande → más esfuerzo.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Cerca del objetivo → menos salida.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370832" y="16002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0D1830"/>
          </a:solidFill>
          <a:ln w="12700">
            <a:solidFill>
              <a:srgbClr val="F59E0B"/>
            </a:solidFill>
          </a:ln>
        </p:spPr>
        <p:txBody>
          <a:bodyPr wrap="square" lIns="21945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· Derivativo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Amortigua por velocidad.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reducir sobrepaso al acercarse.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028432" y="16002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0D1830"/>
          </a:solidFill>
          <a:ln w="12700">
            <a:solidFill>
              <a:srgbClr val="8B5CF6"/>
            </a:solidFill>
          </a:ln>
        </p:spPr>
        <p:txBody>
          <a:bodyPr wrap="square" lIns="219456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· Integral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Corrige error persistente.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tener límites y anti-windup.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143000" y="5166360"/>
            <a:ext cx="9921240" cy="777240"/>
          </a:xfrm>
          <a:prstGeom prst="roundRect">
            <a:avLst>
              <a:gd name="adj" fmla="val 9412"/>
            </a:avLst>
          </a:prstGeom>
          <a:solidFill>
            <a:srgbClr val="101E38"/>
          </a:solidFill>
          <a:ln w="12700">
            <a:solidFill>
              <a:srgbClr val="29D9D0"/>
            </a:solidFill>
          </a:ln>
        </p:spPr>
        <p:txBody>
          <a:bodyPr wrap="square" lIns="182880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 conservadora: comenzar con PD, Ki=0, y sumar integral pequeña solo si luego queda justificado por las pruebas.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6172200"/>
            <a:ext cx="5486400" cy="201168"/>
          </a:xfrm>
          <a:prstGeom prst="roundRect">
            <a:avLst>
              <a:gd name="adj" fmla="val 18182"/>
            </a:avLst>
          </a:prstGeom>
          <a:solidFill>
            <a:srgbClr val="073B4C">
              <a:alpha val="90000"/>
            </a:srgbClr>
          </a:solidFill>
          <a:ln w="6350">
            <a:solidFill>
              <a:srgbClr val="1C7C8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9DEAE7"/>
                </a:solidFill>
              </a:rPr>
              <a:t>Materias: Sistemas de Control · Programación Avanzada · Proyecto Final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esp32-motorized-door-controller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1069848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Etapa 3 · 11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594360" y="411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simulación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9B8CC"/>
                </a:solidFill>
              </a:rPr>
              <a:t>Probar control sobre el modelo antes de tocar la baseline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84832"/>
            <a:ext cx="530352" cy="530352"/>
          </a:xfrm>
          <a:prstGeom prst="ellipse">
            <a:avLst/>
          </a:prstGeom>
          <a:solidFill>
            <a:srgbClr val="22C55E"/>
          </a:solidFill>
          <a:ln w="1397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81635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Target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157–160°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34440" y="2350008"/>
            <a:ext cx="132588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560320" y="2084832"/>
            <a:ext cx="530352" cy="530352"/>
          </a:xfrm>
          <a:prstGeom prst="ellipse">
            <a:avLst/>
          </a:prstGeom>
          <a:solidFill>
            <a:srgbClr val="3B82F6"/>
          </a:solidFill>
          <a:ln w="1397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281635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dt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0,005–0,010 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08960" y="2350008"/>
            <a:ext cx="132588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434840" y="2084832"/>
            <a:ext cx="530352" cy="530352"/>
          </a:xfrm>
          <a:prstGeom prst="ellipse">
            <a:avLst/>
          </a:prstGeom>
          <a:solidFill>
            <a:srgbClr val="29D9D0"/>
          </a:solidFill>
          <a:ln w="1397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9080" y="281635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Modelo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PWM → velocidad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83480" y="2350008"/>
            <a:ext cx="132588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309360" y="2084832"/>
            <a:ext cx="530352" cy="530352"/>
          </a:xfrm>
          <a:prstGeom prst="ellipse">
            <a:avLst/>
          </a:prstGeom>
          <a:solidFill>
            <a:srgbClr val="F59E0B"/>
          </a:solidFill>
          <a:ln w="1397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281635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Saturación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PWM máximo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0" y="2350008"/>
            <a:ext cx="132588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183880" y="2084832"/>
            <a:ext cx="530352" cy="530352"/>
          </a:xfrm>
          <a:prstGeom prst="ellipse">
            <a:avLst/>
          </a:prstGeom>
          <a:solidFill>
            <a:srgbClr val="8B5CF6"/>
          </a:solidFill>
          <a:ln w="1397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18120" y="281635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PD primero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Ki=0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732520" y="2350008"/>
            <a:ext cx="1325880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0058400" y="2084832"/>
            <a:ext cx="530352" cy="530352"/>
          </a:xfrm>
          <a:prstGeom prst="ellipse">
            <a:avLst/>
          </a:prstGeom>
          <a:solidFill>
            <a:srgbClr val="F43F5E"/>
          </a:solidFill>
          <a:ln w="1397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92640" y="281635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Validar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hardware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" y="4160520"/>
            <a:ext cx="10332720" cy="1234440"/>
          </a:xfrm>
          <a:prstGeom prst="roundRect">
            <a:avLst>
              <a:gd name="adj" fmla="val 5926"/>
            </a:avLst>
          </a:prstGeom>
          <a:solidFill>
            <a:srgbClr val="101E38"/>
          </a:solidFill>
          <a:ln w="12700">
            <a:solidFill>
              <a:srgbClr val="314568"/>
            </a:solidFill>
          </a:ln>
        </p:spPr>
        <p:txBody>
          <a:bodyPr wrap="square" lIns="237744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firmware validado no debe tocarse hasta tener curvas simuladas razonables y constantes iniciales conservadoras. La futura implementación puede entrar como motion_mode=2, conservando motion_mode=0 como baseline.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2920" y="6172200"/>
            <a:ext cx="5486400" cy="201168"/>
          </a:xfrm>
          <a:prstGeom prst="roundRect">
            <a:avLst>
              <a:gd name="adj" fmla="val 18182"/>
            </a:avLst>
          </a:prstGeom>
          <a:solidFill>
            <a:srgbClr val="073B4C">
              <a:alpha val="90000"/>
            </a:srgbClr>
          </a:solidFill>
          <a:ln w="6350">
            <a:solidFill>
              <a:srgbClr val="1C7C8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9DEAE7"/>
                </a:solidFill>
              </a:rPr>
              <a:t>Materias: Sistemas de Control · Simulación · Programación Avanzada · Proyecto Final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28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esp32-motorized-door-controller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1069848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F819A"/>
                </a:solidFill>
              </a:rPr>
              <a:t>Etapa 3 · 12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594360" y="411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etapa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686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A9B8CC"/>
                </a:solidFill>
              </a:rPr>
              <a:t>La planta ya tiene una primera descripción medible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594360" y="1188720"/>
            <a:ext cx="1101852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0D1830"/>
          </a:solidFill>
          <a:ln w="12700">
            <a:solidFill>
              <a:srgbClr val="22C55E"/>
            </a:solidFill>
          </a:ln>
        </p:spPr>
        <p:txBody>
          <a:bodyPr wrap="square" lIns="228600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Plotter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reales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953512" y="182880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0D1830"/>
          </a:solidFill>
          <a:ln w="12700">
            <a:solidFill>
              <a:srgbClr val="3B82F6"/>
            </a:solidFill>
          </a:ln>
        </p:spPr>
        <p:txBody>
          <a:bodyPr wrap="square" lIns="228600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Curvas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vs tiempo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221224" y="182880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0D1830"/>
          </a:solidFill>
          <a:ln w="12700">
            <a:solidFill>
              <a:srgbClr val="29D9D0"/>
            </a:solidFill>
          </a:ln>
        </p:spPr>
        <p:txBody>
          <a:bodyPr wrap="square" lIns="228600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Velocidad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 útil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488936" y="182880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0D1830"/>
          </a:solidFill>
          <a:ln w="12700">
            <a:solidFill>
              <a:srgbClr val="F59E0B"/>
            </a:solidFill>
          </a:ln>
        </p:spPr>
        <p:txBody>
          <a:bodyPr wrap="square" lIns="228600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PWM → velocidad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756648" y="1828800"/>
            <a:ext cx="1783080" cy="1874520"/>
          </a:xfrm>
          <a:prstGeom prst="roundRect">
            <a:avLst>
              <a:gd name="adj" fmla="val 4103"/>
            </a:avLst>
          </a:prstGeom>
          <a:solidFill>
            <a:srgbClr val="0D1830"/>
          </a:solidFill>
          <a:ln w="12700">
            <a:solidFill>
              <a:srgbClr val="8B5CF6"/>
            </a:solidFill>
          </a:ln>
        </p:spPr>
        <p:txBody>
          <a:bodyPr wrap="square" lIns="228600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Simulación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decisión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4754880"/>
            <a:ext cx="10149840" cy="914400"/>
          </a:xfrm>
          <a:prstGeom prst="roundRect">
            <a:avLst>
              <a:gd name="adj" fmla="val 8000"/>
            </a:avLst>
          </a:prstGeom>
          <a:solidFill>
            <a:srgbClr val="101E38"/>
          </a:solidFill>
          <a:ln w="12700">
            <a:solidFill>
              <a:srgbClr val="29D9D0"/>
            </a:solidFill>
          </a:ln>
        </p:spPr>
        <p:txBody>
          <a:bodyPr wrap="square" lIns="182880" tIns="256032" rIns="256032" bIns="128016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etapa demuestra que el problema de control ya puede tratarse con datos: no se trata de adivinar parámetros, sino de medir la planta, modelar lo dominante y preparar una implementación conservadora.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" y="6172200"/>
            <a:ext cx="5486400" cy="201168"/>
          </a:xfrm>
          <a:prstGeom prst="roundRect">
            <a:avLst>
              <a:gd name="adj" fmla="val 18182"/>
            </a:avLst>
          </a:prstGeom>
          <a:solidFill>
            <a:srgbClr val="073B4C">
              <a:alpha val="90000"/>
            </a:srgbClr>
          </a:solidFill>
          <a:ln w="6350">
            <a:solidFill>
              <a:srgbClr val="1C7C8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9DEAE7"/>
                </a:solidFill>
              </a:rPr>
              <a:t>Materias: Integración de competencias · Sistemas de Control · Proyecto Final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esp32-motorized-door-controller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3 - Identificación de planta y preparación PD/PID</dc:title>
  <dc:subject>Etapa 3 - Identificación de planta</dc:subject>
  <dc:creator>OpenAI</dc:creator>
  <cp:lastModifiedBy>OpenAI</cp:lastModifiedBy>
  <cp:revision>1</cp:revision>
  <dcterms:created xsi:type="dcterms:W3CDTF">2026-08-08T21:57:19Z</dcterms:created>
  <dcterms:modified xsi:type="dcterms:W3CDTF">2026-08-08T21:57:19Z</dcterms:modified>
</cp:coreProperties>
</file>