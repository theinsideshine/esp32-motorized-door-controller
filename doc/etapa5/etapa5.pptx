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4D0"/>
                </a:solidFill>
              </a:rPr>
              <a:t>Etapa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7863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Motor nuevo, LED 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revisión del controlador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0665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</a:rPr>
              <a:t>Un caso real de I+D: observar un síntoma, aislar causas y revisar una decisión previa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7040880" cy="2029968"/>
          </a:xfrm>
          <a:prstGeom prst="roundRect">
            <a:avLst>
              <a:gd name="adj" fmla="val 5405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99232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067812"/>
            <a:ext cx="1581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RESUMEN DE LA ETAPA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8FAFC"/>
                </a:solidFill>
              </a:rPr>
              <a:t>Después de reemplazar el N20, aparecieron dos síntomas simultáneos: un tironeo físico cerca de la llegada y un cambio visual errático en la tira LED. El análisis mostró que no eran fallas independientes: ambos seguían una inversión breve de sentido generada por el control.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731520" y="44256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20C46B"/>
                </a:solidFill>
              </a:rPr>
              <a:t>Resultado: Kp se conserva, Ki y Kd se anulan, y el LED queda como evidencia visual del diagnóstico.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641080" y="868680"/>
            <a:ext cx="2697480" cy="4983480"/>
          </a:xfrm>
          <a:prstGeom prst="roundRect">
            <a:avLst>
              <a:gd name="adj" fmla="val 4068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15400" y="11430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07424" y="1527048"/>
            <a:ext cx="0" cy="438912"/>
          </a:xfrm>
          <a:prstGeom prst="line">
            <a:avLst/>
          </a:prstGeom>
          <a:noFill/>
          <a:ln w="15240">
            <a:solidFill>
              <a:srgbClr val="7C8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4272" y="125272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491472" y="1216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Síntoma doble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8915400" y="201168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2395728"/>
            <a:ext cx="0" cy="438912"/>
          </a:xfrm>
          <a:prstGeom prst="line">
            <a:avLst/>
          </a:prstGeom>
          <a:noFill/>
          <a:ln w="15240">
            <a:solidFill>
              <a:srgbClr val="7C8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212140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491472" y="2084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Descartes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8915400" y="288036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07424" y="3264408"/>
            <a:ext cx="0" cy="438912"/>
          </a:xfrm>
          <a:prstGeom prst="line">
            <a:avLst/>
          </a:prstGeom>
          <a:noFill/>
          <a:ln w="15240">
            <a:solidFill>
              <a:srgbClr val="7C8A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34272" y="29900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491472" y="2953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Plotter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8915400" y="3749040"/>
            <a:ext cx="384048" cy="384048"/>
          </a:xfrm>
          <a:prstGeom prst="ellipse">
            <a:avLst/>
          </a:prstGeom>
          <a:solidFill>
            <a:srgbClr val="20C46B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07424" y="4133088"/>
            <a:ext cx="0" cy="438912"/>
          </a:xfrm>
          <a:prstGeom prst="line">
            <a:avLst/>
          </a:prstGeom>
          <a:noFill/>
          <a:ln w="15240">
            <a:solidFill>
              <a:srgbClr val="7C8A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34272" y="385876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491472" y="3822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Causa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8915400" y="4617720"/>
            <a:ext cx="384048" cy="384048"/>
          </a:xfrm>
          <a:prstGeom prst="ellipse">
            <a:avLst/>
          </a:prstGeom>
          <a:solidFill>
            <a:srgbClr val="2BD4D0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4272" y="47274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491472" y="4690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8FAFC"/>
                </a:solidFill>
              </a:rPr>
              <a:t>Decisión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Programación Avanzada · Electrónica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1. Contexto: la planta cambió y apareció un síntoma doble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El motor nuevo no fallaba: cambió la respuesta física que veía el controlador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48006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etapa5_assets/case_cover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45" y="1380744"/>
            <a:ext cx="4633831" cy="28620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0" y="1325880"/>
            <a:ext cx="2697480" cy="2971800"/>
          </a:xfrm>
          <a:prstGeom prst="roundRect">
            <a:avLst>
              <a:gd name="adj" fmla="val 4068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1600200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44184" y="166878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MOTOR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5989320" y="20574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Tironeo físico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989320" y="2697480"/>
            <a:ext cx="20574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F8FAFC"/>
                </a:solidFill>
              </a:rPr>
              <a:t>La puerta llegaba.</a:t>
            </a:r>
            <a:endParaRPr lang="en-US" sz="1080" dirty="0"/>
          </a:p>
          <a:p>
            <a:r>
              <a:rPr lang="en-US" sz="1080" dirty="0">
                <a:solidFill>
                  <a:srgbClr val="F8FAFC"/>
                </a:solidFill>
              </a:rPr>
              <a:t>No aparecía stall.</a:t>
            </a:r>
            <a:endParaRPr lang="en-US" sz="1080" dirty="0"/>
          </a:p>
          <a:p>
            <a:r>
              <a:rPr lang="en-US" sz="1080" dirty="0">
                <a:solidFill>
                  <a:srgbClr val="F8FAFC"/>
                </a:solidFill>
              </a:rPr>
              <a:t>Pero cerca del target se veía una patada o contramarcha.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732520" y="1325880"/>
            <a:ext cx="2697480" cy="2971800"/>
          </a:xfrm>
          <a:prstGeom prst="roundRect">
            <a:avLst>
              <a:gd name="adj" fmla="val 4068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06840" y="1600200"/>
            <a:ext cx="59436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61704" y="1668780"/>
            <a:ext cx="484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LED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9006840" y="20574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Cambio visual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006840" y="2697480"/>
            <a:ext cx="20574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F8FAFC"/>
                </a:solidFill>
              </a:rPr>
              <a:t>La animación parecía errática.</a:t>
            </a:r>
            <a:endParaRPr lang="en-US" sz="1080" dirty="0"/>
          </a:p>
          <a:p>
            <a:r>
              <a:rPr lang="en-US" sz="1080" dirty="0">
                <a:solidFill>
                  <a:srgbClr val="F8FAFC"/>
                </a:solidFill>
              </a:rPr>
              <a:t>El salto visual coincidía con el tironeo.</a:t>
            </a:r>
            <a:endParaRPr lang="en-US" sz="1080" dirty="0"/>
          </a:p>
          <a:p>
            <a:r>
              <a:rPr lang="en-US" sz="1080" dirty="0">
                <a:solidFill>
                  <a:srgbClr val="F8FAFC"/>
                </a:solidFill>
              </a:rPr>
              <a:t>Al inicio no sabíamos si era causa o síntoma.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22960" y="484632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3A2207"/>
          </a:solidFill>
          <a:ln w="1016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5074920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E68A"/>
                </a:solidFill>
              </a:rPr>
              <a:t>Punto de partida: el LED se observa desde el comienzo junto con el tironeo; todavía no se interpreta como causa.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Automatización · Sistemas de Control · Diagnóstico experimental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2. Primeras hipótesis: no asumir la causa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0">
                <a:solidFill>
                  <a:srgbClr val="AAB7CC"/>
                </a:solidFill>
                <a:latin typeface="Aptos"/>
              </a:rPr>
              <a:t>El cambio de motor ocurrió mientras se integraba la tira LED: no había que culpar al primer síntoma visible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554480"/>
            <a:ext cx="2331720" cy="3154680"/>
          </a:xfrm>
          <a:prstGeom prst="roundRect">
            <a:avLst>
              <a:gd name="adj" fmla="val 4706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69848" y="1828800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24712" y="1897380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Alimentación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1069848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VM, GND, capacitor, caída de tensión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1554480"/>
            <a:ext cx="2331720" cy="3154680"/>
          </a:xfrm>
          <a:prstGeom prst="roundRect">
            <a:avLst>
              <a:gd name="adj" fmla="val 4706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858768" y="1828800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13632" y="1897380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LED / integración</a:t>
            </a:r>
          </a:p>
        </p:txBody>
      </p:sp>
      <p:sp>
        <p:nvSpPr>
          <p:cNvPr id="15" name="Text 13"/>
          <p:cNvSpPr/>
          <p:nvPr/>
        </p:nvSpPr>
        <p:spPr>
          <a:xfrm>
            <a:off x="3858768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600" b="0">
                <a:solidFill>
                  <a:srgbClr val="F5F8FF"/>
                </a:solidFill>
                <a:latin typeface="Aptos"/>
              </a:rPr>
              <a:t>La WS2812B se estaba agregando al firmware. Podía interferir, o podía estar mostrando un estado real.</a:t>
            </a:r>
          </a:p>
        </p:txBody>
      </p:sp>
      <p:sp>
        <p:nvSpPr>
          <p:cNvPr id="16" name="Shape 14"/>
          <p:cNvSpPr/>
          <p:nvPr/>
        </p:nvSpPr>
        <p:spPr>
          <a:xfrm>
            <a:off x="6355080" y="1554480"/>
            <a:ext cx="2331720" cy="3154680"/>
          </a:xfrm>
          <a:prstGeom prst="roundRect">
            <a:avLst>
              <a:gd name="adj" fmla="val 4706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47688" y="1828800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20C46B"/>
          </a:solidFill>
          <a:ln w="12700">
            <a:solidFill>
              <a:srgbClr val="20C46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02552" y="1897380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Motor nuevo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6647688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Reductora, rozamiento, montaje o sensibilidad mecánica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1554480"/>
            <a:ext cx="2331720" cy="3154680"/>
          </a:xfrm>
          <a:prstGeom prst="roundRect">
            <a:avLst>
              <a:gd name="adj" fmla="val 4706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436608" y="1828800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91472" y="1897380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Control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9436608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Salida PD, signo de dirección y PWM mínimo efectivo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3492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500" b="1">
                <a:solidFill>
                  <a:srgbClr val="28E0D6"/>
                </a:solidFill>
                <a:latin typeface="Aptos"/>
              </a:rPr>
              <a:t>Templanza de I+D: cuando el firmware todavía está en integración, no se corrige “a ojo”; se separan fenómenos y se vuelve a una base conocida.</a:t>
            </a:r>
          </a:p>
        </p:txBody>
      </p:sp>
      <p:sp>
        <p:nvSpPr>
          <p:cNvPr id="25" name="Shape 23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Proyecto Final · Electrónica · Programación Avanzada</a:t>
            </a:r>
            <a:endParaRPr lang="en-US" sz="780" dirty="0"/>
          </a:p>
        </p:txBody>
      </p:sp>
      <p:sp>
        <p:nvSpPr>
          <p:cNvPr id="27" name="Rounded Rectangle 26"/>
          <p:cNvSpPr/>
          <p:nvPr/>
        </p:nvSpPr>
        <p:spPr>
          <a:xfrm>
            <a:off x="777240" y="1261872"/>
            <a:ext cx="10698480" cy="420624"/>
          </a:xfrm>
          <a:prstGeom prst="roundRect">
            <a:avLst/>
          </a:prstGeom>
          <a:solidFill>
            <a:srgbClr val="351F00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FFE799"/>
                </a:solidFill>
                <a:latin typeface="Aptos"/>
              </a:rPr>
              <a:t>Contexto real: motor nuevo + LED en desarrollo + firmware no estabilizado ⇒ había que aislar antes de decidir.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3. Descartes: LED y alimentación no explicaban el tironeo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El LED seguía siendo una pista, pero no era la causa primaria del movimiento físico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4160520" cy="452628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etapa5_assets/anexo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1289304"/>
            <a:ext cx="3312414" cy="44165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74920" y="1234440"/>
            <a:ext cx="2926080" cy="4526280"/>
          </a:xfrm>
          <a:prstGeom prst="roundRect">
            <a:avLst>
              <a:gd name="adj" fmla="val 3750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9240" y="1517904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4104" y="1586484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PRUEBAS LED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5376672" y="2057400"/>
            <a:ext cx="22402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40" dirty="0">
                <a:solidFill>
                  <a:srgbClr val="F8FAFC"/>
                </a:solidFill>
              </a:rPr>
              <a:t>Con LED apagado, el motor siguió tironeando.</a:t>
            </a:r>
            <a:endParaRPr lang="en-US" sz="1140" dirty="0"/>
          </a:p>
          <a:p>
            <a:r>
              <a:rPr lang="en-US" sz="1140" dirty="0">
                <a:solidFill>
                  <a:srgbClr val="F8FAFC"/>
                </a:solidFill>
              </a:rPr>
              <a:t>Con led-sim y motor sin VM, la animación era fluida.</a:t>
            </a:r>
            <a:endParaRPr lang="en-US" sz="1140" dirty="0"/>
          </a:p>
          <a:p>
            <a:r>
              <a:rPr lang="en-US" sz="1140" dirty="0">
                <a:solidFill>
                  <a:srgbClr val="F8FAFC"/>
                </a:solidFill>
              </a:rPr>
              <a:t>La tira no generaba la falla mecánica.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8412480" y="1234440"/>
            <a:ext cx="2834640" cy="4526280"/>
          </a:xfrm>
          <a:prstGeom prst="roundRect">
            <a:avLst>
              <a:gd name="adj" fmla="val 3871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0" y="1517904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41664" y="1586484"/>
            <a:ext cx="11247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ALIMENTACIÓN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8714232" y="2057400"/>
            <a:ext cx="214884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40" dirty="0">
                <a:solidFill>
                  <a:srgbClr val="F8FAFC"/>
                </a:solidFill>
              </a:rPr>
              <a:t>Se probó desacople con capacitor.</a:t>
            </a:r>
            <a:endParaRPr lang="en-US" sz="1140" dirty="0"/>
          </a:p>
          <a:p>
            <a:r>
              <a:rPr lang="en-US" sz="1140" dirty="0">
                <a:solidFill>
                  <a:srgbClr val="F8FAFC"/>
                </a:solidFill>
              </a:rPr>
              <a:t>El síntoma no desapareció.</a:t>
            </a:r>
            <a:endParaRPr lang="en-US" sz="1140" dirty="0"/>
          </a:p>
          <a:p>
            <a:r>
              <a:rPr lang="en-US" sz="1140" dirty="0">
                <a:solidFill>
                  <a:srgbClr val="F8FAFC"/>
                </a:solidFill>
              </a:rPr>
              <a:t>Queda útil como mejora eléctrica, pero no explica la causa.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68680" y="589788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DE68A"/>
                </a:solidFill>
              </a:rPr>
              <a:t>Conclusión intermedia: el LED seguía mostrando algo real, pero el origen debía buscarse en la orden de movimiento.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Electrónica I/II/III · Diagnóstico experimental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4. PWM fijo: la planta podía moverse suave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Al sacar el cálculo PD, el motor nuevo y la mecánica no mostraron tironeo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etapa5_assets/pwm_fixed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62974"/>
            <a:ext cx="5285232" cy="11203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37033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11" name="Image 1" descr="/mnt/data/etapa5_assets/traj_pwm_vs_p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62" y="3758184"/>
            <a:ext cx="3763437" cy="19019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1417320"/>
            <a:ext cx="4983480" cy="4297680"/>
          </a:xfrm>
          <a:prstGeom prst="roundRect">
            <a:avLst>
              <a:gd name="adj" fmla="val 2553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675120" y="170078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20C46B"/>
          </a:solidFill>
          <a:ln w="12700">
            <a:solidFill>
              <a:srgbClr val="20C46B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29984" y="1769364"/>
            <a:ext cx="6675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LECTURA</a:t>
            </a:r>
            <a:endParaRPr lang="en-US" sz="790" dirty="0"/>
          </a:p>
        </p:txBody>
      </p:sp>
      <p:sp>
        <p:nvSpPr>
          <p:cNvPr id="15" name="Text 11"/>
          <p:cNvSpPr/>
          <p:nvPr/>
        </p:nvSpPr>
        <p:spPr>
          <a:xfrm>
            <a:off x="6675120" y="21488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La falla no estaba en “el motor nuevo” aislado.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720840" y="2880360"/>
            <a:ext cx="42519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F8FAFC"/>
                </a:solidFill>
              </a:rPr>
              <a:t>motion_mode=0 con PWM fijo resultó visualmente suave.</a:t>
            </a:r>
            <a:endParaRPr lang="en-US" sz="1210" dirty="0"/>
          </a:p>
          <a:p>
            <a:r>
              <a:rPr lang="en-US" sz="1210" dirty="0">
                <a:solidFill>
                  <a:srgbClr val="F8FAFC"/>
                </a:solidFill>
              </a:rPr>
              <a:t>Llegó a POS_1, POS_2 y POS_3 sin tironeo.</a:t>
            </a:r>
            <a:endParaRPr lang="en-US" sz="1210" dirty="0"/>
          </a:p>
          <a:p>
            <a:r>
              <a:rPr lang="en-US" sz="1210" dirty="0">
                <a:solidFill>
                  <a:srgbClr val="F8FAFC"/>
                </a:solidFill>
              </a:rPr>
              <a:t>Se debilitó la hipótesis de falla intrínseca del motor, reductor, driver o cableado.</a:t>
            </a:r>
            <a:endParaRPr lang="en-US" sz="1210" dirty="0"/>
          </a:p>
          <a:p>
            <a:r>
              <a:rPr lang="en-US" sz="1210" dirty="0">
                <a:solidFill>
                  <a:srgbClr val="F8FAFC"/>
                </a:solidFill>
              </a:rPr>
              <a:t>El problema apareció al sumar el cálculo PD.</a:t>
            </a:r>
            <a:endParaRPr lang="en-US" sz="1210" dirty="0"/>
          </a:p>
        </p:txBody>
      </p:sp>
      <p:sp>
        <p:nvSpPr>
          <p:cNvPr id="17" name="Shape 13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Automatización · Ensayo experimental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5. El resumen final no alcanzaba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El AUTO SUMMARY decía “llegó”; no guardaba la historia de cada ciclo de control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166360" cy="4069080"/>
          </a:xfrm>
          <a:prstGeom prst="roundRect">
            <a:avLst>
              <a:gd name="adj" fmla="val 2697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00784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0C46B"/>
          </a:solidFill>
          <a:ln w="12700">
            <a:solidFill>
              <a:srgbClr val="20C4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769364"/>
            <a:ext cx="11247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SUMMARY FINAL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Útil para validar la llegada.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43891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F8FAFC"/>
                </a:solidFill>
              </a:rPr>
              <a:t>reason = posicion_alcanzada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stall_count = 0/3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tiempo total y error final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último estado observado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166360" cy="4069080"/>
          </a:xfrm>
          <a:prstGeom prst="roundRect">
            <a:avLst>
              <a:gd name="adj" fmla="val 2697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700784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769364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FALTABA VER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653796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La secuencia interna.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788920"/>
            <a:ext cx="43891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F8FAFC"/>
                </a:solidFill>
              </a:rPr>
              <a:t>PWM de cada ciclo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dirección comandada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posición cada 5 ms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reversiones breves cerca de la llegada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74243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Conclusión didáctica: una métrica agregada puede ocultar un problema transitorio.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Instrumentación · Programación · Sistemas de Control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6. El Plotter reveló la inversión de sentido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Con Kd=0,05 apareció un retroceso acumulado de 1,63° cerca de la llegada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etapa5_assets/pd_reversal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97454"/>
            <a:ext cx="5239512" cy="278877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3258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11" name="Image 1" descr="/mnt/data/etapa5_assets/delta_nega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995897"/>
            <a:ext cx="5239512" cy="25918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560527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8FAFC"/>
                </a:solidFill>
              </a:rPr>
              <a:t>La evidencia dejó de ser “se siente raro” y pasó a ser una medición: tres incrementos negativos consecutivos en la zona de llegada.</a:t>
            </a:r>
            <a:endParaRPr lang="en-US" sz="1420" dirty="0"/>
          </a:p>
        </p:txBody>
      </p:sp>
      <p:sp>
        <p:nvSpPr>
          <p:cNvPr id="13" name="Shape 9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Análisis de datos · Sistemas de Control · Instrumentación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7. Relectura del LED: no era causa, era evidencia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Después de identificar la inversión, el LED permitió confirmar que seguía la orden de sentido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743200"/>
            <a:ext cx="1463040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743200"/>
            <a:ext cx="1463040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0" y="2743200"/>
            <a:ext cx="1463040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7240" y="214884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240280"/>
            <a:ext cx="1499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Kd=0,05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puede invertir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el signo de u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3154680" y="214884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2240280"/>
            <a:ext cx="1499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DoorMotor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cambia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de sentido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5532120" y="214884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272" y="2240280"/>
            <a:ext cx="14996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Puente H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manda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contramarcha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7909560" y="214884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20C46B"/>
          </a:solidFill>
          <a:ln w="12700">
            <a:solidFill>
              <a:srgbClr val="C7D2FE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240280"/>
            <a:ext cx="17739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LED usa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el mismo estado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MOVING_FWD/RWD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12680" y="160020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0243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87000" y="18745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41864" y="1943100"/>
            <a:ext cx="6675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CÓDIGO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10222992" y="2331720"/>
            <a:ext cx="1261872" cy="1024128"/>
          </a:xfrm>
          <a:prstGeom prst="rect">
            <a:avLst/>
          </a:prstGeom>
          <a:solidFill>
            <a:srgbClr val="061324"/>
          </a:solidFill>
          <a:ln w="10160">
            <a:solidFill>
              <a:srgbClr val="31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2450592"/>
            <a:ext cx="10424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motor == RIGHT: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LED_RWD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motor == LEFT: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LED_FWD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31520" y="434340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073B2A"/>
          </a:solidFill>
          <a:ln w="10160">
            <a:solidFill>
              <a:srgbClr val="20C46B">
                <a:alpha val="9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64515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C6F7D6"/>
                </a:solidFill>
              </a:rPr>
              <a:t>Conclusión: el salto visual y la patada mecánica no eran causa y efecto. Ambos expresaban la misma inversión breve de sentido comandada al puente H.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1417320" y="5559552"/>
            <a:ext cx="9509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A8B3C7"/>
                </a:solidFill>
              </a:rPr>
              <a:t>Esta explicación solo apareció después de observar, descartar, instrumentar y medir.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Programación Avanzada · Electrónica · Sistemas de Control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8. Interpretación: una salida pequeña se volvió contramarcha real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La combinación D + signo de salida + PWM mínimo efectivo amplificó un cambio breve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4983480" cy="4434840"/>
          </a:xfrm>
          <a:prstGeom prst="roundRect">
            <a:avLst>
              <a:gd name="adj" fmla="val 2474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6420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732788"/>
            <a:ext cx="9418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MECANISMO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1005840" y="21579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u = P + 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2651760"/>
            <a:ext cx="4251960" cy="1143000"/>
          </a:xfrm>
          <a:prstGeom prst="rect">
            <a:avLst/>
          </a:prstGeom>
          <a:solidFill>
            <a:srgbClr val="061324"/>
          </a:solidFill>
          <a:ln w="10160">
            <a:solidFill>
              <a:srgbClr val="31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770632"/>
            <a:ext cx="403250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dirección = signo(u)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PWM = abs(u)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 0 &lt; PWM &lt; 70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 error &gt; 2°: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PWM = 70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1005840" y="4251960"/>
            <a:ext cx="4251960" cy="749808"/>
          </a:xfrm>
          <a:prstGeom prst="roundRect">
            <a:avLst>
              <a:gd name="adj" fmla="val 14634"/>
            </a:avLst>
          </a:prstGeom>
          <a:solidFill>
            <a:srgbClr val="3A2207"/>
          </a:solidFill>
          <a:ln w="1016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526280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DE68A"/>
                </a:solidFill>
              </a:rPr>
              <a:t>Una corrección matemática pequeña de signo contrario puede mandar una contramarcha física a PWM 70.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664208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1732788"/>
            <a:ext cx="1673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POR QUÉ APARECIÓ AHÍ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6492240" y="2240280"/>
            <a:ext cx="44348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F8FAFC"/>
                </a:solidFill>
              </a:rPr>
              <a:t>Cerca de la llegada, P se achica porque el error baja.</a:t>
            </a:r>
            <a:endParaRPr lang="en-US" sz="1210" dirty="0"/>
          </a:p>
          <a:p>
            <a:r>
              <a:rPr lang="en-US" sz="1210" dirty="0">
                <a:solidFill>
                  <a:srgbClr val="F8FAFC"/>
                </a:solidFill>
              </a:rPr>
              <a:t>D puede tomar peso relativo si la velocidad todavía es alta.</a:t>
            </a:r>
            <a:endParaRPr lang="en-US" sz="1210" dirty="0"/>
          </a:p>
          <a:p>
            <a:r>
              <a:rPr lang="en-US" sz="1210" dirty="0">
                <a:solidFill>
                  <a:srgbClr val="F8FAFC"/>
                </a:solidFill>
              </a:rPr>
              <a:t>Si D supera momentáneamente a P, cambia el signo de la salida.</a:t>
            </a:r>
            <a:endParaRPr lang="en-US" sz="1210" dirty="0"/>
          </a:p>
          <a:p>
            <a:r>
              <a:rPr lang="en-US" sz="1210" dirty="0">
                <a:solidFill>
                  <a:srgbClr val="F8FAFC"/>
                </a:solidFill>
              </a:rPr>
              <a:t>El nuevo motor hizo visible una condición que el anterior no excitaba tanto.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Firmware embebido · Electrónica de potencia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9. Ensayo controlado: cambiar solo Kd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Se mantiene el modo de control y se modifica únicamente Kd de 0,05 a 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002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668780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CONDICIÓN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4343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F8FAFC"/>
                </a:solidFill>
              </a:rPr>
              <a:t>motion_mode = 2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Kp = 0,7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Ki = 0</a:t>
            </a:r>
            <a:endParaRPr lang="en-US" sz="1300" dirty="0"/>
          </a:p>
          <a:p>
            <a:r>
              <a:rPr lang="en-US" sz="1300" dirty="0">
                <a:solidFill>
                  <a:srgbClr val="F8FAFC"/>
                </a:solidFill>
              </a:rPr>
              <a:t>Kd: 0,05 →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79476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0C46B"/>
          </a:solidFill>
          <a:ln w="12700">
            <a:solidFill>
              <a:srgbClr val="20C4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3863340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RESULTADO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1005840" y="4233672"/>
            <a:ext cx="43434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30" dirty="0">
                <a:solidFill>
                  <a:srgbClr val="F8FAFC"/>
                </a:solidFill>
              </a:rPr>
              <a:t>El tironeo desapareció.</a:t>
            </a:r>
            <a:endParaRPr lang="en-US" sz="1130" dirty="0"/>
          </a:p>
          <a:p>
            <a:r>
              <a:rPr lang="en-US" sz="1130" dirty="0">
                <a:solidFill>
                  <a:srgbClr val="F8FAFC"/>
                </a:solidFill>
              </a:rPr>
              <a:t>Las llegadas fueron sanas.</a:t>
            </a:r>
            <a:endParaRPr lang="en-US" sz="1130" dirty="0"/>
          </a:p>
          <a:p>
            <a:r>
              <a:rPr lang="en-US" sz="1130" dirty="0">
                <a:solidFill>
                  <a:srgbClr val="F8FAFC"/>
                </a:solidFill>
              </a:rPr>
              <a:t>El LED dejó de saltar porque ya no había contramarcha que seguir.</a:t>
            </a:r>
            <a:endParaRPr lang="en-US" sz="1130" dirty="0"/>
          </a:p>
          <a:p>
            <a:r>
              <a:rPr lang="en-US" sz="1130" dirty="0">
                <a:solidFill>
                  <a:srgbClr val="F8FAFC"/>
                </a:solidFill>
              </a:rPr>
              <a:t>Se conserva evidencia para una futura corrección estructural del PD.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172200" y="164592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17" name="Image 0" descr="/mnt/data/etapa5_assets/safe_config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064" y="2036136"/>
            <a:ext cx="5148072" cy="150556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355080" y="4251960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073B2A"/>
          </a:solidFill>
          <a:ln w="10160">
            <a:solidFill>
              <a:srgbClr val="20C46B">
                <a:alpha val="9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448056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F7D6"/>
                </a:solidFill>
              </a:rPr>
              <a:t>Set seguro actual: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C6F7D6"/>
                </a:solidFill>
              </a:rPr>
              <a:t>Kp=0,7 · Ki=0 · Kd=0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Sistemas de Control · Programación Avanzada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10. Decisión de I+D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No todo hallazgo exige resolver el problema general si el producto necesita avanzar con una solución segura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1600200"/>
            <a:ext cx="2194560" cy="3017520"/>
          </a:xfrm>
          <a:prstGeom prst="roundRect">
            <a:avLst>
              <a:gd name="adj" fmla="val 5000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554480" y="1828800"/>
            <a:ext cx="502920" cy="502920"/>
          </a:xfrm>
          <a:prstGeom prst="ellipse">
            <a:avLst/>
          </a:prstGeom>
          <a:solidFill>
            <a:srgbClr val="20C46B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91640" y="1984248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No tocar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todo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35204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A8B3C7"/>
                </a:solidFill>
              </a:rPr>
              <a:t>Cambiar una sola variable permitió atribuir causa.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520440" y="1600200"/>
            <a:ext cx="2194560" cy="3017520"/>
          </a:xfrm>
          <a:prstGeom prst="roundRect">
            <a:avLst>
              <a:gd name="adj" fmla="val 5000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80560" y="1984248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4904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No forzar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PD ahora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76472" y="35204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A8B3C7"/>
                </a:solidFill>
              </a:rPr>
              <a:t>La solución estructural queda diferida con evidencia.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309360" y="1600200"/>
            <a:ext cx="2194560" cy="3017520"/>
          </a:xfrm>
          <a:prstGeom prst="roundRect">
            <a:avLst>
              <a:gd name="adj" fmla="val 5000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132320" y="182880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69480" y="1984248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Conservar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baseline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+ modos</a:t>
            </a:r>
          </a:p>
        </p:txBody>
      </p:sp>
      <p:sp>
        <p:nvSpPr>
          <p:cNvPr id="22" name="Text 20"/>
          <p:cNvSpPr/>
          <p:nvPr/>
        </p:nvSpPr>
        <p:spPr>
          <a:xfrm>
            <a:off x="6565392" y="35204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200">
                <a:solidFill>
                  <a:srgbClr val="AAB7CC"/>
                </a:solidFill>
                <a:latin typeface="Aptos"/>
              </a:rPr>
              <a:t>motion_mode permite comparar y volver a una configuración segura.</a:t>
            </a:r>
          </a:p>
        </p:txBody>
      </p:sp>
      <p:sp>
        <p:nvSpPr>
          <p:cNvPr id="23" name="Shape 21"/>
          <p:cNvSpPr/>
          <p:nvPr/>
        </p:nvSpPr>
        <p:spPr>
          <a:xfrm>
            <a:off x="9098280" y="1600200"/>
            <a:ext cx="2194560" cy="3017520"/>
          </a:xfrm>
          <a:prstGeom prst="roundRect">
            <a:avLst>
              <a:gd name="adj" fmla="val 5000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921240" y="18288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0" y="1984248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2688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Avanzar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producto</a:t>
            </a:r>
          </a:p>
        </p:txBody>
      </p:sp>
      <p:sp>
        <p:nvSpPr>
          <p:cNvPr id="27" name="Text 25"/>
          <p:cNvSpPr/>
          <p:nvPr/>
        </p:nvSpPr>
        <p:spPr>
          <a:xfrm>
            <a:off x="9354312" y="35204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200" b="0">
                <a:solidFill>
                  <a:srgbClr val="AAB7CC"/>
                </a:solidFill>
                <a:latin typeface="Aptos"/>
              </a:rPr>
              <a:t>Seguir con LED rojo, FSM superior y app sobre una arquitectura escalable.</a:t>
            </a:r>
          </a:p>
        </p:txBody>
      </p:sp>
      <p:sp>
        <p:nvSpPr>
          <p:cNvPr id="28" name="Text 26"/>
          <p:cNvSpPr/>
          <p:nvPr/>
        </p:nvSpPr>
        <p:spPr>
          <a:xfrm>
            <a:off x="960120" y="5303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600" b="1">
                <a:solidFill>
                  <a:srgbClr val="28E0D6"/>
                </a:solidFill>
                <a:latin typeface="Aptos"/>
              </a:rPr>
              <a:t>La decisión no fue “el PID falló”: fue conservar una arquitectura configurable, simplificar el controlador y avanzar con una solución segura.</a:t>
            </a:r>
          </a:p>
        </p:txBody>
      </p:sp>
      <p:sp>
        <p:nvSpPr>
          <p:cNvPr id="29" name="Shape 27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Proyecto Final · Gestión de I+D · Sistemas de Control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11. Caso integrador de disciplinas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El diagnóstico conecta control, firmware, electrónica, sensores, mecánica y método experimental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334155"/>
            </a:solidFill>
            <a:prstDash val="solid"/>
          </a:ln>
        </p:spPr>
      </p:sp>
      <p:pic>
        <p:nvPicPr>
          <p:cNvPr id="9" name="Image 0" descr="/mnt/data/etapa5_assets/discipline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31090"/>
            <a:ext cx="5193792" cy="34872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23444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152704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0C46B"/>
          </a:solidFill>
          <a:ln w="12700">
            <a:solidFill>
              <a:srgbClr val="20C46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92824" y="1595628"/>
            <a:ext cx="11247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8FAFC"/>
                </a:solidFill>
              </a:rPr>
              <a:t>COMPETENCIAS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6565392" y="2057400"/>
            <a:ext cx="44348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F8FAFC"/>
                </a:solidFill>
              </a:rPr>
              <a:t>Observar un síntoma físico y no quedarse con el resultado final del firmware.</a:t>
            </a:r>
            <a:endParaRPr lang="en-US" sz="1200" dirty="0"/>
          </a:p>
          <a:p>
            <a:r>
              <a:rPr lang="en-US" sz="1200" dirty="0">
                <a:solidFill>
                  <a:srgbClr val="F8FAFC"/>
                </a:solidFill>
              </a:rPr>
              <a:t>Formular hipótesis y diseñar pruebas que las separen.</a:t>
            </a:r>
            <a:endParaRPr lang="en-US" sz="1200" dirty="0"/>
          </a:p>
          <a:p>
            <a:r>
              <a:rPr lang="en-US" sz="1200" dirty="0">
                <a:solidFill>
                  <a:srgbClr val="F8FAFC"/>
                </a:solidFill>
              </a:rPr>
              <a:t>Usar instrumentación para ver lo que el ojo no alcanza.</a:t>
            </a:r>
            <a:endParaRPr lang="en-US" sz="1200" dirty="0"/>
          </a:p>
          <a:p>
            <a:r>
              <a:rPr lang="en-US" sz="1200" dirty="0">
                <a:solidFill>
                  <a:srgbClr val="F8FAFC"/>
                </a:solidFill>
              </a:rPr>
              <a:t>Aceptar que una conclusión previa puede revisarse con evidencia nueva.</a:t>
            </a:r>
            <a:endParaRPr lang="en-US" sz="1200" dirty="0"/>
          </a:p>
          <a:p>
            <a:r>
              <a:rPr lang="en-US" sz="1200" dirty="0">
                <a:solidFill>
                  <a:srgbClr val="F8FAFC"/>
                </a:solidFill>
              </a:rPr>
              <a:t>Documentar una solución posible sin venderla como única o definitiva.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FAF8"/>
                </a:solidFill>
              </a:rPr>
              <a:t>Materias: Integración de competencias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BD4D0"/>
          </a:solidFill>
          <a:ln w="12700">
            <a:solidFill>
              <a:srgbClr val="2BD4D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esp32-motorized-door-controller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716768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891"/>
                </a:solidFill>
              </a:rPr>
              <a:t>Etapa 5 · 13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12. Cierre de la Etapa 5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8138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La plataforma no solo funciona: ahora también tenemos un caso completo de diagnóstico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0972800" cy="0"/>
          </a:xfrm>
          <a:prstGeom prst="line">
            <a:avLst/>
          </a:prstGeom>
          <a:noFill/>
          <a:ln w="15240">
            <a:solidFill>
              <a:srgbClr val="2BD4D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" y="1828800"/>
            <a:ext cx="1783080" cy="2240280"/>
          </a:xfrm>
          <a:prstGeom prst="roundRect">
            <a:avLst>
              <a:gd name="adj" fmla="val 6154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25880" y="20574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53896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Síntoma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0392" y="352044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A8B3C7"/>
                </a:solidFill>
              </a:rPr>
              <a:t>tironeo + LED errático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2971800" y="1828800"/>
            <a:ext cx="1783080" cy="2240280"/>
          </a:xfrm>
          <a:prstGeom prst="roundRect">
            <a:avLst>
              <a:gd name="adj" fmla="val 6154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39896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Descartes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136392" y="352044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A8B3C7"/>
                </a:solidFill>
              </a:rPr>
              <a:t>LED, alimentación, motor aislado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257800" y="1828800"/>
            <a:ext cx="1783080" cy="2240280"/>
          </a:xfrm>
          <a:prstGeom prst="roundRect">
            <a:avLst>
              <a:gd name="adj" fmla="val 6154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897880" y="20574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025896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Evidencia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22392" y="352044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A8B3C7"/>
                </a:solidFill>
              </a:rPr>
              <a:t>retroceso 1,63° con Kd=0,05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543800" y="1828800"/>
            <a:ext cx="1783080" cy="2240280"/>
          </a:xfrm>
          <a:prstGeom prst="roundRect">
            <a:avLst>
              <a:gd name="adj" fmla="val 6154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83880" y="2057400"/>
            <a:ext cx="502920" cy="502920"/>
          </a:xfrm>
          <a:prstGeom prst="ellipse">
            <a:avLst/>
          </a:prstGeom>
          <a:solidFill>
            <a:srgbClr val="20C46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311896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0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Solución segura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08392" y="352044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A8B3C7"/>
                </a:solidFill>
              </a:rPr>
              <a:t>Kp=0,7 · Ki=0 · Kd=0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9829800" y="1828800"/>
            <a:ext cx="1783080" cy="2240280"/>
          </a:xfrm>
          <a:prstGeom prst="roundRect">
            <a:avLst>
              <a:gd name="adj" fmla="val 6154"/>
            </a:avLst>
          </a:prstGeom>
          <a:solidFill>
            <a:srgbClr val="0D1B2F"/>
          </a:solidFill>
          <a:ln w="10160">
            <a:solidFill>
              <a:srgbClr val="2B3C59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69880" y="2057400"/>
            <a:ext cx="502920" cy="502920"/>
          </a:xfrm>
          <a:prstGeom prst="ellipse">
            <a:avLst/>
          </a:prstGeom>
          <a:solidFill>
            <a:srgbClr val="2BD4D0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597896" y="22128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66960" y="2834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Próximo paso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994392" y="352044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A8B3C7"/>
                </a:solidFill>
              </a:rPr>
              <a:t>FSM producto + app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914400" y="4800600"/>
            <a:ext cx="10287000" cy="868680"/>
          </a:xfrm>
          <a:prstGeom prst="roundRect">
            <a:avLst>
              <a:gd name="adj" fmla="val 12632"/>
            </a:avLst>
          </a:prstGeom>
          <a:solidFill>
            <a:srgbClr val="08182C"/>
          </a:solidFill>
          <a:ln w="10160">
            <a:solidFill>
              <a:srgbClr val="2BD4D0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234440" y="5102352"/>
            <a:ext cx="9646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400" b="1">
                <a:solidFill>
                  <a:srgbClr val="28E0D6"/>
                </a:solidFill>
                <a:latin typeface="Aptos"/>
              </a:rPr>
              <a:t>Este caso muestra el valor de I+D: no quedarse con que “llega”, sino entender por qué se mueve así. También valida la decisión previa: arquitectura escalable, configuración por parámetros y modos de ejecución.</a:t>
            </a:r>
          </a:p>
        </p:txBody>
      </p:sp>
      <p:sp>
        <p:nvSpPr>
          <p:cNvPr id="35" name="Shape 33"/>
          <p:cNvSpPr/>
          <p:nvPr/>
        </p:nvSpPr>
        <p:spPr>
          <a:xfrm>
            <a:off x="502920" y="6144768"/>
            <a:ext cx="6217920" cy="292608"/>
          </a:xfrm>
          <a:prstGeom prst="roundRect">
            <a:avLst>
              <a:gd name="adj" fmla="val 12500"/>
            </a:avLst>
          </a:prstGeom>
          <a:solidFill>
            <a:srgbClr val="0B3945"/>
          </a:solidFill>
          <a:ln w="6350">
            <a:solidFill>
              <a:srgbClr val="1C718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94944" y="6236208"/>
            <a:ext cx="5806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800" b="1">
                <a:solidFill>
                  <a:srgbClr val="D0FAF6"/>
                </a:solidFill>
                <a:latin typeface="Aptos"/>
              </a:rPr>
              <a:t>Materias: Proyecto Final · Sistemas de Control · Programación Avanzada · Arquitectura de firmware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5 - Motor nuevo, LED y revisión del controlador</dc:title>
  <dc:subject>esp32-motorized-door-controller</dc:subject>
  <dc:creator>OpenAI</dc:creator>
  <cp:lastModifiedBy>OpenAI</cp:lastModifiedBy>
  <cp:revision>1</cp:revision>
  <dcterms:created xsi:type="dcterms:W3CDTF">2026-08-09T12:04:02Z</dcterms:created>
  <dcterms:modified xsi:type="dcterms:W3CDTF">2026-08-09T12:04:02Z</dcterms:modified>
</cp:coreProperties>
</file>