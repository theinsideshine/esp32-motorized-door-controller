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Etapa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70408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4F7FB"/>
                </a:solidFill>
                <a:latin typeface="Aptos"/>
              </a:rPr>
              <a:t>Arquitectura modular
y control configurable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22576"/>
            <a:ext cx="74980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ABBCD4"/>
                </a:solidFill>
                <a:latin typeface="Aptos"/>
              </a:rPr>
              <a:t>De la baseline monolítica a una base escalable y al perfil approach no-PID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880360"/>
            <a:ext cx="6949440" cy="214884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182112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RESUMEN DE LA ETAPA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493008"/>
            <a:ext cx="6217920" cy="10241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Se conserva el comportamiento físico validado y se separan responsabilidades entre configuración, posicionamiento y acceso al hardware.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Luego se incorpora un perfil approach no-PID configurable, sin perder el baseline de PWM fijo.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590288"/>
            <a:ext cx="6263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2C55E"/>
                </a:solidFill>
                <a:latin typeface="Aptos"/>
              </a:rPr>
              <a:t>Resultado: el software escala mejor; el control empírico revela sus propios límites.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115568"/>
            <a:ext cx="3703320" cy="416052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1583" y="1353312"/>
            <a:ext cx="438912" cy="438912"/>
          </a:xfrm>
          <a:prstGeom prst="ellipse">
            <a:avLst/>
          </a:prstGeom>
          <a:solidFill>
            <a:srgbClr val="22C55E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463040"/>
            <a:ext cx="29260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6" y="1792224"/>
            <a:ext cx="22860" cy="475488"/>
          </a:xfrm>
          <a:prstGeom prst="rect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46304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Modularizar</a:t>
            </a:r>
          </a:p>
        </p:txBody>
      </p:sp>
      <p:sp>
        <p:nvSpPr>
          <p:cNvPr id="16" name="Oval 15"/>
          <p:cNvSpPr/>
          <p:nvPr/>
        </p:nvSpPr>
        <p:spPr>
          <a:xfrm>
            <a:off x="8101583" y="2048256"/>
            <a:ext cx="438912" cy="438912"/>
          </a:xfrm>
          <a:prstGeom prst="ellipse">
            <a:avLst/>
          </a:prstGeom>
          <a:solidFill>
            <a:srgbClr val="3B82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157984"/>
            <a:ext cx="29260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11896" y="2487168"/>
            <a:ext cx="22860" cy="475488"/>
          </a:xfrm>
          <a:prstGeom prst="rect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157984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FSM explícita</a:t>
            </a:r>
          </a:p>
        </p:txBody>
      </p:sp>
      <p:sp>
        <p:nvSpPr>
          <p:cNvPr id="20" name="Oval 19"/>
          <p:cNvSpPr/>
          <p:nvPr/>
        </p:nvSpPr>
        <p:spPr>
          <a:xfrm>
            <a:off x="8101583" y="2743200"/>
            <a:ext cx="438912" cy="438912"/>
          </a:xfrm>
          <a:prstGeom prst="ellipse">
            <a:avLst/>
          </a:prstGeom>
          <a:solidFill>
            <a:srgbClr val="8B5C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852928"/>
            <a:ext cx="29260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11896" y="3182112"/>
            <a:ext cx="22860" cy="475488"/>
          </a:xfrm>
          <a:prstGeom prst="rect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852928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Config JSON/NVS</a:t>
            </a:r>
          </a:p>
        </p:txBody>
      </p:sp>
      <p:sp>
        <p:nvSpPr>
          <p:cNvPr id="24" name="Oval 23"/>
          <p:cNvSpPr/>
          <p:nvPr/>
        </p:nvSpPr>
        <p:spPr>
          <a:xfrm>
            <a:off x="8101583" y="3438144"/>
            <a:ext cx="438912" cy="438912"/>
          </a:xfrm>
          <a:prstGeom prst="ellipse">
            <a:avLst/>
          </a:prstGeom>
          <a:solidFill>
            <a:srgbClr val="F59E0B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547872"/>
            <a:ext cx="29260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11896" y="3877056"/>
            <a:ext cx="22860" cy="475488"/>
          </a:xfrm>
          <a:prstGeom prst="rect">
            <a:avLst/>
          </a:prstGeom>
          <a:solidFill>
            <a:srgbClr val="AB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54787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Approach no-PID</a:t>
            </a:r>
          </a:p>
        </p:txBody>
      </p:sp>
      <p:sp>
        <p:nvSpPr>
          <p:cNvPr id="28" name="Oval 27"/>
          <p:cNvSpPr/>
          <p:nvPr/>
        </p:nvSpPr>
        <p:spPr>
          <a:xfrm>
            <a:off x="8101583" y="4133087"/>
            <a:ext cx="438912" cy="438912"/>
          </a:xfrm>
          <a:prstGeom prst="ellipse">
            <a:avLst/>
          </a:prstGeom>
          <a:solidFill>
            <a:srgbClr val="2DD4BF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242816"/>
            <a:ext cx="292607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242816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Aptos"/>
              </a:rPr>
              <a:t>Medir límites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6190488"/>
            <a:ext cx="3872484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Sistemas de Control · Automatización · 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1. ¿Por qué modularizar?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El firmware monolítico ya cumplió su función: validar rápido y producir evidencia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5303520" cy="416052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19072"/>
            <a:ext cx="141732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76272"/>
            <a:ext cx="44348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Lo que NO se toca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572000" cy="2103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Pines y sentidos ya validados.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Criterios de llegada, cruce, stall y timeout.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Período de control y mediciones existentes.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PWM fijo como referencia de comportamiento.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44752"/>
            <a:ext cx="5532120" cy="416052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719072"/>
            <a:ext cx="1645920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14996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Lo que ya no 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743200"/>
            <a:ext cx="4617720" cy="2148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Comunicación, parámetros, movimiento y hardware mezclados en el .ino.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Cada nueva función aumenta dependencias y riesgo de regresión.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Resulta difícil cambiar una parte sin tocar otras.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La trazabilidad de responsabilidades se vuelve pobre.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3328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Decisión de I+D: refactorizar sin “mejorar” todavía la física. Primero separar responsabilidades y comprobar que el baseline se conserva.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6190488"/>
            <a:ext cx="3200400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Proyecto Final · Automatización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2. Arquitectura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Cada bloque recibe una responsabilidad clara y una frontera de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94760" y="1481328"/>
            <a:ext cx="4617720" cy="777240"/>
          </a:xfrm>
          <a:prstGeom prst="roundRect">
            <a:avLst/>
          </a:prstGeom>
          <a:solidFill>
            <a:srgbClr val="13243E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1673352"/>
            <a:ext cx="42519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4F7FB"/>
                </a:solidFill>
                <a:latin typeface="Aptos"/>
              </a:rPr>
              <a:t>motorized_door.ino  |  coordinador del producto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761488"/>
            <a:ext cx="2514600" cy="1481328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962656"/>
            <a:ext cx="118872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3026664"/>
            <a:ext cx="1042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CDoorConfig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211226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1">
                <a:solidFill>
                  <a:srgbClr val="F4F7FB"/>
                </a:solidFill>
                <a:latin typeface="Aptos"/>
              </a:rPr>
              <a:t>JSON · parámetros · NVS ·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761488"/>
            <a:ext cx="2514600" cy="1481328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2962656"/>
            <a:ext cx="1188720" cy="32918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026664"/>
            <a:ext cx="1042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CDoorMotion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3493008"/>
            <a:ext cx="211226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1">
                <a:solidFill>
                  <a:srgbClr val="F4F7FB"/>
                </a:solidFill>
                <a:latin typeface="Aptos"/>
              </a:rPr>
              <a:t>FSM · llegada · cruce · stall · timeout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2761488"/>
            <a:ext cx="2514600" cy="1481328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2962656"/>
            <a:ext cx="118872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026664"/>
            <a:ext cx="1042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CDoorMotor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493008"/>
            <a:ext cx="211226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1">
                <a:solidFill>
                  <a:srgbClr val="F4F7FB"/>
                </a:solidFill>
                <a:latin typeface="Aptos"/>
              </a:rPr>
              <a:t>DRV8833 · PWM · LEFT/RIGHT/STOP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0536" y="2761488"/>
            <a:ext cx="2514600" cy="1481328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2962656"/>
            <a:ext cx="118872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3026664"/>
            <a:ext cx="1042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CDoorSensor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493008"/>
            <a:ext cx="211226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1">
                <a:solidFill>
                  <a:srgbClr val="F4F7FB"/>
                </a:solidFill>
                <a:latin typeface="Aptos"/>
              </a:rPr>
              <a:t>AS5048A · SPI · ángulo/velocidad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691640" y="2258568"/>
            <a:ext cx="4416552" cy="50292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507992" y="2258568"/>
            <a:ext cx="1600200" cy="50292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08192" y="2258568"/>
            <a:ext cx="1207008" cy="50292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08192" y="2258568"/>
            <a:ext cx="4014216" cy="50292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51560" y="4498848"/>
            <a:ext cx="10058400" cy="502920"/>
          </a:xfrm>
          <a:prstGeom prst="roundRect">
            <a:avLst/>
          </a:prstGeom>
          <a:solidFill>
            <a:srgbClr val="0B202A"/>
          </a:solidFill>
          <a:ln w="12700"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645152"/>
            <a:ext cx="9601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9CECE0"/>
                </a:solidFill>
                <a:latin typeface="Aptos"/>
              </a:rPr>
              <a:t>Soporte transversal: logging + temporización/instrumentación para medir sin mezclar responsabilidades.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230368"/>
            <a:ext cx="10012680" cy="658368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5376672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DD4BF"/>
                </a:solidFill>
                <a:latin typeface="Aptos"/>
              </a:rPr>
              <a:t>REGLA DE DISEÑO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5358384"/>
            <a:ext cx="7818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1">
                <a:solidFill>
                  <a:srgbClr val="F4F7FB"/>
                </a:solidFill>
                <a:latin typeface="Aptos"/>
              </a:rPr>
              <a:t>CDoorMotion no procesa JSON, no guarda NVS y no conoce pines: recibe configuración y callbacks; el .ino coordina el producto.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190488"/>
            <a:ext cx="4475988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Fundamentos de Programación · Sistemas Embebidos · 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3. FSM de posicionamiento explícita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La lógica deja de estar implícita en flags y pasa a una máquina de estados identificable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2596896"/>
            <a:ext cx="1207008" cy="1207008"/>
          </a:xfrm>
          <a:prstGeom prst="ellipse">
            <a:avLst/>
          </a:prstGeom>
          <a:solidFill>
            <a:srgbClr val="22C55E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06624"/>
            <a:ext cx="1060704" cy="9875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IDLE</a:t>
            </a:r>
          </a:p>
        </p:txBody>
      </p:sp>
      <p:sp>
        <p:nvSpPr>
          <p:cNvPr id="9" name="Oval 8"/>
          <p:cNvSpPr/>
          <p:nvPr/>
        </p:nvSpPr>
        <p:spPr>
          <a:xfrm>
            <a:off x="3099815" y="2596896"/>
            <a:ext cx="1207008" cy="1207008"/>
          </a:xfrm>
          <a:prstGeom prst="ellipse">
            <a:avLst/>
          </a:prstGeom>
          <a:solidFill>
            <a:srgbClr val="3B82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706624"/>
            <a:ext cx="1060704" cy="9875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1" name="Oval 10"/>
          <p:cNvSpPr/>
          <p:nvPr/>
        </p:nvSpPr>
        <p:spPr>
          <a:xfrm>
            <a:off x="5660136" y="2596896"/>
            <a:ext cx="1207008" cy="1207008"/>
          </a:xfrm>
          <a:prstGeom prst="ellipse">
            <a:avLst/>
          </a:prstGeom>
          <a:solidFill>
            <a:srgbClr val="8B5C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2706624"/>
            <a:ext cx="1060704" cy="9875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MOVING</a:t>
            </a:r>
          </a:p>
        </p:txBody>
      </p:sp>
      <p:sp>
        <p:nvSpPr>
          <p:cNvPr id="13" name="Oval 12"/>
          <p:cNvSpPr/>
          <p:nvPr/>
        </p:nvSpPr>
        <p:spPr>
          <a:xfrm>
            <a:off x="8311896" y="2596896"/>
            <a:ext cx="1207008" cy="1207008"/>
          </a:xfrm>
          <a:prstGeom prst="ellipse">
            <a:avLst/>
          </a:prstGeom>
          <a:solidFill>
            <a:srgbClr val="F59E0B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706624"/>
            <a:ext cx="1060704" cy="9875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SETTLING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56231" y="3200400"/>
            <a:ext cx="1225297" cy="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57400" y="2871216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start()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25112" y="3200400"/>
            <a:ext cx="1298448" cy="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2871216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dirección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85432" y="3200400"/>
            <a:ext cx="1389888" cy="0"/>
          </a:xfrm>
          <a:prstGeom prst="line">
            <a:avLst/>
          </a:prstGeom>
          <a:ln w="2032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04888" y="2788920"/>
            <a:ext cx="1051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ABBCD4"/>
                </a:solidFill>
                <a:latin typeface="Aptos"/>
              </a:rPr>
              <a:t>llegada / cruce
/ cancelación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234440" y="3822191"/>
            <a:ext cx="8092440" cy="0"/>
          </a:xfrm>
          <a:prstGeom prst="line">
            <a:avLst/>
          </a:prstGeom>
          <a:ln w="19050"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234440" y="3803904"/>
            <a:ext cx="0" cy="18287"/>
          </a:xfrm>
          <a:prstGeom prst="line">
            <a:avLst/>
          </a:prstGeom>
          <a:ln>
            <a:solidFill>
              <a:srgbClr val="AB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89120" y="3913632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settle final → summary → IDLE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81360" cy="1143000"/>
          </a:xfrm>
          <a:prstGeom prst="roundRect">
            <a:avLst/>
          </a:prstGeom>
          <a:solidFill>
            <a:srgbClr val="091522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19472"/>
            <a:ext cx="10378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D8E4F5"/>
                </a:solidFill>
                <a:latin typeface="Consolas"/>
              </a:rPr>
              <a:t>switch (state) {  IDLE → espera  |  START → prepara movimiento  |  MOVING → controla cada período  |  SETTLING → espera y cierra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376672"/>
            <a:ext cx="10378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Aptos"/>
              </a:rPr>
              <a:t>La FSM encapsula el posicionamiento; el estado general del producto puede evolucionar por separado.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6190488"/>
            <a:ext cx="3200400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Automatización · Proyecto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4. Configuración sin recompilar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Comunicación y memoria pasan a formar parte de la arquitectura, no de la lógica de movimiento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657600" cy="434340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55648"/>
            <a:ext cx="141732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19656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HOST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971800" cy="2286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Comandos y consultas por Serial en formato JSON.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Parámetros modificables en runtime.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Requests pendientes separan comunicación de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81328"/>
            <a:ext cx="3063240" cy="434340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755648"/>
            <a:ext cx="118872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819656"/>
            <a:ext cx="10424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NVS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331720"/>
            <a:ext cx="2423160" cy="2194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Persistencia de posiciones y parámetros.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Reinicio sin perder configuración.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Base para una futura app de configuración.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1481328"/>
            <a:ext cx="3703320" cy="434340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3024" y="1755648"/>
            <a:ext cx="150876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19656"/>
            <a:ext cx="13624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EFECTO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267712"/>
            <a:ext cx="301752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Aptos"/>
              </a:rPr>
              <a:t>El firmware deja de depender de constantes hardcodeadas.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3182112"/>
            <a:ext cx="301752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ABBCD4"/>
                </a:solidFill>
                <a:latin typeface="Aptos"/>
              </a:rPr>
              <a:t>La misma imagen puede probar configuraciones distintas sin recompilar, manteniendo una única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4736592"/>
            <a:ext cx="2926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DD4BF"/>
                </a:solidFill>
                <a:latin typeface="Aptos"/>
              </a:rPr>
              <a:t>Resultado: experimentación más repetible y trazable.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6190488"/>
            <a:ext cx="3419856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Fundamentos de Programación · Proyecto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5. Dos estrategias, una misma FSM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El modo de movimiento cambia la potencia aplicada; no cambia la lógica de posicionamiento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03520" cy="416052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10512"/>
            <a:ext cx="141732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motion_mode=0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40864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4F7FB"/>
                </a:solidFill>
                <a:latin typeface="Aptos"/>
              </a:rPr>
              <a:t>PWM fijo —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926080"/>
            <a:ext cx="448056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Usa pwm_move durante todo el recorrido.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Conserva el comportamiento validado de la Etapa 1.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Sirve como referencia A/B frente a cualquier mejora.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508760"/>
            <a:ext cx="5349240" cy="416052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65392" y="1810512"/>
            <a:ext cx="141732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874519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motion_mode=1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40864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4F7FB"/>
                </a:solidFill>
                <a:latin typeface="Aptos"/>
              </a:rPr>
              <a:t>Approach no-PID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480560" cy="1783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Boost de arranque para vencer rozamiento.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PWM base durante el recorrido.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• PWM reducido cerca del objetivo.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79008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Principio de ingeniería: agregar una estrategia nueva sin destruir la referencia anterior.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6190488"/>
            <a:ext cx="3872484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Sistemas de Control · Programación Avanzada · Automatización · Proyecto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6. El costo de la mejora empírica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Para intervenir sobre la física aparecen nuevas “perillas” que interactúan entre sí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2331720" cy="438912"/>
          </a:xfrm>
          <a:prstGeom prst="rect">
            <a:avLst/>
          </a:prstGeom>
          <a:solidFill>
            <a:srgbClr val="173A52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00784"/>
            <a:ext cx="2185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Parámetro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72768"/>
            <a:ext cx="4069080" cy="438912"/>
          </a:xfrm>
          <a:prstGeom prst="rect">
            <a:avLst/>
          </a:prstGeom>
          <a:solidFill>
            <a:srgbClr val="173A52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700784"/>
            <a:ext cx="3922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Efecto físico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572768"/>
            <a:ext cx="4343400" cy="438912"/>
          </a:xfrm>
          <a:prstGeom prst="rect">
            <a:avLst/>
          </a:prstGeom>
          <a:solidFill>
            <a:srgbClr val="173A52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1700784"/>
            <a:ext cx="41970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Riesgo si se ajusta 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11680"/>
            <a:ext cx="233172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157984"/>
            <a:ext cx="2185415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Aptos"/>
              </a:rPr>
              <a:t>pwm_start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011680"/>
            <a:ext cx="406908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2157984"/>
            <a:ext cx="39227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Vencer rozamiento/carga inicial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011680"/>
            <a:ext cx="434340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2157984"/>
            <a:ext cx="41970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Exceso de energía e inercia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670048"/>
            <a:ext cx="233172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816352"/>
            <a:ext cx="2185415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Aptos"/>
              </a:rPr>
              <a:t>start_boost_ms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670048"/>
            <a:ext cx="406908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2816352"/>
            <a:ext cx="39227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Duración del golpe 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670048"/>
            <a:ext cx="434340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2816352"/>
            <a:ext cx="41970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Sobrepaso o arranque insuficiente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328416"/>
            <a:ext cx="233172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474720"/>
            <a:ext cx="2185415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Aptos"/>
              </a:rPr>
              <a:t>pwm_move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328416"/>
            <a:ext cx="406908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0672" y="3474720"/>
            <a:ext cx="39227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Potencia del recorrido principal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3328416"/>
            <a:ext cx="434340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2" y="3474720"/>
            <a:ext cx="41970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Compromiso velocidad/precisión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986784"/>
            <a:ext cx="233172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133088"/>
            <a:ext cx="2185415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Aptos"/>
              </a:rPr>
              <a:t>slow_zone_deg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986784"/>
            <a:ext cx="406908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4133088"/>
            <a:ext cx="39227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Cuándo desacelerar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986784"/>
            <a:ext cx="4343400" cy="658368"/>
          </a:xfrm>
          <a:prstGeom prst="rect">
            <a:avLst/>
          </a:prstGeom>
          <a:solidFill>
            <a:srgbClr val="0B1628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9752" y="4133088"/>
            <a:ext cx="41970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Llegada rápida vs. quedarse corto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645152"/>
            <a:ext cx="233172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791456"/>
            <a:ext cx="2185415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Aptos"/>
              </a:rPr>
              <a:t>pwm_slow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645152"/>
            <a:ext cx="406908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0672" y="4791456"/>
            <a:ext cx="39227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Potencia de aproximación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4645152"/>
            <a:ext cx="4343400" cy="658368"/>
          </a:xfrm>
          <a:prstGeom prst="rect">
            <a:avLst/>
          </a:prstGeom>
          <a:solidFill>
            <a:srgbClr val="101D31"/>
          </a:solidFill>
          <a:ln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9752" y="4791456"/>
            <a:ext cx="41970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ABBCD4"/>
                </a:solidFill>
                <a:latin typeface="Aptos"/>
              </a:rPr>
              <a:t>Stall cerca del target o sobrepaso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149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ptos"/>
              </a:rPr>
              <a:t>Si cambia la mecánica, la carga, el rozamiento o el desgaste, estos parámetros deben volver a interpretarse y ajustarse.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6190488"/>
            <a:ext cx="3200400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Sistemas de Control · Automatización · Proyecto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7. Ensayo comparativo: ¿mejoró?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La respuesta es sí en confiabilidad de arranque, pero no de manera universal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86400" cy="443484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55648"/>
            <a:ext cx="164592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14996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ERROR PROMEDIO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459937"/>
            <a:ext cx="384048" cy="179786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6504" y="3581704"/>
            <a:ext cx="384048" cy="167609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340096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0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222193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2.51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34396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2.34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968496"/>
            <a:ext cx="384048" cy="1289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3824" y="4054449"/>
            <a:ext cx="384048" cy="12033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5340096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2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37307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1.80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816705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1.68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247845"/>
            <a:ext cx="384048" cy="100995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81144" y="4219194"/>
            <a:ext cx="384048" cy="103860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5340096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BBCD4"/>
                </a:solidFill>
                <a:latin typeface="Aptos"/>
              </a:rPr>
              <a:t>8 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4010101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98145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4F7FB"/>
                </a:solidFill>
                <a:latin typeface="Aptos"/>
              </a:rPr>
              <a:t>1.45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240280"/>
            <a:ext cx="201168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219456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PWM fijo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240280"/>
            <a:ext cx="201168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6896" y="219456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BBCD4"/>
                </a:solidFill>
                <a:latin typeface="Aptos"/>
              </a:rPr>
              <a:t>Approach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1481328"/>
            <a:ext cx="5349240" cy="443484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65392" y="1755648"/>
            <a:ext cx="114300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1819656"/>
            <a:ext cx="996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STALLS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2331720"/>
            <a:ext cx="4297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4F7FB"/>
                </a:solidFill>
                <a:latin typeface="Aptos"/>
              </a:rPr>
              <a:t>Con carga, la mejora más clara fue la eliminación de stalls en esta tanda.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154680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0 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182112"/>
            <a:ext cx="5486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154680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15468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Approach: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13048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2 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840480"/>
            <a:ext cx="86868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381304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813048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Approach: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471416"/>
            <a:ext cx="640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Aptos"/>
              </a:rPr>
              <a:t>8 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498848"/>
            <a:ext cx="43434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447141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47141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Approach: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534924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BBCD4"/>
                </a:solidFill>
                <a:latin typeface="Aptos"/>
              </a:rPr>
              <a:t>Lectura prudente: la muestra es comparativa, no una estadística definitiva.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6190488"/>
            <a:ext cx="3200400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Sistemas de Control · Automatización · Proyecto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8. Dos problemas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La modularización mejora el software; no elimina la dependencia de la planta física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49240" cy="425196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10512"/>
            <a:ext cx="1645920" cy="32918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74519"/>
            <a:ext cx="14996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4434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4F7FB"/>
                </a:solidFill>
                <a:latin typeface="Aptos"/>
              </a:rPr>
              <a:t>Problema resuelto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926080"/>
            <a:ext cx="4434840" cy="1691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Responsabilidades separadas.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Baseline preservada.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Configuración persistente y runtime.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Nuevas estrategias pueden agregarse sin reescribir todo.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508760"/>
            <a:ext cx="5349240" cy="425196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65392" y="1810512"/>
            <a:ext cx="150876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874519"/>
            <a:ext cx="13624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F7FB"/>
                </a:solidFill>
                <a:latin typeface="Aptos"/>
              </a:rPr>
              <a:t>FÍSICA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40864"/>
            <a:ext cx="4434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F4F7FB"/>
                </a:solidFill>
                <a:latin typeface="Aptos"/>
              </a:rPr>
              <a:t>Problema todavía abierto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434840" cy="1783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Rozamiento e inercia siguen presentes.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La carga modifica arranque y sobrepaso.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El approach mejora casos, no una ley general.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Aptos"/>
              </a:rPr>
              <a:t>• Más parámetros ≠ más conocimiento de la planta.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33872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Conclusión: ya tenemos una base de software apta para experimentar; ahora falta dejar de adivinar la dinámica.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6190488"/>
            <a:ext cx="3200400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Programación Avanzada · Sistemas de Control · Proyecto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83464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9. Decisión de continuidad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ABBCD4"/>
                </a:solidFill>
                <a:latin typeface="Aptos"/>
              </a:rPr>
              <a:t>Cerrar la etapa de control empírico y convertir la planta en un objeto medible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097280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0972800" cy="2971800"/>
          </a:xfrm>
          <a:prstGeom prst="roundRect">
            <a:avLst/>
          </a:prstGeom>
          <a:solidFill>
            <a:srgbClr val="101D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099" y="1988820"/>
            <a:ext cx="502920" cy="502920"/>
          </a:xfrm>
          <a:prstGeom prst="ellipse">
            <a:avLst/>
          </a:prstGeom>
          <a:solidFill>
            <a:srgbClr val="22C55E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1" y="2098548"/>
            <a:ext cx="35661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2560320"/>
            <a:ext cx="1280160" cy="14173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743200"/>
            <a:ext cx="106070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Baseline
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3410712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ABBCD4"/>
                </a:solidFill>
                <a:latin typeface="Aptos"/>
              </a:rPr>
              <a:t>conservada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09928" y="3273552"/>
            <a:ext cx="75895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884932" y="1988820"/>
            <a:ext cx="502920" cy="502920"/>
          </a:xfrm>
          <a:prstGeom prst="ellipse">
            <a:avLst/>
          </a:prstGeom>
          <a:solidFill>
            <a:srgbClr val="3B82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8084" y="2098548"/>
            <a:ext cx="35661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6311" y="2560320"/>
            <a:ext cx="1280160" cy="14173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2743200"/>
            <a:ext cx="106070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Approach
no-PID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39" y="3410712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ABBCD4"/>
                </a:solidFill>
                <a:latin typeface="Aptos"/>
              </a:rPr>
              <a:t>probado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59" y="3273552"/>
            <a:ext cx="758953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969763" y="1988820"/>
            <a:ext cx="502920" cy="502920"/>
          </a:xfrm>
          <a:prstGeom prst="ellipse">
            <a:avLst/>
          </a:prstGeom>
          <a:solidFill>
            <a:srgbClr val="F59E0B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2915" y="2098548"/>
            <a:ext cx="35661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1143" y="2560320"/>
            <a:ext cx="1280160" cy="14173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1" y="2743200"/>
            <a:ext cx="106070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Límites
empíricos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1" y="3410712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ABBCD4"/>
                </a:solidFill>
                <a:latin typeface="Aptos"/>
              </a:rPr>
              <a:t>identificados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79591" y="3273552"/>
            <a:ext cx="75895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054596" y="1988820"/>
            <a:ext cx="502920" cy="502920"/>
          </a:xfrm>
          <a:prstGeom prst="ellipse">
            <a:avLst/>
          </a:prstGeom>
          <a:solidFill>
            <a:srgbClr val="8B5CF6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7748" y="2098548"/>
            <a:ext cx="35661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5976" y="2560320"/>
            <a:ext cx="1280160" cy="14173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2743200"/>
            <a:ext cx="106070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Identificar
planta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410712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ABBCD4"/>
                </a:solidFill>
                <a:latin typeface="Aptos"/>
              </a:rPr>
              <a:t>siguiente paso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64424" y="3273552"/>
            <a:ext cx="75895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139428" y="1988820"/>
            <a:ext cx="502920" cy="502920"/>
          </a:xfrm>
          <a:prstGeom prst="ellipse">
            <a:avLst/>
          </a:prstGeom>
          <a:solidFill>
            <a:srgbClr val="2DD4BF"/>
          </a:solidFill>
          <a:ln w="1778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2580" y="2098548"/>
            <a:ext cx="35661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4F7FB"/>
                </a:solidFill>
                <a:latin typeface="Aptos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0808" y="2560320"/>
            <a:ext cx="1280160" cy="141732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0536" y="2743200"/>
            <a:ext cx="106070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PD/PID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3410712"/>
            <a:ext cx="10607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ABBCD4"/>
                </a:solidFill>
                <a:latin typeface="Aptos"/>
              </a:rPr>
              <a:t>sobre evidencia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4754880"/>
            <a:ext cx="10149840" cy="1051560"/>
          </a:xfrm>
          <a:prstGeom prst="roundRect">
            <a:avLst/>
          </a:prstGeom>
          <a:solidFill>
            <a:srgbClr val="0A2027"/>
          </a:solidFill>
          <a:ln w="12700"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4992624"/>
            <a:ext cx="9509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D4BF"/>
                </a:solidFill>
                <a:latin typeface="Aptos"/>
              </a:rPr>
              <a:t>APRENDIZAJE DE LA ETAPA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340096"/>
            <a:ext cx="9509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Una arquitectura escalable permite experimentar mejor; la siguiente decisión es medir la planta antes de sumar más parámetros.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33832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BBCD4"/>
                </a:solidFill>
                <a:latin typeface="Aptos"/>
              </a:rPr>
              <a:t>esp32-motorized-door-controller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37960"/>
            <a:ext cx="822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ABBCD4"/>
                </a:solidFill>
                <a:latin typeface="Aptos"/>
              </a:rPr>
              <a:t>Etapa 2 · 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6190488"/>
            <a:ext cx="3872484" cy="265176"/>
          </a:xfrm>
          <a:prstGeom prst="roundRect">
            <a:avLst/>
          </a:prstGeom>
          <a:solidFill>
            <a:srgbClr val="0A2730"/>
          </a:solidFill>
          <a:ln>
            <a:solidFill>
              <a:srgbClr val="176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6254496"/>
            <a:ext cx="70408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9CECE0"/>
                </a:solidFill>
                <a:latin typeface="Aptos"/>
              </a:rPr>
              <a:t>Materias: Proyecto Final · Sistemas de Control · Programación Avanzada · Automatización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