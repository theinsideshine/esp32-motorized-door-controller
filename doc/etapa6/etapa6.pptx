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839A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D5CC"/>
                </a:solidFill>
              </a:rPr>
              <a:t>Etapa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8FF"/>
                </a:solidFill>
              </a:rPr>
              <a:t>Aplicación desktop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4F8FF"/>
                </a:solidFill>
              </a:rPr>
              <a:t>y operación del prototipo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EBAC8"/>
                </a:solidFill>
              </a:rPr>
              <a:t>De la lógica embebida validada a una herramienta de operación, configuración y diagnóstico construida con PySide6 y asistencia de Codex.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12280" y="731520"/>
            <a:ext cx="4846320" cy="2743200"/>
          </a:xfrm>
          <a:prstGeom prst="roundRect">
            <a:avLst>
              <a:gd name="adj" fmla="val 5333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pic>
        <p:nvPicPr>
          <p:cNvPr id="8" name="Image 0" descr="/mnt/data/etapa6_assets/app_operacion.png">    </p:cNvPr>
          <p:cNvPicPr>
            <a:picLocks noChangeAspect="1"/>
          </p:cNvPicPr>
          <p:nvPr/>
        </p:nvPicPr>
        <p:blipFill>
          <a:blip r:embed="rId1"/>
          <a:srcRect l="0" r="0" t="5383" b="5383"/>
          <a:stretch/>
        </p:blipFill>
        <p:spPr>
          <a:xfrm>
            <a:off x="6885432" y="804672"/>
            <a:ext cx="4700016" cy="23591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22008" y="3200400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C36F"/>
                </a:solidFill>
              </a:rPr>
              <a:t>Operación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12280" y="3675888"/>
            <a:ext cx="2359152" cy="1874520"/>
          </a:xfrm>
          <a:prstGeom prst="roundRect">
            <a:avLst>
              <a:gd name="adj" fmla="val 7805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pic>
        <p:nvPicPr>
          <p:cNvPr id="11" name="Image 1" descr="/mnt/data/etapa6_assets/app_configuracion.png">    </p:cNvPr>
          <p:cNvPicPr>
            <a:picLocks noChangeAspect="1"/>
          </p:cNvPicPr>
          <p:nvPr/>
        </p:nvPicPr>
        <p:blipFill>
          <a:blip r:embed="rId2"/>
          <a:srcRect l="8244" r="8244" t="0" b="0"/>
          <a:stretch/>
        </p:blipFill>
        <p:spPr>
          <a:xfrm>
            <a:off x="6885432" y="3749040"/>
            <a:ext cx="2212848" cy="1490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22008" y="5276088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D5CC"/>
                </a:solidFill>
              </a:rPr>
              <a:t>Configuración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308592" y="3675888"/>
            <a:ext cx="2359152" cy="1874520"/>
          </a:xfrm>
          <a:prstGeom prst="roundRect">
            <a:avLst>
              <a:gd name="adj" fmla="val 7805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pic>
        <p:nvPicPr>
          <p:cNvPr id="14" name="Image 2" descr="/mnt/data/etapa6_assets/app_diagnostico.png">    </p:cNvPr>
          <p:cNvPicPr>
            <a:picLocks noChangeAspect="1"/>
          </p:cNvPicPr>
          <p:nvPr/>
        </p:nvPicPr>
        <p:blipFill>
          <a:blip r:embed="rId3"/>
          <a:srcRect l="8244" r="8244" t="0" b="0"/>
          <a:stretch/>
        </p:blipFill>
        <p:spPr>
          <a:xfrm>
            <a:off x="9381744" y="3749040"/>
            <a:ext cx="2212848" cy="1490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418320" y="5276088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A21A"/>
                </a:solidFill>
              </a:rPr>
              <a:t>Diagnóstico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30352" y="5074920"/>
            <a:ext cx="5715000" cy="777240"/>
          </a:xfrm>
          <a:prstGeom prst="roundRect">
            <a:avLst>
              <a:gd name="adj" fmla="val 18824"/>
            </a:avLst>
          </a:prstGeom>
          <a:solidFill>
            <a:srgbClr val="082D24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94944" y="5221224"/>
            <a:ext cx="53858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D5CC"/>
                </a:solidFill>
              </a:rPr>
              <a:t>La app no reemplaza al firmware: lo observa, lo configura y lo comanda dentro de reglas seguras.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835640" y="6565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90A4"/>
                </a:solidFill>
              </a:rPr>
              <a:t>Etapa 6 · 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839A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3840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</a:rPr>
              <a:t>1. Por qué aparece una aplicación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AC8"/>
                </a:solidFill>
              </a:rPr>
              <a:t>El firmware ya funciona: ahora hace falta una herramienta para operar y explicar el producto.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078992"/>
            <a:ext cx="10607040" cy="0"/>
          </a:xfrm>
          <a:prstGeom prst="line">
            <a:avLst/>
          </a:prstGeom>
          <a:noFill/>
          <a:ln w="12700">
            <a:solidFill>
              <a:srgbClr val="28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3291840" cy="4343400"/>
          </a:xfrm>
          <a:prstGeom prst="roundRect">
            <a:avLst>
              <a:gd name="adj" fmla="val 4444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91640"/>
            <a:ext cx="1051560" cy="237744"/>
          </a:xfrm>
          <a:prstGeom prst="roundRect">
            <a:avLst>
              <a:gd name="adj" fmla="val 23077"/>
            </a:avLst>
          </a:prstGeom>
          <a:solidFill>
            <a:srgbClr val="F6A21A"/>
          </a:solidFill>
          <a:ln w="12700">
            <a:solidFill>
              <a:srgbClr val="F6A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46504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NECESIDAD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269748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00" dirty="0">
                <a:solidFill>
                  <a:srgbClr val="F4F8FF"/>
                </a:solidFill>
              </a:rPr>
              <a:t>Operar FWD/REW sin escribir JSON a mano.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Ver estado, posición, LED y errores en una pantalla común.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Configurar parámetros persistentes sin recompilar.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Separar diagnóstico de operación normal.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3291840" cy="4343400"/>
          </a:xfrm>
          <a:prstGeom prst="roundRect">
            <a:avLst>
              <a:gd name="adj" fmla="val 4444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0872" y="1691640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F4654"/>
          </a:solidFill>
          <a:ln w="12700">
            <a:solidFill>
              <a:srgbClr val="EF46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74650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RIESGO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690872" y="2103120"/>
            <a:ext cx="269748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00" dirty="0">
                <a:solidFill>
                  <a:srgbClr val="F4F8FF"/>
                </a:solidFill>
              </a:rPr>
              <a:t>Una GUI puede mostrar un estado viejo.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Puede habilitar botones cuando el firmware no está listo.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Puede inferir llegada en vez de esperar el evento real.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No debe asumir responsabilidad de seguridad.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02752" y="1417320"/>
            <a:ext cx="3291840" cy="4343400"/>
          </a:xfrm>
          <a:prstGeom prst="roundRect">
            <a:avLst>
              <a:gd name="adj" fmla="val 4444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58784" y="1691640"/>
            <a:ext cx="1234440" cy="237744"/>
          </a:xfrm>
          <a:prstGeom prst="roundRect">
            <a:avLst>
              <a:gd name="adj" fmla="val 23077"/>
            </a:avLst>
          </a:prstGeom>
          <a:solidFill>
            <a:srgbClr val="27C36F"/>
          </a:solidFill>
          <a:ln w="12700">
            <a:solidFill>
              <a:srgbClr val="27C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58784" y="1746504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DECISIÓN I+D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558784" y="2103120"/>
            <a:ext cx="269748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00" dirty="0">
                <a:solidFill>
                  <a:srgbClr val="F4F8FF"/>
                </a:solidFill>
              </a:rPr>
              <a:t>El firmware conserva la autoridad sobre movimiento y fallas.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La app consume eventos y respuestas del ESP32.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Codex acelera la construcción, pero el criterio técnico sigue siendo humano.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835640" y="6565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90A4"/>
                </a:solidFill>
              </a:rPr>
              <a:t>Etapa 6 · 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839A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3840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</a:rPr>
              <a:t>2. Punto de partida: reutilizar sin arrastrar el dominio anterior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AC8"/>
                </a:solidFill>
              </a:rPr>
              <a:t>La base PySide6 venía del proyecto de la viga; lo correcto fue conservar infraestructura y reemplazar el caso de uso.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078992"/>
            <a:ext cx="10607040" cy="0"/>
          </a:xfrm>
          <a:prstGeom prst="line">
            <a:avLst/>
          </a:prstGeom>
          <a:noFill/>
          <a:ln w="12700">
            <a:solidFill>
              <a:srgbClr val="28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17320"/>
            <a:ext cx="4983480" cy="4343400"/>
          </a:xfrm>
          <a:prstGeom prst="roundRect">
            <a:avLst>
              <a:gd name="adj" fmla="val 3368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6916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27C36F"/>
          </a:solidFill>
          <a:ln w="12700">
            <a:solidFill>
              <a:srgbClr val="27C3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746504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SE CONSERVA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932688" y="2103120"/>
            <a:ext cx="4343400" cy="2697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00" dirty="0">
                <a:solidFill>
                  <a:srgbClr val="F4F8FF"/>
                </a:solidFill>
              </a:rPr>
              <a:t>SerialManager: apertura, escritura y lectura serie.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SerialEventQueue: frontera thread-safe entre hilo serie y Qt.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QTimer: consumo periódico de la cola en el hilo principal.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Estructura ui / controllers / core / config.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Widgets reutilizables cuando aportan valor.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10528" y="1417320"/>
            <a:ext cx="4983480" cy="4343400"/>
          </a:xfrm>
          <a:prstGeom prst="roundRect">
            <a:avLst>
              <a:gd name="adj" fmla="val 3368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84848" y="16916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865EF7"/>
          </a:solidFill>
          <a:ln w="12700">
            <a:solidFill>
              <a:srgbClr val="865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4848" y="1746504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SE REEMPLAZA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6784848" y="2103120"/>
            <a:ext cx="4343400" cy="2697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00" dirty="0">
                <a:solidFill>
                  <a:srgbClr val="F4F8FF"/>
                </a:solidFill>
              </a:rPr>
              <a:t>Dominio “viga”: distancia, fuerza, reacciones y flexión.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Flujo de ensayo start/distance/force.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Textos, rangos y gauges específicos del banco anterior.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La lógica de negocio del controlador principal.</a:t>
            </a:r>
            <a:endParaRPr lang="en-US" sz="1300" dirty="0"/>
          </a:p>
          <a:p>
            <a:r>
              <a:rPr lang="en-US" sz="1300" dirty="0">
                <a:solidFill>
                  <a:srgbClr val="F4F8FF"/>
                </a:solidFill>
              </a:rPr>
              <a:t>El protocolo conceptual de producto: puerta, estado y seguridad.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0" y="5989320"/>
            <a:ext cx="8549640" cy="411480"/>
          </a:xfrm>
          <a:prstGeom prst="roundRect">
            <a:avLst>
              <a:gd name="adj" fmla="val 35556"/>
            </a:avLst>
          </a:prstGeom>
          <a:solidFill>
            <a:srgbClr val="082D24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6135624"/>
            <a:ext cx="8220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D5CC"/>
                </a:solidFill>
              </a:rPr>
              <a:t>Buena práctica: no partir de cero, pero tampoco dejar que un dominio viejo contamine el producto nuevo.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35640" y="6565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90A4"/>
                </a:solidFill>
              </a:rPr>
              <a:t>Etapa 6 · 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839A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3840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</a:rPr>
              <a:t>3. Tres pantallas principales de la aplicación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AC8"/>
                </a:solidFill>
              </a:rPr>
              <a:t>Cada pantalla responde a un momento distinto del trabajo con el prototipo.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078992"/>
            <a:ext cx="10607040" cy="0"/>
          </a:xfrm>
          <a:prstGeom prst="line">
            <a:avLst/>
          </a:prstGeom>
          <a:noFill/>
          <a:ln w="12700">
            <a:solidFill>
              <a:srgbClr val="28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17320"/>
            <a:ext cx="3611880" cy="3154680"/>
          </a:xfrm>
          <a:prstGeom prst="roundRect">
            <a:avLst>
              <a:gd name="adj" fmla="val 4638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pic>
        <p:nvPicPr>
          <p:cNvPr id="8" name="Image 0" descr="/mnt/data/etapa6_assets/app_operacion.png">    </p:cNvPr>
          <p:cNvPicPr>
            <a:picLocks noChangeAspect="1"/>
          </p:cNvPicPr>
          <p:nvPr/>
        </p:nvPicPr>
        <p:blipFill>
          <a:blip r:embed="rId1"/>
          <a:srcRect l="14821" r="14821" t="0" b="0"/>
          <a:stretch/>
        </p:blipFill>
        <p:spPr>
          <a:xfrm>
            <a:off x="667512" y="1490472"/>
            <a:ext cx="3465576" cy="27706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4297680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C36F"/>
                </a:solidFill>
              </a:rPr>
              <a:t>Operación: uso normal del producto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15968" y="1417320"/>
            <a:ext cx="3611880" cy="3154680"/>
          </a:xfrm>
          <a:prstGeom prst="roundRect">
            <a:avLst>
              <a:gd name="adj" fmla="val 4638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pic>
        <p:nvPicPr>
          <p:cNvPr id="11" name="Image 1" descr="/mnt/data/etapa6_assets/app_configuracion.png">    </p:cNvPr>
          <p:cNvPicPr>
            <a:picLocks noChangeAspect="1"/>
          </p:cNvPicPr>
          <p:nvPr/>
        </p:nvPicPr>
        <p:blipFill>
          <a:blip r:embed="rId2"/>
          <a:srcRect l="14821" r="14821" t="0" b="0"/>
          <a:stretch/>
        </p:blipFill>
        <p:spPr>
          <a:xfrm>
            <a:off x="4389120" y="1490472"/>
            <a:ext cx="3465576" cy="27706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25696" y="4297680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D5CC"/>
                </a:solidFill>
              </a:rPr>
              <a:t>Configuración: parámetros y NVS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46720" y="1417320"/>
            <a:ext cx="3611880" cy="3154680"/>
          </a:xfrm>
          <a:prstGeom prst="roundRect">
            <a:avLst>
              <a:gd name="adj" fmla="val 4638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pic>
        <p:nvPicPr>
          <p:cNvPr id="14" name="Image 2" descr="/mnt/data/etapa6_assets/app_diagnostico.png">    </p:cNvPr>
          <p:cNvPicPr>
            <a:picLocks noChangeAspect="1"/>
          </p:cNvPicPr>
          <p:nvPr/>
        </p:nvPicPr>
        <p:blipFill>
          <a:blip r:embed="rId3"/>
          <a:srcRect l="14821" r="14821" t="0" b="0"/>
          <a:stretch/>
        </p:blipFill>
        <p:spPr>
          <a:xfrm>
            <a:off x="8119872" y="1490472"/>
            <a:ext cx="3465576" cy="27706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6448" y="4297680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A21A"/>
                </a:solidFill>
              </a:rPr>
              <a:t>Diagnóstico: pruebas y telemetría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1417320" y="5349240"/>
            <a:ext cx="9372600" cy="566928"/>
          </a:xfrm>
          <a:prstGeom prst="roundRect">
            <a:avLst>
              <a:gd name="adj" fmla="val 25806"/>
            </a:avLst>
          </a:prstGeom>
          <a:solidFill>
            <a:srgbClr val="082D24"/>
          </a:solidFill>
          <a:ln w="12700">
            <a:solidFill>
              <a:srgbClr val="27C36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581912" y="5495544"/>
            <a:ext cx="9043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C36F"/>
                </a:solidFill>
              </a:rPr>
              <a:t>Separar pantallas evita mezclar “usuario opera”, “técnico calibra” e “I+D diagnostica”.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835640" y="6565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90A4"/>
                </a:solidFill>
              </a:rPr>
              <a:t>Etapa 6 · 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839A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3840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</a:rPr>
              <a:t>4. Pantalla Operación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AC8"/>
                </a:solidFill>
              </a:rPr>
              <a:t>Vista pensada para la demo: comandos simples y estado legible.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078992"/>
            <a:ext cx="10607040" cy="0"/>
          </a:xfrm>
          <a:prstGeom prst="line">
            <a:avLst/>
          </a:prstGeom>
          <a:noFill/>
          <a:ln w="12700">
            <a:solidFill>
              <a:srgbClr val="28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3312"/>
            <a:ext cx="5623560" cy="4480560"/>
          </a:xfrm>
          <a:prstGeom prst="roundRect">
            <a:avLst>
              <a:gd name="adj" fmla="val 3265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pic>
        <p:nvPicPr>
          <p:cNvPr id="8" name="Image 0" descr="/mnt/data/etapa6_assets/app_operacion.png">    </p:cNvPr>
          <p:cNvPicPr>
            <a:picLocks noChangeAspect="1"/>
          </p:cNvPicPr>
          <p:nvPr/>
        </p:nvPicPr>
        <p:blipFill>
          <a:blip r:embed="rId1"/>
          <a:srcRect l="14331" r="14331" t="0" b="0"/>
          <a:stretch/>
        </p:blipFill>
        <p:spPr>
          <a:xfrm>
            <a:off x="731520" y="1463040"/>
            <a:ext cx="5404104" cy="42611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93408" y="1353312"/>
            <a:ext cx="4800600" cy="4480560"/>
          </a:xfrm>
          <a:prstGeom prst="roundRect">
            <a:avLst>
              <a:gd name="adj" fmla="val 3265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67728" y="1645920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27C36F"/>
          </a:solidFill>
          <a:ln w="12700">
            <a:solidFill>
              <a:srgbClr val="27C36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67728" y="1700784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FUNCIÓN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967728" y="2057400"/>
            <a:ext cx="416052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50" dirty="0">
                <a:solidFill>
                  <a:srgbClr val="F4F8FF"/>
                </a:solidFill>
              </a:rPr>
              <a:t>Comandos FWD y REW para ejecutar el ciclo de apertura y retorno.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STOP siempre visible para cortar el movimiento.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Estado consolidado: READY, movimiento, STOP o DANGER.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Indicadores de posición, LED y versión de firmware.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Oculta detalles técnicos para no cargar la operación normal.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086600" y="5102352"/>
            <a:ext cx="4114800" cy="502920"/>
          </a:xfrm>
          <a:prstGeom prst="roundRect">
            <a:avLst>
              <a:gd name="adj" fmla="val 29091"/>
            </a:avLst>
          </a:prstGeom>
          <a:solidFill>
            <a:srgbClr val="082D24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51192" y="5248656"/>
            <a:ext cx="3785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D5CC"/>
                </a:solidFill>
              </a:rPr>
              <a:t>La pantalla de operación debe habilitar botones sólo cuando el firmware confirma que el dispositivo está listo.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835640" y="6565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90A4"/>
                </a:solidFill>
              </a:rPr>
              <a:t>Etapa 6 · 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839A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3840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</a:rPr>
              <a:t>5. Pantalla Configuración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AC8"/>
                </a:solidFill>
              </a:rPr>
              <a:t>La configuración deja de ser recompilar firmware: se vuelve lectura, edición y escritura controlada.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078992"/>
            <a:ext cx="10607040" cy="0"/>
          </a:xfrm>
          <a:prstGeom prst="line">
            <a:avLst/>
          </a:prstGeom>
          <a:noFill/>
          <a:ln w="12700">
            <a:solidFill>
              <a:srgbClr val="28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1298448"/>
            <a:ext cx="5532120" cy="4498848"/>
          </a:xfrm>
          <a:prstGeom prst="roundRect">
            <a:avLst>
              <a:gd name="adj" fmla="val 3252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pic>
        <p:nvPicPr>
          <p:cNvPr id="8" name="Image 0" descr="/mnt/data/etapa6_assets/app_configuracion.png">    </p:cNvPr>
          <p:cNvPicPr>
            <a:picLocks noChangeAspect="1"/>
          </p:cNvPicPr>
          <p:nvPr/>
        </p:nvPicPr>
        <p:blipFill>
          <a:blip r:embed="rId1"/>
          <a:srcRect l="15084" r="15084" t="0" b="0"/>
          <a:stretch/>
        </p:blipFill>
        <p:spPr>
          <a:xfrm>
            <a:off x="6144768" y="1408176"/>
            <a:ext cx="5312664" cy="42793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298448"/>
            <a:ext cx="4892040" cy="4498848"/>
          </a:xfrm>
          <a:prstGeom prst="roundRect">
            <a:avLst>
              <a:gd name="adj" fmla="val 3252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1600200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655064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PARÁMETROS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932688" y="2029968"/>
            <a:ext cx="4251960" cy="2697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50" dirty="0">
                <a:solidFill>
                  <a:srgbClr val="F4F8FF"/>
                </a:solidFill>
              </a:rPr>
              <a:t>Posiciones calibradas POS_1, POS_2 y POS_3.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Modo de movimiento y parámetros de control.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LED, brillo, tiempos de demo y espera de apertura.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Acciones: leer, aplicar, restaurar y consultar all-params.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La app traduce formularios en comandos JSON, no en cambios directos de hardware.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078992" y="5230368"/>
            <a:ext cx="4251960" cy="457200"/>
          </a:xfrm>
          <a:prstGeom prst="roundRect">
            <a:avLst>
              <a:gd name="adj" fmla="val 32000"/>
            </a:avLst>
          </a:prstGeom>
          <a:solidFill>
            <a:srgbClr val="082D24"/>
          </a:solidFill>
          <a:ln w="12700">
            <a:solidFill>
              <a:srgbClr val="27C3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3584" y="5376672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C36F"/>
                </a:solidFill>
              </a:rPr>
              <a:t>La arquitectura JSON/NVS permite recalibrar sin tocar código.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835640" y="6565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90A4"/>
                </a:solidFill>
              </a:rPr>
              <a:t>Etapa 6 · 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839A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3840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</a:rPr>
              <a:t>6. Pantalla Diagnóstico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AC8"/>
                </a:solidFill>
              </a:rPr>
              <a:t>La pantalla técnica permite probar el sistema sin confundirlo con la operación final.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078992"/>
            <a:ext cx="10607040" cy="0"/>
          </a:xfrm>
          <a:prstGeom prst="line">
            <a:avLst/>
          </a:prstGeom>
          <a:noFill/>
          <a:ln w="12700">
            <a:solidFill>
              <a:srgbClr val="28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3312"/>
            <a:ext cx="5623560" cy="4480560"/>
          </a:xfrm>
          <a:prstGeom prst="roundRect">
            <a:avLst>
              <a:gd name="adj" fmla="val 3265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pic>
        <p:nvPicPr>
          <p:cNvPr id="8" name="Image 0" descr="/mnt/data/etapa6_assets/app_diagnostico.png">    </p:cNvPr>
          <p:cNvPicPr>
            <a:picLocks noChangeAspect="1"/>
          </p:cNvPicPr>
          <p:nvPr/>
        </p:nvPicPr>
        <p:blipFill>
          <a:blip r:embed="rId1"/>
          <a:srcRect l="14331" r="14331" t="0" b="0"/>
          <a:stretch/>
        </p:blipFill>
        <p:spPr>
          <a:xfrm>
            <a:off x="731520" y="1463040"/>
            <a:ext cx="5404104" cy="42611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93408" y="1353312"/>
            <a:ext cx="4800600" cy="4480560"/>
          </a:xfrm>
          <a:prstGeom prst="roundRect">
            <a:avLst>
              <a:gd name="adj" fmla="val 3265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67728" y="1645920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F6A21A"/>
          </a:solidFill>
          <a:ln w="12700">
            <a:solidFill>
              <a:srgbClr val="F6A2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67728" y="1700784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DIAGNÓSTICO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967728" y="2057400"/>
            <a:ext cx="416052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50" dirty="0">
                <a:solidFill>
                  <a:srgbClr val="F4F8FF"/>
                </a:solidFill>
              </a:rPr>
              <a:t>Ir a POS_1/POS_2/POS_3 para verificar llegada.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Probar FWD/REW y STOP bajo supervisión.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Ver ángulo, error, PWM y eventos recibidos.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Inspeccionar respuestas JSON y all-params.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Distinguir falla física, protocolo, UI o firmware.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086600" y="5102352"/>
            <a:ext cx="4114800" cy="502920"/>
          </a:xfrm>
          <a:prstGeom prst="roundRect">
            <a:avLst>
              <a:gd name="adj" fmla="val 29091"/>
            </a:avLst>
          </a:prstGeom>
          <a:solidFill>
            <a:srgbClr val="082D24"/>
          </a:solidFill>
          <a:ln w="12700">
            <a:solidFill>
              <a:srgbClr val="F6A2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51192" y="5248656"/>
            <a:ext cx="3785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A21A"/>
                </a:solidFill>
              </a:rPr>
              <a:t>Diagnóstico no es “modo usuario”: es una herramienta para I+D, puesta a punto y soporte.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835640" y="6565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90A4"/>
                </a:solidFill>
              </a:rPr>
              <a:t>Etapa 6 · 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839A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3840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</a:rPr>
              <a:t>7. Contrato de comunicación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AC8"/>
                </a:solidFill>
              </a:rPr>
              <a:t>La app no adivina: pregunta, recibe JSON, actualiza estado y decide qué botones habilitar.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078992"/>
            <a:ext cx="10607040" cy="0"/>
          </a:xfrm>
          <a:prstGeom prst="line">
            <a:avLst/>
          </a:prstGeom>
          <a:noFill/>
          <a:ln w="12700">
            <a:solidFill>
              <a:srgbClr val="28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28800"/>
            <a:ext cx="1508760" cy="1005840"/>
          </a:xfrm>
          <a:prstGeom prst="roundRect">
            <a:avLst>
              <a:gd name="adj" fmla="val 14545"/>
            </a:avLst>
          </a:prstGeom>
          <a:solidFill>
            <a:srgbClr val="111F33"/>
          </a:solidFill>
          <a:ln w="12700">
            <a:solidFill>
              <a:srgbClr val="27C3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93392"/>
            <a:ext cx="960120" cy="237744"/>
          </a:xfrm>
          <a:prstGeom prst="roundRect">
            <a:avLst>
              <a:gd name="adj" fmla="val 23077"/>
            </a:avLst>
          </a:prstGeom>
          <a:solidFill>
            <a:srgbClr val="27C36F"/>
          </a:solidFill>
          <a:ln w="12700">
            <a:solidFill>
              <a:srgbClr val="27C3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48256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Usuario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BAC8"/>
                </a:solidFill>
              </a:rPr>
              <a:t>click / selección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2176272"/>
            <a:ext cx="384048" cy="292608"/>
          </a:xfrm>
          <a:prstGeom prst="chevron">
            <a:avLst/>
          </a:prstGeom>
          <a:solidFill>
            <a:srgbClr val="B9C8D9"/>
          </a:solidFill>
          <a:ln w="12700">
            <a:solidFill>
              <a:srgbClr val="B9C8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828800"/>
            <a:ext cx="1508760" cy="1005840"/>
          </a:xfrm>
          <a:prstGeom prst="roundRect">
            <a:avLst>
              <a:gd name="adj" fmla="val 14545"/>
            </a:avLst>
          </a:prstGeom>
          <a:solidFill>
            <a:srgbClr val="111F33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993392"/>
            <a:ext cx="960120" cy="237744"/>
          </a:xfrm>
          <a:prstGeom prst="roundRect">
            <a:avLst>
              <a:gd name="adj" fmla="val 23077"/>
            </a:avLst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048256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MainWindow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3017520" y="24688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BAC8"/>
                </a:solidFill>
              </a:rPr>
              <a:t>vista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26280" y="2176272"/>
            <a:ext cx="384048" cy="292608"/>
          </a:xfrm>
          <a:prstGeom prst="chevron">
            <a:avLst/>
          </a:prstGeom>
          <a:solidFill>
            <a:srgbClr val="B9C8D9"/>
          </a:solidFill>
          <a:ln w="12700">
            <a:solidFill>
              <a:srgbClr val="B9C8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828800"/>
            <a:ext cx="1508760" cy="1005840"/>
          </a:xfrm>
          <a:prstGeom prst="roundRect">
            <a:avLst>
              <a:gd name="adj" fmla="val 14545"/>
            </a:avLst>
          </a:prstGeom>
          <a:solidFill>
            <a:srgbClr val="111F33"/>
          </a:solidFill>
          <a:ln w="12700">
            <a:solidFill>
              <a:srgbClr val="4287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1993392"/>
            <a:ext cx="960120" cy="237744"/>
          </a:xfrm>
          <a:prstGeom prst="roundRect">
            <a:avLst>
              <a:gd name="adj" fmla="val 23077"/>
            </a:avLst>
          </a:prstGeom>
          <a:solidFill>
            <a:srgbClr val="4287F5"/>
          </a:solidFill>
          <a:ln w="12700">
            <a:solidFill>
              <a:srgbClr val="428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048256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DoorController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257800" y="24688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BAC8"/>
                </a:solidFill>
              </a:rPr>
              <a:t>reglas UI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66560" y="2176272"/>
            <a:ext cx="384048" cy="292608"/>
          </a:xfrm>
          <a:prstGeom prst="chevron">
            <a:avLst/>
          </a:prstGeom>
          <a:solidFill>
            <a:srgbClr val="B9C8D9"/>
          </a:solidFill>
          <a:ln w="12700">
            <a:solidFill>
              <a:srgbClr val="B9C8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1828800"/>
            <a:ext cx="1508760" cy="1005840"/>
          </a:xfrm>
          <a:prstGeom prst="roundRect">
            <a:avLst>
              <a:gd name="adj" fmla="val 14545"/>
            </a:avLst>
          </a:prstGeom>
          <a:solidFill>
            <a:srgbClr val="111F33"/>
          </a:solidFill>
          <a:ln w="12700">
            <a:solidFill>
              <a:srgbClr val="865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1993392"/>
            <a:ext cx="960120" cy="237744"/>
          </a:xfrm>
          <a:prstGeom prst="roundRect">
            <a:avLst>
              <a:gd name="adj" fmla="val 23077"/>
            </a:avLst>
          </a:prstGeom>
          <a:solidFill>
            <a:srgbClr val="865EF7"/>
          </a:solidFill>
          <a:ln w="12700">
            <a:solidFill>
              <a:srgbClr val="865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2048256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SerialManager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498080" y="24688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BAC8"/>
                </a:solidFill>
              </a:rPr>
              <a:t>transporte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006840" y="2176272"/>
            <a:ext cx="384048" cy="292608"/>
          </a:xfrm>
          <a:prstGeom prst="chevron">
            <a:avLst/>
          </a:prstGeom>
          <a:solidFill>
            <a:srgbClr val="B9C8D9"/>
          </a:solidFill>
          <a:ln w="12700">
            <a:solidFill>
              <a:srgbClr val="B9C8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1828800"/>
            <a:ext cx="1508760" cy="1005840"/>
          </a:xfrm>
          <a:prstGeom prst="roundRect">
            <a:avLst>
              <a:gd name="adj" fmla="val 14545"/>
            </a:avLst>
          </a:prstGeom>
          <a:solidFill>
            <a:srgbClr val="111F33"/>
          </a:solidFill>
          <a:ln w="12700">
            <a:solidFill>
              <a:srgbClr val="F6A2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1993392"/>
            <a:ext cx="960120" cy="237744"/>
          </a:xfrm>
          <a:prstGeom prst="roundRect">
            <a:avLst>
              <a:gd name="adj" fmla="val 23077"/>
            </a:avLst>
          </a:prstGeom>
          <a:solidFill>
            <a:srgbClr val="F6A21A"/>
          </a:solidFill>
          <a:ln w="12700">
            <a:solidFill>
              <a:srgbClr val="F6A2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0" y="2048256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ESP32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9738360" y="24688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BAC8"/>
                </a:solidFill>
              </a:rPr>
              <a:t>autoridad real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04672" y="3730752"/>
            <a:ext cx="4663440" cy="1417320"/>
          </a:xfrm>
          <a:prstGeom prst="roundRect">
            <a:avLst>
              <a:gd name="adj" fmla="val 10323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0704" y="400507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27C36F"/>
          </a:solidFill>
          <a:ln w="12700">
            <a:solidFill>
              <a:srgbClr val="27C3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" y="405993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COMANDOS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051560" y="4389120"/>
            <a:ext cx="41148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00" dirty="0">
                <a:solidFill>
                  <a:srgbClr val="F4F8FF"/>
                </a:solidFill>
              </a:rPr>
              <a:t>info/version · all-params · fwd · rew · stop · go posX · set params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20840" y="3730752"/>
            <a:ext cx="4663440" cy="1417320"/>
          </a:xfrm>
          <a:prstGeom prst="roundRect">
            <a:avLst>
              <a:gd name="adj" fmla="val 10323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76872" y="400507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F6A21A"/>
          </a:solidFill>
          <a:ln w="12700">
            <a:solidFill>
              <a:srgbClr val="F6A2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76872" y="405993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EVENTOS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967728" y="4389120"/>
            <a:ext cx="41148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00" dirty="0">
                <a:solidFill>
                  <a:srgbClr val="F4F8FF"/>
                </a:solidFill>
              </a:rPr>
              <a:t>result · reason · device_state · motion_state · error · parámetros actuales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828800" y="5815584"/>
            <a:ext cx="8503920" cy="457200"/>
          </a:xfrm>
          <a:prstGeom prst="roundRect">
            <a:avLst>
              <a:gd name="adj" fmla="val 32000"/>
            </a:avLst>
          </a:prstGeom>
          <a:solidFill>
            <a:srgbClr val="082D24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93392" y="5961888"/>
            <a:ext cx="8174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D5CC"/>
                </a:solidFill>
              </a:rPr>
              <a:t>Regla de diseño: si el firmware no confirma, la app no debe inventar que llegó.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835640" y="6565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90A4"/>
                </a:solidFill>
              </a:rPr>
              <a:t>Etapa 6 · 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839A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3840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</a:rPr>
              <a:t>8. Codex como acelerador del desarrollo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AC8"/>
                </a:solidFill>
              </a:rPr>
              <a:t>La IA escribe rápido; el equipo decide qué arquitectura, qué pruebas y qué comportamiento son aceptables.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078992"/>
            <a:ext cx="10607040" cy="0"/>
          </a:xfrm>
          <a:prstGeom prst="line">
            <a:avLst/>
          </a:prstGeom>
          <a:noFill/>
          <a:ln w="12700">
            <a:solidFill>
              <a:srgbClr val="28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00200"/>
            <a:ext cx="1993392" cy="960120"/>
          </a:xfrm>
          <a:prstGeom prst="roundRect">
            <a:avLst>
              <a:gd name="adj" fmla="val 15238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09928"/>
            <a:ext cx="310896" cy="310896"/>
          </a:xfrm>
          <a:prstGeom prst="rect">
            <a:avLst/>
          </a:prstGeom>
          <a:solidFill>
            <a:srgbClr val="27C3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209397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</a:rPr>
              <a:t>Prompt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2350008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EBAC8"/>
                </a:solidFill>
              </a:rPr>
              <a:t>contexto y límite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889504" y="1600200"/>
            <a:ext cx="1993392" cy="960120"/>
          </a:xfrm>
          <a:prstGeom prst="roundRect">
            <a:avLst>
              <a:gd name="adj" fmla="val 15238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1709928"/>
            <a:ext cx="310896" cy="310896"/>
          </a:xfrm>
          <a:prstGeom prst="rect">
            <a:avLst/>
          </a:prstGeom>
          <a:solidFill>
            <a:srgbClr val="4287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26664" y="209397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</a:rPr>
              <a:t>Código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26664" y="2350008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EBAC8"/>
                </a:solidFill>
              </a:rPr>
              <a:t>propuesta Codex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65776" y="1600200"/>
            <a:ext cx="1993392" cy="960120"/>
          </a:xfrm>
          <a:prstGeom prst="roundRect">
            <a:avLst>
              <a:gd name="adj" fmla="val 15238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1709928"/>
            <a:ext cx="310896" cy="310896"/>
          </a:xfrm>
          <a:prstGeom prst="rect">
            <a:avLst/>
          </a:prstGeom>
          <a:solidFill>
            <a:srgbClr val="F6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02936" y="209397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</a:rPr>
              <a:t>Revisión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02936" y="2350008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EBAC8"/>
                </a:solidFill>
              </a:rPr>
              <a:t>criterio I+D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242048" y="1600200"/>
            <a:ext cx="1993392" cy="960120"/>
          </a:xfrm>
          <a:prstGeom prst="roundRect">
            <a:avLst>
              <a:gd name="adj" fmla="val 15238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51776" y="1709928"/>
            <a:ext cx="310896" cy="310896"/>
          </a:xfrm>
          <a:prstGeom prst="rect">
            <a:avLst/>
          </a:prstGeom>
          <a:solidFill>
            <a:srgbClr val="865E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79208" y="209397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</a:rPr>
              <a:t>Prueba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79208" y="2350008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EBAC8"/>
                </a:solidFill>
              </a:rPr>
              <a:t>hardware real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418320" y="1600200"/>
            <a:ext cx="1993392" cy="960120"/>
          </a:xfrm>
          <a:prstGeom prst="roundRect">
            <a:avLst>
              <a:gd name="adj" fmla="val 15238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1709928"/>
            <a:ext cx="310896" cy="310896"/>
          </a:xfrm>
          <a:prstGeom prst="rect">
            <a:avLst/>
          </a:prstGeom>
          <a:solidFill>
            <a:srgbClr val="28D5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55480" y="209397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</a:rPr>
              <a:t>Ajuste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55480" y="2350008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EBAC8"/>
                </a:solidFill>
              </a:rPr>
              <a:t>nuevo prompt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49808" y="3246120"/>
            <a:ext cx="4892040" cy="1920240"/>
          </a:xfrm>
          <a:prstGeom prst="roundRect">
            <a:avLst>
              <a:gd name="adj" fmla="val 7619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4128" y="3529584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27C36F"/>
          </a:solidFill>
          <a:ln w="12700">
            <a:solidFill>
              <a:srgbClr val="27C3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3584448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LO QUE ACELERA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024128" y="3950208"/>
            <a:ext cx="420624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50" dirty="0">
                <a:solidFill>
                  <a:srgbClr val="F4F8FF"/>
                </a:solidFill>
              </a:rPr>
              <a:t>Crear estructura de carpetas.</a:t>
            </a:r>
            <a:endParaRPr lang="en-US" sz="1250" dirty="0"/>
          </a:p>
          <a:p>
            <a:r>
              <a:rPr lang="en-US" sz="1250" dirty="0">
                <a:solidFill>
                  <a:srgbClr val="F4F8FF"/>
                </a:solidFill>
              </a:rPr>
              <a:t>Generar UI PySide6.</a:t>
            </a:r>
            <a:endParaRPr lang="en-US" sz="1250" dirty="0"/>
          </a:p>
          <a:p>
            <a:r>
              <a:rPr lang="en-US" sz="1250" dirty="0">
                <a:solidFill>
                  <a:srgbClr val="F4F8FF"/>
                </a:solidFill>
              </a:rPr>
              <a:t>Migrar nombres y widgets.</a:t>
            </a:r>
            <a:endParaRPr lang="en-US" sz="1250" dirty="0"/>
          </a:p>
          <a:p>
            <a:r>
              <a:rPr lang="en-US" sz="1250" dirty="0">
                <a:solidFill>
                  <a:srgbClr val="F4F8FF"/>
                </a:solidFill>
              </a:rPr>
              <a:t>Proponer parsers y controladores.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37960" y="3246120"/>
            <a:ext cx="4892040" cy="1920240"/>
          </a:xfrm>
          <a:prstGeom prst="roundRect">
            <a:avLst>
              <a:gd name="adj" fmla="val 7619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3529584"/>
            <a:ext cx="1691640" cy="237744"/>
          </a:xfrm>
          <a:prstGeom prst="roundRect">
            <a:avLst>
              <a:gd name="adj" fmla="val 23077"/>
            </a:avLst>
          </a:prstGeom>
          <a:solidFill>
            <a:srgbClr val="EF4654"/>
          </a:solidFill>
          <a:ln w="12700">
            <a:solidFill>
              <a:srgbClr val="EF46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584448"/>
            <a:ext cx="1691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LO QUE NO DELEGA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812280" y="3950208"/>
            <a:ext cx="420624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50" dirty="0">
                <a:solidFill>
                  <a:srgbClr val="F4F8FF"/>
                </a:solidFill>
              </a:rPr>
              <a:t>Validar contra el firmware real.</a:t>
            </a:r>
            <a:endParaRPr lang="en-US" sz="1250" dirty="0"/>
          </a:p>
          <a:p>
            <a:r>
              <a:rPr lang="en-US" sz="1250" dirty="0">
                <a:solidFill>
                  <a:srgbClr val="F4F8FF"/>
                </a:solidFill>
              </a:rPr>
              <a:t>Definir estados seguros.</a:t>
            </a:r>
            <a:endParaRPr lang="en-US" sz="1250" dirty="0"/>
          </a:p>
          <a:p>
            <a:r>
              <a:rPr lang="en-US" sz="1250" dirty="0">
                <a:solidFill>
                  <a:srgbClr val="F4F8FF"/>
                </a:solidFill>
              </a:rPr>
              <a:t>Interpretar fallas físicas.</a:t>
            </a:r>
            <a:endParaRPr lang="en-US" sz="1250" dirty="0"/>
          </a:p>
          <a:p>
            <a:r>
              <a:rPr lang="en-US" sz="1250" dirty="0">
                <a:solidFill>
                  <a:srgbClr val="F4F8FF"/>
                </a:solidFill>
              </a:rPr>
              <a:t>Decidir cuándo commitear o volver atrás.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2011680" y="5650992"/>
            <a:ext cx="8138160" cy="502920"/>
          </a:xfrm>
          <a:prstGeom prst="roundRect">
            <a:avLst>
              <a:gd name="adj" fmla="val 29091"/>
            </a:avLst>
          </a:prstGeom>
          <a:solidFill>
            <a:srgbClr val="082D24"/>
          </a:solidFill>
          <a:ln w="12700">
            <a:solidFill>
              <a:srgbClr val="F6A2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76272" y="5797296"/>
            <a:ext cx="7808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A21A"/>
                </a:solidFill>
              </a:rPr>
              <a:t>La IA no conoce el motor, la reductora ni la puerta: el criterio técnico sigue siendo humano.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835640" y="6565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90A4"/>
                </a:solidFill>
              </a:rPr>
              <a:t>Etapa 6 · 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839A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3840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</a:rPr>
              <a:t>9. Prueba real: la UI también se valida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AC8"/>
                </a:solidFill>
              </a:rPr>
              <a:t>Cuando se pasó a modo real aparecieron diferencias entre mover y saber que se llegó.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078992"/>
            <a:ext cx="10607040" cy="0"/>
          </a:xfrm>
          <a:prstGeom prst="line">
            <a:avLst/>
          </a:prstGeom>
          <a:noFill/>
          <a:ln w="12700">
            <a:solidFill>
              <a:srgbClr val="28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26464"/>
            <a:ext cx="3337560" cy="4297680"/>
          </a:xfrm>
          <a:prstGeom prst="roundRect">
            <a:avLst>
              <a:gd name="adj" fmla="val 4384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71907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F6A21A"/>
          </a:solidFill>
          <a:ln w="12700">
            <a:solidFill>
              <a:srgbClr val="F6A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77393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SÍNTOMA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932688" y="2148840"/>
            <a:ext cx="269748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00" dirty="0">
                <a:solidFill>
                  <a:srgbClr val="F4F8FF"/>
                </a:solidFill>
              </a:rPr>
              <a:t>Diagnóstico movía el motor hacia la posición.</a:t>
            </a:r>
            <a:endParaRPr lang="en-US" sz="1400" dirty="0"/>
          </a:p>
          <a:p>
            <a:r>
              <a:rPr lang="en-US" sz="1400" dirty="0">
                <a:solidFill>
                  <a:srgbClr val="F4F8FF"/>
                </a:solidFill>
              </a:rPr>
              <a:t>La app no detectaba correctamente la llegada.</a:t>
            </a:r>
            <a:endParaRPr lang="en-US" sz="1400" dirty="0"/>
          </a:p>
          <a:p>
            <a:r>
              <a:rPr lang="en-US" sz="1400" dirty="0">
                <a:solidFill>
                  <a:srgbClr val="F4F8FF"/>
                </a:solidFill>
              </a:rPr>
              <a:t>Operación no habilitaba los botones como se esperaba.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25696" y="1426464"/>
            <a:ext cx="3337560" cy="4297680"/>
          </a:xfrm>
          <a:prstGeom prst="roundRect">
            <a:avLst>
              <a:gd name="adj" fmla="val 4384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0016" y="1719072"/>
            <a:ext cx="1051560" cy="237744"/>
          </a:xfrm>
          <a:prstGeom prst="roundRect">
            <a:avLst>
              <a:gd name="adj" fmla="val 23077"/>
            </a:avLst>
          </a:prstGeom>
          <a:solidFill>
            <a:srgbClr val="4287F5"/>
          </a:solidFill>
          <a:ln w="12700">
            <a:solidFill>
              <a:srgbClr val="4287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773936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LECTURA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700016" y="2148840"/>
            <a:ext cx="269748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00" dirty="0">
                <a:solidFill>
                  <a:srgbClr val="F4F8FF"/>
                </a:solidFill>
              </a:rPr>
              <a:t>El movimiento físico podía estar bien.</a:t>
            </a:r>
            <a:endParaRPr lang="en-US" sz="1400" dirty="0"/>
          </a:p>
          <a:p>
            <a:r>
              <a:rPr lang="en-US" sz="1400" dirty="0">
                <a:solidFill>
                  <a:srgbClr val="F4F8FF"/>
                </a:solidFill>
              </a:rPr>
              <a:t>El problema estaba en cómo la UI seguía eventos y estados.</a:t>
            </a:r>
            <a:endParaRPr lang="en-US" sz="1400" dirty="0"/>
          </a:p>
          <a:p>
            <a:r>
              <a:rPr lang="en-US" sz="1400" dirty="0">
                <a:solidFill>
                  <a:srgbClr val="F4F8FF"/>
                </a:solidFill>
              </a:rPr>
              <a:t>Había que respetar la semántica real del firmware.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93024" y="1426464"/>
            <a:ext cx="3337560" cy="4297680"/>
          </a:xfrm>
          <a:prstGeom prst="roundRect">
            <a:avLst>
              <a:gd name="adj" fmla="val 4384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67344" y="1719072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27C36F"/>
          </a:solidFill>
          <a:ln w="12700">
            <a:solidFill>
              <a:srgbClr val="27C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1773936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CORRECCIÓN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467344" y="2148840"/>
            <a:ext cx="269748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00" dirty="0">
                <a:solidFill>
                  <a:srgbClr val="F4F8FF"/>
                </a:solidFill>
              </a:rPr>
              <a:t>No inferir llegada desde la acción del botón.</a:t>
            </a:r>
            <a:endParaRPr lang="en-US" sz="1400" dirty="0"/>
          </a:p>
          <a:p>
            <a:r>
              <a:rPr lang="en-US" sz="1400" dirty="0">
                <a:solidFill>
                  <a:srgbClr val="F4F8FF"/>
                </a:solidFill>
              </a:rPr>
              <a:t>Consumir result/reason/device_state.</a:t>
            </a:r>
            <a:endParaRPr lang="en-US" sz="1400" dirty="0"/>
          </a:p>
          <a:p>
            <a:r>
              <a:rPr lang="en-US" sz="1400" dirty="0">
                <a:solidFill>
                  <a:srgbClr val="F4F8FF"/>
                </a:solidFill>
              </a:rPr>
              <a:t>Habilitar operación sólo con DEVICE READY confirmado.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28800" y="5806440"/>
            <a:ext cx="8549640" cy="502920"/>
          </a:xfrm>
          <a:prstGeom prst="roundRect">
            <a:avLst>
              <a:gd name="adj" fmla="val 29091"/>
            </a:avLst>
          </a:prstGeom>
          <a:solidFill>
            <a:srgbClr val="082D24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93392" y="5952744"/>
            <a:ext cx="8220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D5CC"/>
                </a:solidFill>
              </a:rPr>
              <a:t>Mover no alcanza: la app debe saber, con evidencia del firmware, qué ocurrió.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835640" y="6565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90A4"/>
                </a:solidFill>
              </a:rPr>
              <a:t>Etapa 6 · 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839A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3840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</a:rPr>
              <a:t>10. Estados separados: conexión, producto y seguridad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AC8"/>
                </a:solidFill>
              </a:rPr>
              <a:t>Una app confiable no mezcla “puerto abierto” con “puerta lista”.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078992"/>
            <a:ext cx="10607040" cy="0"/>
          </a:xfrm>
          <a:prstGeom prst="line">
            <a:avLst/>
          </a:prstGeom>
          <a:noFill/>
          <a:ln w="12700">
            <a:solidFill>
              <a:srgbClr val="28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481328"/>
            <a:ext cx="3337560" cy="3337560"/>
          </a:xfrm>
          <a:prstGeom prst="roundRect">
            <a:avLst>
              <a:gd name="adj" fmla="val 4384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773936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4287F5"/>
          </a:solidFill>
          <a:ln w="12700">
            <a:solidFill>
              <a:srgbClr val="428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828800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COMUNICACIÓN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24128" y="2194560"/>
            <a:ext cx="26974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50" dirty="0">
                <a:solidFill>
                  <a:srgbClr val="F4F8FF"/>
                </a:solidFill>
              </a:rPr>
              <a:t>Puerto abierto/cerrado.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Handshake válido.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Versión y protocolo.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Timeout de respuesta.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25696" y="1481328"/>
            <a:ext cx="3337560" cy="3337560"/>
          </a:xfrm>
          <a:prstGeom prst="roundRect">
            <a:avLst>
              <a:gd name="adj" fmla="val 4384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0016" y="1773936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27C36F"/>
          </a:solidFill>
          <a:ln w="12700">
            <a:solidFill>
              <a:srgbClr val="27C3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82880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PRODUCTO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700016" y="2194560"/>
            <a:ext cx="26974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50" dirty="0">
                <a:solidFill>
                  <a:srgbClr val="F4F8FF"/>
                </a:solidFill>
              </a:rPr>
              <a:t>BOOT / CENTERING / READY.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OPENING / WAIT / CLOSING.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STOPPED / DIAGNOSTIC.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Resultado de DoorMotion.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01584" y="1481328"/>
            <a:ext cx="3337560" cy="3337560"/>
          </a:xfrm>
          <a:prstGeom prst="roundRect">
            <a:avLst>
              <a:gd name="adj" fmla="val 4384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1773936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EF4654"/>
          </a:solidFill>
          <a:ln w="12700">
            <a:solidFill>
              <a:srgbClr val="EF46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1828800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SEGURIDAD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375904" y="2194560"/>
            <a:ext cx="26974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50" dirty="0">
                <a:solidFill>
                  <a:srgbClr val="F4F8FF"/>
                </a:solidFill>
              </a:rPr>
              <a:t>DANGER / STOP.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Timeout / stall.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Sensor o estado incoherente.</a:t>
            </a:r>
            <a:endParaRPr lang="en-US" sz="1350" dirty="0"/>
          </a:p>
          <a:p>
            <a:r>
              <a:rPr lang="en-US" sz="1350" dirty="0">
                <a:solidFill>
                  <a:srgbClr val="F4F8FF"/>
                </a:solidFill>
              </a:rPr>
              <a:t>La decisión crítica vive en ESP32.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645920" y="5440680"/>
            <a:ext cx="8961120" cy="594360"/>
          </a:xfrm>
          <a:prstGeom prst="roundRect">
            <a:avLst>
              <a:gd name="adj" fmla="val 24615"/>
            </a:avLst>
          </a:prstGeom>
          <a:solidFill>
            <a:srgbClr val="082D24"/>
          </a:solidFill>
          <a:ln w="12700">
            <a:solidFill>
              <a:srgbClr val="EF46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0512" y="5586984"/>
            <a:ext cx="8631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654"/>
                </a:solidFill>
              </a:rPr>
              <a:t>La GUI puede caerse, Windows puede bloquearse o el cable USB desconectarse: el firmware debe seguir siendo seguro.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835640" y="6565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90A4"/>
                </a:solidFill>
              </a:rPr>
              <a:t>Etapa 6 · 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D5CC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839A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38912" y="3840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F"/>
                </a:solidFill>
              </a:rPr>
              <a:t>11. Cierre de etapa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38912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AC8"/>
                </a:solidFill>
              </a:rPr>
              <a:t>La app convierte el prototipo técnico en una herramienta demostrable.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078992"/>
            <a:ext cx="10607040" cy="0"/>
          </a:xfrm>
          <a:prstGeom prst="line">
            <a:avLst/>
          </a:prstGeom>
          <a:noFill/>
          <a:ln w="12700">
            <a:solidFill>
              <a:srgbClr val="28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554480"/>
            <a:ext cx="1993392" cy="960120"/>
          </a:xfrm>
          <a:prstGeom prst="roundRect">
            <a:avLst>
              <a:gd name="adj" fmla="val 15238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64208"/>
            <a:ext cx="310896" cy="310896"/>
          </a:xfrm>
          <a:prstGeom prst="rect">
            <a:avLst/>
          </a:prstGeom>
          <a:solidFill>
            <a:srgbClr val="27C3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204825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</a:rPr>
              <a:t>Operar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2304288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EBAC8"/>
                </a:solidFill>
              </a:rPr>
              <a:t>FWD / REW / STOP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889504" y="1554480"/>
            <a:ext cx="1993392" cy="960120"/>
          </a:xfrm>
          <a:prstGeom prst="roundRect">
            <a:avLst>
              <a:gd name="adj" fmla="val 15238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1664208"/>
            <a:ext cx="310896" cy="310896"/>
          </a:xfrm>
          <a:prstGeom prst="rect">
            <a:avLst/>
          </a:prstGeom>
          <a:solidFill>
            <a:srgbClr val="28D5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26664" y="204825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</a:rPr>
              <a:t>Configurar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26664" y="2304288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EBAC8"/>
                </a:solidFill>
              </a:rPr>
              <a:t>JSON / NVS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65776" y="1554480"/>
            <a:ext cx="1993392" cy="960120"/>
          </a:xfrm>
          <a:prstGeom prst="roundRect">
            <a:avLst>
              <a:gd name="adj" fmla="val 15238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1664208"/>
            <a:ext cx="310896" cy="310896"/>
          </a:xfrm>
          <a:prstGeom prst="rect">
            <a:avLst/>
          </a:prstGeom>
          <a:solidFill>
            <a:srgbClr val="F6A2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02936" y="204825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</a:rPr>
              <a:t>Diagnosticar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02936" y="2304288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EBAC8"/>
                </a:solidFill>
              </a:rPr>
              <a:t>telemetría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242048" y="1554480"/>
            <a:ext cx="1993392" cy="960120"/>
          </a:xfrm>
          <a:prstGeom prst="roundRect">
            <a:avLst>
              <a:gd name="adj" fmla="val 15238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51776" y="1664208"/>
            <a:ext cx="310896" cy="310896"/>
          </a:xfrm>
          <a:prstGeom prst="rect">
            <a:avLst/>
          </a:prstGeom>
          <a:solidFill>
            <a:srgbClr val="4287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79208" y="204825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</a:rPr>
              <a:t>Validar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79208" y="2304288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EBAC8"/>
                </a:solidFill>
              </a:rPr>
              <a:t>eventos reales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418320" y="1554480"/>
            <a:ext cx="1993392" cy="960120"/>
          </a:xfrm>
          <a:prstGeom prst="roundRect">
            <a:avLst>
              <a:gd name="adj" fmla="val 15238"/>
            </a:avLst>
          </a:prstGeom>
          <a:solidFill>
            <a:srgbClr val="111F33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1664208"/>
            <a:ext cx="310896" cy="310896"/>
          </a:xfrm>
          <a:prstGeom prst="rect">
            <a:avLst/>
          </a:prstGeom>
          <a:solidFill>
            <a:srgbClr val="865E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55480" y="204825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</a:rPr>
              <a:t>Presentar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55480" y="2304288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EBAC8"/>
                </a:solidFill>
              </a:rPr>
              <a:t>demo integrada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77824" y="3246120"/>
            <a:ext cx="4983480" cy="1965960"/>
          </a:xfrm>
          <a:prstGeom prst="roundRect">
            <a:avLst>
              <a:gd name="adj" fmla="val 7442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2144" y="3547872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27C36F"/>
          </a:solidFill>
          <a:ln w="12700">
            <a:solidFill>
              <a:srgbClr val="27C3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52144" y="3602736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RESULTADO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152144" y="3968496"/>
            <a:ext cx="4297680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80" dirty="0">
                <a:solidFill>
                  <a:srgbClr val="F4F8FF"/>
                </a:solidFill>
              </a:rPr>
              <a:t>La aplicación permite mostrar el producto, no sólo el firmware.</a:t>
            </a:r>
            <a:endParaRPr lang="en-US" sz="1280" dirty="0"/>
          </a:p>
          <a:p>
            <a:r>
              <a:rPr lang="en-US" sz="1280" dirty="0">
                <a:solidFill>
                  <a:srgbClr val="F4F8FF"/>
                </a:solidFill>
              </a:rPr>
              <a:t>La comunicación y los estados se vuelven visibles para el operador.</a:t>
            </a:r>
            <a:endParaRPr lang="en-US" sz="1280" dirty="0"/>
          </a:p>
          <a:p>
            <a:r>
              <a:rPr lang="en-US" sz="1280" dirty="0">
                <a:solidFill>
                  <a:srgbClr val="F4F8FF"/>
                </a:solidFill>
              </a:rPr>
              <a:t>La arquitectura de software vuelve a demostrar su valor.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6327648" y="3246120"/>
            <a:ext cx="4983480" cy="1965960"/>
          </a:xfrm>
          <a:prstGeom prst="roundRect">
            <a:avLst>
              <a:gd name="adj" fmla="val 7442"/>
            </a:avLst>
          </a:prstGeom>
          <a:solidFill>
            <a:srgbClr val="0E1B2D"/>
          </a:solidFill>
          <a:ln w="12700">
            <a:solidFill>
              <a:srgbClr val="2B456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01968" y="3547872"/>
            <a:ext cx="1508760" cy="237744"/>
          </a:xfrm>
          <a:prstGeom prst="roundRect">
            <a:avLst>
              <a:gd name="adj" fmla="val 23077"/>
            </a:avLst>
          </a:prstGeom>
          <a:solidFill>
            <a:srgbClr val="865EF7"/>
          </a:solidFill>
          <a:ln w="12700">
            <a:solidFill>
              <a:srgbClr val="865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3602736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SIGUIENTE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601968" y="3968496"/>
            <a:ext cx="4297680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80" dirty="0">
                <a:solidFill>
                  <a:srgbClr val="F4F8FF"/>
                </a:solidFill>
              </a:rPr>
              <a:t>Ensayo integral de demo.</a:t>
            </a:r>
            <a:endParaRPr lang="en-US" sz="1280" dirty="0"/>
          </a:p>
          <a:p>
            <a:r>
              <a:rPr lang="en-US" sz="1280" dirty="0">
                <a:solidFill>
                  <a:srgbClr val="F4F8FF"/>
                </a:solidFill>
              </a:rPr>
              <a:t>Ajustes de UX para el video.</a:t>
            </a:r>
            <a:endParaRPr lang="en-US" sz="1280" dirty="0"/>
          </a:p>
          <a:p>
            <a:r>
              <a:rPr lang="en-US" sz="1280" dirty="0">
                <a:solidFill>
                  <a:srgbClr val="F4F8FF"/>
                </a:solidFill>
              </a:rPr>
              <a:t>Documentar comandos mínimos y fallas esperadas.</a:t>
            </a:r>
            <a:endParaRPr lang="en-US" sz="1280" dirty="0"/>
          </a:p>
          <a:p>
            <a:r>
              <a:rPr lang="en-US" sz="1280" dirty="0">
                <a:solidFill>
                  <a:srgbClr val="F4F8FF"/>
                </a:solidFill>
              </a:rPr>
              <a:t>Cerrar versión presentable del prototipo.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1508760" y="5669280"/>
            <a:ext cx="9189720" cy="548640"/>
          </a:xfrm>
          <a:prstGeom prst="roundRect">
            <a:avLst>
              <a:gd name="adj" fmla="val 26667"/>
            </a:avLst>
          </a:prstGeom>
          <a:solidFill>
            <a:srgbClr val="082D24"/>
          </a:solidFill>
          <a:ln w="12700">
            <a:solidFill>
              <a:srgbClr val="28D5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73352" y="5815584"/>
            <a:ext cx="8860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D5CC"/>
                </a:solidFill>
              </a:rPr>
              <a:t>Etapa 6 cierra el puente entre I+D y demostración: el prototipo ya puede ser operado, explicado y defendido.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835640" y="65653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90A4"/>
                </a:solidFill>
              </a:rPr>
              <a:t>Etapa 6 · 12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esp32-motorized-door-controller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6 - Aplicacion desktop</dc:title>
  <dc:subject>Etapa 6 - Aplicacion desktop y Codex</dc:subject>
  <dc:creator>OpenAI</dc:creator>
  <cp:lastModifiedBy>OpenAI</cp:lastModifiedBy>
  <cp:revision>1</cp:revision>
  <dcterms:created xsi:type="dcterms:W3CDTF">2026-08-09T12:55:48Z</dcterms:created>
  <dcterms:modified xsi:type="dcterms:W3CDTF">2026-08-09T12:55:48Z</dcterms:modified>
</cp:coreProperties>
</file>