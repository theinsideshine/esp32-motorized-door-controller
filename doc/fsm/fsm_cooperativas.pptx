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8FF"/>
                </a:solidFill>
              </a:rPr>
              <a:t>FSM cooperativas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1389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DD6"/>
                </a:solidFill>
              </a:rPr>
              <a:t>Dispositivo · movimiento · LED conviviendo en un superloop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" y="1847088"/>
            <a:ext cx="5120640" cy="0"/>
          </a:xfrm>
          <a:prstGeom prst="line">
            <a:avLst/>
          </a:prstGeom>
          <a:noFill/>
          <a:ln w="27940">
            <a:solidFill>
              <a:srgbClr val="21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0F1C2F"/>
          </a:solidFill>
          <a:ln w="12700">
            <a:solidFill>
              <a:srgbClr val="3BA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15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A2FF"/>
                </a:solidFill>
              </a:rPr>
              <a:t>FSM superior del dispositivo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DD6"/>
                </a:solidFill>
              </a:rPr>
              <a:t>Decide el estado del producto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23317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0F1C2F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615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D4E8"/>
                </a:solidFill>
              </a:rPr>
              <a:t>FSM de posicionamiento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926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DD6"/>
                </a:solidFill>
              </a:rPr>
              <a:t>Mide, calcula y mueve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0F1C2F"/>
          </a:solidFill>
          <a:ln w="12700">
            <a:solidFill>
              <a:srgbClr val="FF9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6151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F3D"/>
                </a:solidFill>
              </a:rPr>
              <a:t>FSM visual LED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85632" y="2926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DD6"/>
                </a:solidFill>
              </a:rPr>
              <a:t>Muestra estado y sentido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2880360"/>
            <a:ext cx="475488" cy="0"/>
          </a:xfrm>
          <a:prstGeom prst="line">
            <a:avLst/>
          </a:prstGeom>
          <a:noFill/>
          <a:ln w="17780">
            <a:solidFill>
              <a:srgbClr val="21D4E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26680" y="2880360"/>
            <a:ext cx="484632" cy="0"/>
          </a:xfrm>
          <a:prstGeom prst="line">
            <a:avLst/>
          </a:prstGeom>
          <a:noFill/>
          <a:ln w="17780">
            <a:solidFill>
              <a:srgbClr val="21D4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" y="4069080"/>
            <a:ext cx="10698480" cy="1170432"/>
          </a:xfrm>
          <a:prstGeom prst="roundRect">
            <a:avLst>
              <a:gd name="adj" fmla="val 9375"/>
            </a:avLst>
          </a:prstGeom>
          <a:solidFill>
            <a:srgbClr val="0B2A1A"/>
          </a:solidFill>
          <a:ln w="12700">
            <a:solidFill>
              <a:srgbClr val="29E2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79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E27D"/>
                </a:solidFill>
              </a:rPr>
              <a:t>Clave de la etapa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6177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No hay tres programas corriendo mágicamente: hay un superloop cooperativo. Cada módulo conserva su estado, ejecuta una parte pequeña y devuelve rápido el control.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El problema a resolver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Motor, sensor, LED, switch y host deben convivir sin volver al monolito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90AE"/>
                </a:solidFill>
              </a:rPr>
              <a:t>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1201400" cy="0"/>
          </a:xfrm>
          <a:prstGeom prst="line">
            <a:avLst/>
          </a:prstGeom>
          <a:noFill/>
          <a:ln w="15240">
            <a:solidFill>
              <a:srgbClr val="21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630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0F1C2F"/>
          </a:solidFill>
          <a:ln w="12700">
            <a:solidFill>
              <a:srgbClr val="2743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F"/>
                </a:solidFill>
              </a:rPr>
              <a:t>Situación real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290572"/>
            <a:ext cx="73152" cy="73152"/>
          </a:xfrm>
          <a:prstGeom prst="ellipse">
            <a:avLst/>
          </a:prstGeom>
          <a:solidFill>
            <a:srgbClr val="3BA2FF"/>
          </a:solidFill>
          <a:ln w="12700">
            <a:solidFill>
              <a:srgbClr val="3BA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El motor puede estar abriendo o retornando al centro.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747772"/>
            <a:ext cx="73152" cy="73152"/>
          </a:xfrm>
          <a:prstGeom prst="ellipse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97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El sensor AS5048A debe leerse de forma periódica.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204972"/>
            <a:ext cx="73152" cy="73152"/>
          </a:xfrm>
          <a:prstGeom prst="ellipse">
            <a:avLst/>
          </a:prstGeom>
          <a:solidFill>
            <a:srgbClr val="FF9F3D"/>
          </a:solidFill>
          <a:ln w="12700">
            <a:solidFill>
              <a:srgbClr val="FF9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54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La tira LED debe animar sin frenar el control.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662172"/>
            <a:ext cx="73152" cy="7315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El switch DANGER y el STOP deben seguir disponibles.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119372"/>
            <a:ext cx="73152" cy="73152"/>
          </a:xfrm>
          <a:prstGeom prst="ellipse">
            <a:avLst/>
          </a:prstGeom>
          <a:solidFill>
            <a:srgbClr val="29E27D"/>
          </a:solidFill>
          <a:ln w="12700">
            <a:solidFill>
              <a:srgbClr val="29E2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069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La app puede pedir estado o enviar comandos.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0F1C2F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764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D4E8"/>
                </a:solidFill>
              </a:rPr>
              <a:t>Decisión de arquitectura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22402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8FF"/>
                </a:solidFill>
              </a:rPr>
              <a:t>Separar responsabilidades en máquinas cooperativas y coordinar todo desde el .ino.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37960" y="2944368"/>
            <a:ext cx="4434840" cy="0"/>
          </a:xfrm>
          <a:prstGeom prst="line">
            <a:avLst/>
          </a:prstGeom>
          <a:noFill/>
          <a:ln w="12700">
            <a:solidFill>
              <a:srgbClr val="21D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3250692"/>
            <a:ext cx="73152" cy="73152"/>
          </a:xfrm>
          <a:prstGeom prst="ellipse">
            <a:avLst/>
          </a:prstGeom>
          <a:solidFill>
            <a:srgbClr val="3BA2FF"/>
          </a:solidFill>
          <a:ln w="12700">
            <a:solidFill>
              <a:srgbClr val="3BA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2004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La FSM superior decide el comportamiento del producto.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3707892"/>
            <a:ext cx="73152" cy="73152"/>
          </a:xfrm>
          <a:prstGeom prst="ellipse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657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DoorMotion resuelve llegada, cruce, stall y timeout.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4165092"/>
            <a:ext cx="73152" cy="73152"/>
          </a:xfrm>
          <a:prstGeom prst="ellipse">
            <a:avLst/>
          </a:prstGeom>
          <a:solidFill>
            <a:srgbClr val="FF9F3D"/>
          </a:solidFill>
          <a:ln w="12700">
            <a:solidFill>
              <a:srgbClr val="FF9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1148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CLedStrip traduce estados a feedback visual.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4622292"/>
            <a:ext cx="73152" cy="73152"/>
          </a:xfrm>
          <a:prstGeom prst="ellipse">
            <a:avLst/>
          </a:prstGeom>
          <a:solidFill>
            <a:srgbClr val="29E27D"/>
          </a:solidFill>
          <a:ln w="12700">
            <a:solidFill>
              <a:srgbClr val="29E2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5720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Cada update retorna rápido: no bloquea al resto.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29584" y="6053328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B785FF">
              <a:alpha val="25000"/>
            </a:srgbClr>
          </a:solidFill>
          <a:ln w="12700">
            <a:solidFill>
              <a:srgbClr val="B78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6112764"/>
            <a:ext cx="4974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I+D: diagnosticar requiere aislar responsabilidades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Tres FSM, tres niveles de decisión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El sistema separa producto, movimiento físico y representación visual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90AE"/>
                </a:solidFill>
              </a:rPr>
              <a:t>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1201400" cy="0"/>
          </a:xfrm>
          <a:prstGeom prst="line">
            <a:avLst/>
          </a:prstGeom>
          <a:noFill/>
          <a:ln w="15240">
            <a:solidFill>
              <a:srgbClr val="21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17320"/>
            <a:ext cx="3154680" cy="4343400"/>
          </a:xfrm>
          <a:prstGeom prst="roundRect">
            <a:avLst>
              <a:gd name="adj" fmla="val 3478"/>
            </a:avLst>
          </a:prstGeom>
          <a:solidFill>
            <a:srgbClr val="0F1C2F"/>
          </a:solidFill>
          <a:ln w="12700">
            <a:solidFill>
              <a:srgbClr val="3BA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A2FF"/>
                </a:solidFill>
              </a:rPr>
              <a:t>Producto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DD6"/>
                </a:solidFill>
              </a:rPr>
              <a:t>FSM superior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" y="25237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3BA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5968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BOOT / CENTERING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6112" y="29809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3BA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0540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READY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96112" y="34381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3BA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5112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OPENING_FWD / REW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6112" y="38953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3BA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9684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OPEN_WAIT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" y="43525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3BA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4256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CLOSING_CENTER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96112" y="48097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E2435">
              <a:alpha val="95000"/>
            </a:srgbClr>
          </a:solidFill>
          <a:ln w="17780">
            <a:solidFill>
              <a:srgbClr val="3BA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8828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STOPPED / DANGER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51960" y="1417320"/>
            <a:ext cx="3154680" cy="4343400"/>
          </a:xfrm>
          <a:prstGeom prst="roundRect">
            <a:avLst>
              <a:gd name="adj" fmla="val 3478"/>
            </a:avLst>
          </a:prstGeom>
          <a:solidFill>
            <a:srgbClr val="0F1C2F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D4E8"/>
                </a:solidFill>
              </a:rPr>
              <a:t>Posicionamiento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453128" y="2029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DD6"/>
                </a:solidFill>
              </a:rPr>
              <a:t>CDoorMotion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99432" y="25237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25968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IDLE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99432" y="29809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72584" y="30540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START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99432" y="34381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72584" y="35112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MOVING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99432" y="38953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2584" y="39684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SETTLING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99432" y="43525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72584" y="44256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HOLDING reservado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99432" y="48097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E2435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72584" y="48828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control dentro de MOVING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955280" y="1417320"/>
            <a:ext cx="3154680" cy="4343400"/>
          </a:xfrm>
          <a:prstGeom prst="roundRect">
            <a:avLst>
              <a:gd name="adj" fmla="val 3478"/>
            </a:avLst>
          </a:prstGeom>
          <a:solidFill>
            <a:srgbClr val="0F1C2F"/>
          </a:solidFill>
          <a:ln w="12700">
            <a:solidFill>
              <a:srgbClr val="FF9F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56448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F3D"/>
                </a:solidFill>
              </a:rPr>
              <a:t>Visual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156448" y="2029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DD6"/>
                </a:solidFill>
              </a:rPr>
              <a:t>CLedStrip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02752" y="25237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F9F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75904" y="25968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IDLE / READY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302752" y="29809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F9F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75904" y="30540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MOVING_FWD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302752" y="34381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F9F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75904" y="35112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MOVING_RWD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302752" y="38953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F9F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75904" y="39684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ARRIVED / SETTLE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302752" y="43525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F9F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75904" y="44256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STOP / DANGER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302752" y="4809744"/>
            <a:ext cx="2450592" cy="292608"/>
          </a:xfrm>
          <a:prstGeom prst="roundRect">
            <a:avLst>
              <a:gd name="adj" fmla="val 25000"/>
            </a:avLst>
          </a:prstGeom>
          <a:solidFill>
            <a:srgbClr val="1E2435">
              <a:alpha val="95000"/>
            </a:srgbClr>
          </a:solidFill>
          <a:ln w="17780">
            <a:solidFill>
              <a:srgbClr val="FF9F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75904" y="488289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8FF"/>
                </a:solidFill>
              </a:rPr>
              <a:t>animación por timer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68680" y="5943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</a:rPr>
              <a:t>PID y switch DANGER no son FSM separadas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60120" y="626364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8FF"/>
                </a:solidFill>
              </a:rPr>
              <a:t>PID = algoritmo dentro de MOVING.  DANGER = evento de entrada interpretado por la FSM superior.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El .ino como coordinador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Una vuelta del loop() atiende comunicación, eventos y tres update() independientes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90AE"/>
                </a:solidFill>
              </a:rPr>
              <a:t>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1201400" cy="0"/>
          </a:xfrm>
          <a:prstGeom prst="line">
            <a:avLst/>
          </a:prstGeom>
          <a:noFill/>
          <a:ln w="15240">
            <a:solidFill>
              <a:srgbClr val="21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11018520" cy="5029200"/>
          </a:xfrm>
          <a:prstGeom prst="roundRect">
            <a:avLst>
              <a:gd name="adj" fmla="val 2182"/>
            </a:avLst>
          </a:prstGeom>
          <a:solidFill>
            <a:srgbClr val="0F1C2F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276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D4E8"/>
                </a:solidFill>
              </a:rPr>
              <a:t>loop() simplificado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148840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2221992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F"/>
                </a:solidFill>
              </a:rPr>
              <a:t>1. readSerialCommands();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6392" y="2514600"/>
            <a:ext cx="0" cy="182880"/>
          </a:xfrm>
          <a:prstGeom prst="line">
            <a:avLst/>
          </a:prstGeom>
          <a:noFill/>
          <a:ln w="17780">
            <a:solidFill>
              <a:srgbClr val="7290A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143000" y="2715768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2C9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2788920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F"/>
                </a:solidFill>
              </a:rPr>
              <a:t>2. readDangerButtonWithDebounce();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36392" y="3081528"/>
            <a:ext cx="0" cy="182880"/>
          </a:xfrm>
          <a:prstGeom prst="line">
            <a:avLst/>
          </a:prstGeom>
          <a:noFill/>
          <a:ln w="17780">
            <a:solidFill>
              <a:srgbClr val="7290A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43000" y="3282696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3355848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F"/>
                </a:solidFill>
              </a:rPr>
              <a:t>3. updateDeviceFsm();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36392" y="3648456"/>
            <a:ext cx="0" cy="182880"/>
          </a:xfrm>
          <a:prstGeom prst="line">
            <a:avLst/>
          </a:prstGeom>
          <a:noFill/>
          <a:ln w="17780">
            <a:solidFill>
              <a:srgbClr val="7290A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43000" y="3849624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3922776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F"/>
                </a:solidFill>
              </a:rPr>
              <a:t>4. DoorMotion.update();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36392" y="4215384"/>
            <a:ext cx="0" cy="182880"/>
          </a:xfrm>
          <a:prstGeom prst="line">
            <a:avLst/>
          </a:prstGeom>
          <a:noFill/>
          <a:ln w="17780">
            <a:solidFill>
              <a:srgbClr val="7290A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143000" y="4416552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F9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152" y="4489704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F"/>
                </a:solidFill>
              </a:rPr>
              <a:t>5. updateLedStripStateFromRuntime();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36392" y="4782312"/>
            <a:ext cx="0" cy="182880"/>
          </a:xfrm>
          <a:prstGeom prst="line">
            <a:avLst/>
          </a:prstGeom>
          <a:noFill/>
          <a:ln w="17780">
            <a:solidFill>
              <a:srgbClr val="7290A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143000" y="4983480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F9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16152" y="5056632"/>
            <a:ext cx="3831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F"/>
                </a:solidFill>
              </a:rPr>
              <a:t>6. LedStrip.update();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23560" y="1874520"/>
            <a:ext cx="5394960" cy="3429000"/>
          </a:xfrm>
          <a:prstGeom prst="roundRect">
            <a:avLst>
              <a:gd name="adj" fmla="val 3200"/>
            </a:avLst>
          </a:prstGeom>
          <a:solidFill>
            <a:srgbClr val="0F1C2F"/>
          </a:solidFill>
          <a:ln w="12700">
            <a:solidFill>
              <a:srgbClr val="2743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1579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E27D"/>
                </a:solidFill>
              </a:rPr>
              <a:t>Regla práctica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89320" y="2702052"/>
            <a:ext cx="73152" cy="73152"/>
          </a:xfrm>
          <a:prstGeom prst="ellipse">
            <a:avLst/>
          </a:prstGeom>
          <a:solidFill>
            <a:srgbClr val="29E27D"/>
          </a:solidFill>
          <a:ln w="12700">
            <a:solidFill>
              <a:srgbClr val="29E2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6517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Cada bloque lee su contexto y decide sólo lo que le corresponde.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3296412"/>
            <a:ext cx="73152" cy="73152"/>
          </a:xfrm>
          <a:prstGeom prst="ellipse">
            <a:avLst/>
          </a:prstGeom>
          <a:solidFill>
            <a:srgbClr val="29E27D"/>
          </a:solidFill>
          <a:ln w="12700">
            <a:solidFill>
              <a:srgbClr val="29E2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2461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No hay delay largos ni espera activa hasta que “termine” una tarea.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89320" y="3890772"/>
            <a:ext cx="73152" cy="73152"/>
          </a:xfrm>
          <a:prstGeom prst="ellipse">
            <a:avLst/>
          </a:prstGeom>
          <a:solidFill>
            <a:srgbClr val="29E27D"/>
          </a:solidFill>
          <a:ln w="12700">
            <a:solidFill>
              <a:srgbClr val="29E2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8404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El estado queda guardado dentro de cada módulo.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89320" y="4485132"/>
            <a:ext cx="73152" cy="73152"/>
          </a:xfrm>
          <a:prstGeom prst="ellipse">
            <a:avLst/>
          </a:prstGeom>
          <a:solidFill>
            <a:srgbClr val="29E27D"/>
          </a:solidFill>
          <a:ln w="12700">
            <a:solidFill>
              <a:srgbClr val="29E2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44348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La siguiente vuelta continúa desde donde quedó.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FSM superior del dispositivo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Representa el producto: qué ciclo se está ejecutando y qué eventos tienen sentido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90AE"/>
                </a:solidFill>
              </a:rPr>
              <a:t>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1201400" cy="0"/>
          </a:xfrm>
          <a:prstGeom prst="line">
            <a:avLst/>
          </a:prstGeom>
          <a:noFill/>
          <a:ln w="15240">
            <a:solidFill>
              <a:srgbClr val="21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7290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901952"/>
            <a:ext cx="1042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BOOT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18288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3BA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1901952"/>
            <a:ext cx="1591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CENTERING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Ir a POS_2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18288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9E2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901952"/>
            <a:ext cx="1499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READY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reposo POS_2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12344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307592"/>
            <a:ext cx="1591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OPENING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FWD / REW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2344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B78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8552" y="1307592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OPEN_WAIT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timer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287000" y="182880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60152" y="1901952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CLOSING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CENTER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32461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F4D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3319272"/>
            <a:ext cx="1591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F"/>
                </a:solidFill>
              </a:rPr>
              <a:t>STOPPED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32461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2C9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319272"/>
            <a:ext cx="1499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DANGER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sólo READY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2084832"/>
            <a:ext cx="411480" cy="0"/>
          </a:xfrm>
          <a:prstGeom prst="line">
            <a:avLst/>
          </a:prstGeom>
          <a:noFill/>
          <a:ln w="17780">
            <a:solidFill>
              <a:srgbClr val="7290A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023360" y="2084832"/>
            <a:ext cx="502920" cy="0"/>
          </a:xfrm>
          <a:prstGeom prst="line">
            <a:avLst/>
          </a:prstGeom>
          <a:noFill/>
          <a:ln w="17780">
            <a:solidFill>
              <a:srgbClr val="7290A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72200" y="2084832"/>
            <a:ext cx="457200" cy="-603504"/>
          </a:xfrm>
          <a:prstGeom prst="line">
            <a:avLst/>
          </a:prstGeom>
          <a:noFill/>
          <a:ln w="17780">
            <a:solidFill>
              <a:srgbClr val="21D4E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366760" y="1481328"/>
            <a:ext cx="548640" cy="0"/>
          </a:xfrm>
          <a:prstGeom prst="line">
            <a:avLst/>
          </a:prstGeom>
          <a:noFill/>
          <a:ln w="17780">
            <a:solidFill>
              <a:srgbClr val="21D4E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32720" y="1481328"/>
            <a:ext cx="411480" cy="347472"/>
          </a:xfrm>
          <a:prstGeom prst="line">
            <a:avLst/>
          </a:prstGeom>
          <a:noFill/>
          <a:ln w="17780">
            <a:solidFill>
              <a:srgbClr val="21D4E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287000" y="2084832"/>
            <a:ext cx="-4114800" cy="0"/>
          </a:xfrm>
          <a:prstGeom prst="line">
            <a:avLst/>
          </a:prstGeom>
          <a:noFill/>
          <a:ln w="17780">
            <a:solidFill>
              <a:srgbClr val="21D4E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49240" y="2331720"/>
            <a:ext cx="0" cy="914400"/>
          </a:xfrm>
          <a:prstGeom prst="line">
            <a:avLst/>
          </a:prstGeom>
          <a:noFill/>
          <a:ln w="17780">
            <a:solidFill>
              <a:srgbClr val="F2C94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349240" y="3246120"/>
            <a:ext cx="0" cy="-914400"/>
          </a:xfrm>
          <a:prstGeom prst="line">
            <a:avLst/>
          </a:prstGeom>
          <a:noFill/>
          <a:ln w="17780">
            <a:solidFill>
              <a:srgbClr val="F2C94C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98080" y="1737360"/>
            <a:ext cx="0" cy="1508760"/>
          </a:xfrm>
          <a:prstGeom prst="line">
            <a:avLst/>
          </a:prstGeom>
          <a:noFill/>
          <a:ln w="17780">
            <a:solidFill>
              <a:srgbClr val="FF4D6D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5800" y="4343400"/>
            <a:ext cx="10972800" cy="1234440"/>
          </a:xfrm>
          <a:prstGeom prst="roundRect">
            <a:avLst>
              <a:gd name="adj" fmla="val 8889"/>
            </a:avLst>
          </a:prstGeom>
          <a:solidFill>
            <a:srgbClr val="0B2A1A"/>
          </a:solidFill>
          <a:ln w="12700">
            <a:solidFill>
              <a:srgbClr val="29E2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4498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E27D"/>
                </a:solidFill>
              </a:rPr>
              <a:t>Lectura didáctica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480060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</a:rPr>
              <a:t>La FSM de producto no calcula PWM ni anima LEDs: decide si corresponde abrir, cerrar, esperar, parar o entrar en DANGER.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60120" y="51023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DD6"/>
                </a:solidFill>
              </a:rPr>
              <a:t>Por eso un mismo evento no siempre vale: DANGER se acepta en READY, pero puede ignorarse durante un movimiento si no corresponde.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FSM de posicionamiento: CDoorMotion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Resuelve el movimiento físico sin conocer la lógica completa del producto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90AE"/>
                </a:solidFill>
              </a:rPr>
              <a:t>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1201400" cy="0"/>
          </a:xfrm>
          <a:prstGeom prst="line">
            <a:avLst/>
          </a:prstGeom>
          <a:noFill/>
          <a:ln w="15240">
            <a:solidFill>
              <a:srgbClr val="21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8745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7290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947672"/>
            <a:ext cx="1271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IDLE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231136"/>
            <a:ext cx="594360" cy="0"/>
          </a:xfrm>
          <a:prstGeom prst="line">
            <a:avLst/>
          </a:prstGeom>
          <a:noFill/>
          <a:ln w="17780">
            <a:solidFill>
              <a:srgbClr val="3BA2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18745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3BA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1947672"/>
            <a:ext cx="1271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define target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231136"/>
            <a:ext cx="685800" cy="0"/>
          </a:xfrm>
          <a:prstGeom prst="line">
            <a:avLst/>
          </a:prstGeom>
          <a:noFill/>
          <a:ln w="17780">
            <a:solidFill>
              <a:srgbClr val="21D4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83480" y="18745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1D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1947672"/>
            <a:ext cx="1271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MOVING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sensor + control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231136"/>
            <a:ext cx="685800" cy="0"/>
          </a:xfrm>
          <a:prstGeom prst="line">
            <a:avLst/>
          </a:prstGeom>
          <a:noFill/>
          <a:ln w="17780">
            <a:solidFill>
              <a:srgbClr val="B785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86600" y="18745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B78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1947672"/>
            <a:ext cx="1271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SETTLING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frenado breve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2231136"/>
            <a:ext cx="685800" cy="0"/>
          </a:xfrm>
          <a:prstGeom prst="line">
            <a:avLst/>
          </a:prstGeom>
          <a:noFill/>
          <a:ln w="17780">
            <a:solidFill>
              <a:srgbClr val="29E27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89720" y="18745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9E2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62872" y="1947672"/>
            <a:ext cx="1271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IDLE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summary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333756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0F1C2F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3611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D4E8"/>
                </a:solidFill>
              </a:rPr>
              <a:t>Durante MOVING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88720" y="4027932"/>
            <a:ext cx="73152" cy="73152"/>
          </a:xfrm>
          <a:prstGeom prst="ellipse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8FF"/>
                </a:solidFill>
              </a:rPr>
              <a:t>Lee AS5048A y calcula error angular.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4439412"/>
            <a:ext cx="73152" cy="73152"/>
          </a:xfrm>
          <a:prstGeom prst="ellipse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8FF"/>
                </a:solidFill>
              </a:rPr>
              <a:t>Aplica PWM fijo, approach o P/PID según motion_mode.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88720" y="4850892"/>
            <a:ext cx="73152" cy="73152"/>
          </a:xfrm>
          <a:prstGeom prst="ellipse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8FF"/>
                </a:solidFill>
              </a:rPr>
              <a:t>Vigila llegada, cruce, stall y timeout.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333756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0F1C2F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611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94C"/>
                </a:solidFill>
              </a:rPr>
              <a:t>Separación clave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75120" y="40050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El PID no decide “abrir una puerta”. Sólo calcula esfuerzo de control mientras DoorMotion está en MOVING.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DD6"/>
                </a:solidFill>
              </a:rPr>
              <a:t>El resultado vuelve a la FSM superior como llegada, cancelación, timeout o error.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FSM visual: CLedStrip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La tira WS2812B no manda sobre el motor: representa estado, dirección y alarma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90AE"/>
                </a:solidFill>
              </a:rPr>
              <a:t>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1201400" cy="0"/>
          </a:xfrm>
          <a:prstGeom prst="line">
            <a:avLst/>
          </a:prstGeom>
          <a:noFill/>
          <a:ln w="15240">
            <a:solidFill>
              <a:srgbClr val="21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288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3BA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0195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IDLE / READY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azul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12801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9E2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35331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MOVING_FWD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patrón adelante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24231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29E2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249631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MOVING_RWD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patrón retorno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82880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B78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1901952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ARRIVED / SETTLE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transición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2243B">
              <a:alpha val="95000"/>
            </a:srgbClr>
          </a:solidFill>
          <a:ln w="17780">
            <a:solidFill>
              <a:srgbClr val="FF4D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90195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STOP / DANGER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F"/>
                </a:solidFill>
              </a:rPr>
              <a:t>rojo / alerta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2103120"/>
            <a:ext cx="777240" cy="-548640"/>
          </a:xfrm>
          <a:prstGeom prst="line">
            <a:avLst/>
          </a:prstGeom>
          <a:noFill/>
          <a:ln w="17780">
            <a:solidFill>
              <a:srgbClr val="29E27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0" y="2103120"/>
            <a:ext cx="777240" cy="594360"/>
          </a:xfrm>
          <a:prstGeom prst="line">
            <a:avLst/>
          </a:prstGeom>
          <a:noFill/>
          <a:ln w="17780">
            <a:solidFill>
              <a:srgbClr val="29E27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92040" y="1554480"/>
            <a:ext cx="777240" cy="548640"/>
          </a:xfrm>
          <a:prstGeom prst="line">
            <a:avLst/>
          </a:prstGeom>
          <a:noFill/>
          <a:ln w="17780">
            <a:solidFill>
              <a:srgbClr val="B785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92040" y="2697480"/>
            <a:ext cx="777240" cy="-594360"/>
          </a:xfrm>
          <a:prstGeom prst="line">
            <a:avLst/>
          </a:prstGeom>
          <a:noFill/>
          <a:ln w="17780">
            <a:solidFill>
              <a:srgbClr val="B785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06640" y="2103120"/>
            <a:ext cx="822960" cy="0"/>
          </a:xfrm>
          <a:prstGeom prst="line">
            <a:avLst/>
          </a:prstGeom>
          <a:noFill/>
          <a:ln w="17780">
            <a:solidFill>
              <a:srgbClr val="FF4D6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" y="3794760"/>
            <a:ext cx="4846320" cy="1417320"/>
          </a:xfrm>
          <a:prstGeom prst="roundRect">
            <a:avLst>
              <a:gd name="adj" fmla="val 7742"/>
            </a:avLst>
          </a:prstGeom>
          <a:solidFill>
            <a:srgbClr val="0F1C2F"/>
          </a:solidFill>
          <a:ln w="12700">
            <a:solidFill>
              <a:srgbClr val="FF9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0416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3D"/>
                </a:solidFill>
              </a:rPr>
              <a:t>Punto de diagnóstico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434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F"/>
                </a:solidFill>
              </a:rPr>
              <a:t>Al principio el salto del LED parecía otro problema. Después vimos que seguía el sentido que DoorMotor informaba.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172200" y="3794760"/>
            <a:ext cx="4846320" cy="1417320"/>
          </a:xfrm>
          <a:prstGeom prst="roundRect">
            <a:avLst>
              <a:gd name="adj" fmla="val 7742"/>
            </a:avLst>
          </a:prstGeom>
          <a:solidFill>
            <a:srgbClr val="0B2A1A"/>
          </a:solidFill>
          <a:ln w="12700">
            <a:solidFill>
              <a:srgbClr val="29E2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E27D"/>
                </a:solidFill>
              </a:rPr>
              <a:t>Conclusión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4434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8FF"/>
                </a:solidFill>
              </a:rPr>
              <a:t>El LED no causaba el tironeo: lo hacía visible. Era evidencia de la inversión breve de sentido comandada al puente H.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Vista completa: FSM cooperativas en paralelo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Mapa general de relaciones entre producto, posicionamiento y LED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90AE"/>
                </a:solidFill>
              </a:rPr>
              <a:t>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1201400" cy="0"/>
          </a:xfrm>
          <a:prstGeom prst="line">
            <a:avLst/>
          </a:prstGeom>
          <a:noFill/>
          <a:ln w="15240">
            <a:solidFill>
              <a:srgbClr val="21D4E8"/>
            </a:solidFill>
            <a:prstDash val="solid"/>
          </a:ln>
        </p:spPr>
      </p:sp>
      <p:pic>
        <p:nvPicPr>
          <p:cNvPr id="8" name="Image 0" descr="/mnt/data/ci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942858"/>
            <a:ext cx="11750040" cy="32008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59893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Este gráfico es el mapa conceptual para explicar la convivencia: la FSM superior ordena, DoorMotion ejecuta el posicionamiento y CLedStrip traduce estados/sentidos a visualización.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Ejemplo de convivencia: ciclo FWD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En una apertura el usuario ve simultaneidad, pero el firmware trabaja cooperativamente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90AE"/>
                </a:solidFill>
              </a:rPr>
              <a:t>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1201400" cy="0"/>
          </a:xfrm>
          <a:prstGeom prst="line">
            <a:avLst/>
          </a:prstGeom>
          <a:noFill/>
          <a:ln w="15240">
            <a:solidFill>
              <a:srgbClr val="21D4E8"/>
            </a:solidFill>
            <a:prstDash val="solid"/>
          </a:ln>
        </p:spPr>
      </p:sp>
      <p:pic>
        <p:nvPicPr>
          <p:cNvPr id="8" name="Image 0" descr="/mnt/data/se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141" y="1261872"/>
            <a:ext cx="2994397" cy="5074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03520" y="1417320"/>
            <a:ext cx="6309360" cy="1097280"/>
          </a:xfrm>
          <a:prstGeom prst="roundRect">
            <a:avLst>
              <a:gd name="adj" fmla="val 10000"/>
            </a:avLst>
          </a:prstGeom>
          <a:solidFill>
            <a:srgbClr val="0F1C2F"/>
          </a:solidFill>
          <a:ln w="12700">
            <a:solidFill>
              <a:srgbClr val="3BA2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A2FF"/>
                </a:solidFill>
              </a:rPr>
              <a:t>Mientras la puerta abre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32120" y="202996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8FF"/>
                </a:solidFill>
              </a:rPr>
              <a:t>La FSM superior está en DEV_OPENING_FWD y espera el resultado de DoorMotion. STOP conserva prioridad de comando.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03520" y="2788920"/>
            <a:ext cx="6309360" cy="1097280"/>
          </a:xfrm>
          <a:prstGeom prst="roundRect">
            <a:avLst>
              <a:gd name="adj" fmla="val 10000"/>
            </a:avLst>
          </a:prstGeom>
          <a:solidFill>
            <a:srgbClr val="0F1C2F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3212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D4E8"/>
                </a:solidFill>
              </a:rPr>
              <a:t>DoorMotion está en MOVING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32120" y="340156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8FF"/>
                </a:solidFill>
              </a:rPr>
              <a:t>Lee sensor, calcula control, acciona motor y detecta llegada, cruce, stall o timeout cada ~5 ms.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303520" y="4160520"/>
            <a:ext cx="6309360" cy="1097280"/>
          </a:xfrm>
          <a:prstGeom prst="roundRect">
            <a:avLst>
              <a:gd name="adj" fmla="val 10000"/>
            </a:avLst>
          </a:prstGeom>
          <a:solidFill>
            <a:srgbClr val="0F1C2F"/>
          </a:solidFill>
          <a:ln w="12700">
            <a:solidFill>
              <a:srgbClr val="FF9F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4434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3D"/>
                </a:solidFill>
              </a:rPr>
              <a:t>CLedStrip está en MOVING_FWD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32120" y="477316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8FF"/>
                </a:solidFill>
              </a:rPr>
              <a:t>La animación corre por su propio timer. No mueve motor ni bloquea control.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Qué errores evita esta arquitectura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El valor no es sólo “ordenar código”: es poder diagnosticar sin romper lo que funciona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90AE"/>
                </a:solidFill>
              </a:rPr>
              <a:t>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1201400" cy="0"/>
          </a:xfrm>
          <a:prstGeom prst="line">
            <a:avLst/>
          </a:prstGeom>
          <a:noFill/>
          <a:ln w="15240">
            <a:solidFill>
              <a:srgbClr val="21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10652760" cy="804672"/>
          </a:xfrm>
          <a:prstGeom prst="roundRect">
            <a:avLst>
              <a:gd name="adj" fmla="val 13636"/>
            </a:avLst>
          </a:prstGeom>
          <a:solidFill>
            <a:srgbClr val="0F1C2F"/>
          </a:solidFill>
          <a:ln w="12700">
            <a:solidFill>
              <a:srgbClr val="2743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01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D4E8"/>
                </a:solidFill>
              </a:rPr>
              <a:t>Volver al monolito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94760" y="18013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Todo mezclado: app, LEDs, motor, sensor, timers y seguridad.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10652760" cy="804672"/>
          </a:xfrm>
          <a:prstGeom prst="roundRect">
            <a:avLst>
              <a:gd name="adj" fmla="val 13636"/>
            </a:avLst>
          </a:prstGeom>
          <a:solidFill>
            <a:srgbClr val="0F1C2F"/>
          </a:solidFill>
          <a:ln w="12700">
            <a:solidFill>
              <a:srgbClr val="2743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898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D4E8"/>
                </a:solidFill>
              </a:rPr>
              <a:t>Bloquear el loop()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94760" y="28986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Una espera larga impide atender STOP, DANGER o el host.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794760"/>
            <a:ext cx="10652760" cy="804672"/>
          </a:xfrm>
          <a:prstGeom prst="roundRect">
            <a:avLst>
              <a:gd name="adj" fmla="val 13636"/>
            </a:avLst>
          </a:prstGeom>
          <a:solidFill>
            <a:srgbClr val="0F1C2F"/>
          </a:solidFill>
          <a:ln w="12700">
            <a:solidFill>
              <a:srgbClr val="FF9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995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F3D"/>
                </a:solidFill>
              </a:rPr>
              <a:t>Confundir causa con síntoma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94760" y="39959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El LED parecía fallar; en realidad mostraba el sentido real del motor.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892040"/>
            <a:ext cx="10652760" cy="804672"/>
          </a:xfrm>
          <a:prstGeom prst="roundRect">
            <a:avLst>
              <a:gd name="adj" fmla="val 13636"/>
            </a:avLst>
          </a:prstGeom>
          <a:solidFill>
            <a:srgbClr val="0F1C2F"/>
          </a:solidFill>
          <a:ln w="12700">
            <a:solidFill>
              <a:srgbClr val="2743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093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D4E8"/>
                </a:solidFill>
              </a:rPr>
              <a:t>Tocar todo a la vez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94760" y="50932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Sin modos de ejecución se pierde el baseline y no se sabe qué cambió.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1D4E8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1089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Cierre: tres FSM, una sola intención de producto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DD6"/>
                </a:solidFill>
              </a:rPr>
              <a:t>El .ino coordina; cada módulo conserva su estado y su responsabilidad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18520" y="365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290AE"/>
                </a:solidFill>
              </a:rPr>
              <a:t>FSM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11201400" cy="0"/>
          </a:xfrm>
          <a:prstGeom prst="line">
            <a:avLst/>
          </a:prstGeom>
          <a:noFill/>
          <a:ln w="15240">
            <a:solidFill>
              <a:srgbClr val="21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508760"/>
            <a:ext cx="10332720" cy="1051560"/>
          </a:xfrm>
          <a:prstGeom prst="roundRect">
            <a:avLst>
              <a:gd name="adj" fmla="val 10435"/>
            </a:avLst>
          </a:prstGeom>
          <a:solidFill>
            <a:srgbClr val="0B2A1A"/>
          </a:solidFill>
          <a:ln w="12700">
            <a:solidFill>
              <a:srgbClr val="29E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E27D"/>
                </a:solidFill>
              </a:rPr>
              <a:t>Arquitectura como herramienta de I+D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12140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</a:rPr>
              <a:t>La modularización permitió probar, aislar, simular y corregir sin perder el control del sistema completo.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0F1C2F"/>
          </a:solidFill>
          <a:ln w="12700">
            <a:solidFill>
              <a:srgbClr val="3BA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2FF"/>
                </a:solidFill>
              </a:rPr>
              <a:t>Producto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Decide qué debe pasar: READY, abrir, esperar, cerrar, detener o alertar.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92608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0F1C2F"/>
          </a:solidFill>
          <a:ln w="12700">
            <a:solidFill>
              <a:srgbClr val="21D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D4E8"/>
                </a:solidFill>
              </a:rPr>
              <a:t>Movimiento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Lee posición, calcula control y devuelve resultado físico.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292608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0F1C2F"/>
          </a:solidFill>
          <a:ln w="12700">
            <a:solidFill>
              <a:srgbClr val="FF9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F3D"/>
                </a:solidFill>
              </a:rPr>
              <a:t>LED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Comunica al usuario lo que el sistema realmente está haciendo.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5468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</a:rPr>
              <a:t>Conclusión didáctica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58064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F"/>
                </a:solidFill>
              </a:rPr>
              <a:t>La concurrencia en firmware embebido muchas veces no empieza con hilos: empieza con estados pequeños, updates rápidos y responsabilidades claras.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8912" y="6492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esp32-motorized-door-controller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69848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290AE"/>
                </a:solidFill>
              </a:rPr>
              <a:t>FSM · 11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esp32-motorized-door-controller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FSM cooperativas: dispositivo, movimiento y LED</dc:title>
  <dc:subject>FSM cooperativas - esp32-motorized-door-controller</dc:subject>
  <dc:creator>OpenAI</dc:creator>
  <cp:lastModifiedBy>OpenAI</cp:lastModifiedBy>
  <cp:revision>1</cp:revision>
  <dcterms:created xsi:type="dcterms:W3CDTF">2026-08-09T14:57:26Z</dcterms:created>
  <dcterms:modified xsi:type="dcterms:W3CDTF">2026-08-09T14:57:26Z</dcterms:modified>
</cp:coreProperties>
</file>