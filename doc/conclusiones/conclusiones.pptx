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pic>
        <p:nvPicPr>
          <p:cNvPr id="5" name="Image 0" descr="/mnt/data/controlador_de_puerta_esp32_intelig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919" y="320040"/>
            <a:ext cx="812368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257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Conclusiones y próximos pasos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21792" y="57241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3D8"/>
                </a:solidFill>
              </a:rPr>
              <a:t>Del prototipo funcional a escala al comienzo de un proyecto profesional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75320" y="5394960"/>
            <a:ext cx="3200400" cy="310896"/>
          </a:xfrm>
          <a:prstGeom prst="roundRect">
            <a:avLst>
              <a:gd name="adj" fmla="val 23529"/>
            </a:avLst>
          </a:prstGeom>
          <a:solidFill>
            <a:srgbClr val="2EE7F0">
              <a:alpha val="20000"/>
            </a:srgbClr>
          </a:solidFill>
          <a:ln w="13970">
            <a:solidFill>
              <a:srgbClr val="2EE7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5048" y="5468112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EE7F0"/>
                </a:solidFill>
              </a:rPr>
              <a:t>I+D · aprendizaje aplicado · ingeniería de producto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Lo que realmente quedó demostrado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No fue “hacer girar un motor”: fue construir una cadena técnica verificable.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08760"/>
            <a:ext cx="10835640" cy="4251960"/>
          </a:xfrm>
          <a:prstGeom prst="roundRect">
            <a:avLst>
              <a:gd name="adj" fmla="val 1720"/>
            </a:avLst>
          </a:prstGeom>
          <a:solidFill>
            <a:srgbClr val="0B1627"/>
          </a:solidFill>
          <a:ln w="12700">
            <a:solidFill>
              <a:srgbClr val="2141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755648"/>
            <a:ext cx="475488" cy="475488"/>
          </a:xfrm>
          <a:prstGeom prst="ellipse">
            <a:avLst/>
          </a:prstGeom>
          <a:solidFill>
            <a:srgbClr val="2EE7F0">
              <a:alpha val="80000"/>
            </a:srgbClr>
          </a:solidFill>
          <a:ln w="13970">
            <a:solidFill>
              <a:srgbClr val="2E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28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64208" y="17830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7F0"/>
                </a:solidFill>
              </a:rPr>
              <a:t>Hardware y mecánica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1783080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El prototipo impreso en 3D pudo mover la puerta y leer posición absoluta.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2313432"/>
            <a:ext cx="9966960" cy="0"/>
          </a:xfrm>
          <a:prstGeom prst="line">
            <a:avLst/>
          </a:prstGeom>
          <a:noFill/>
          <a:ln w="10160">
            <a:solidFill>
              <a:srgbClr val="2038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2505456"/>
            <a:ext cx="475488" cy="475488"/>
          </a:xfrm>
          <a:prstGeom prst="ellipse">
            <a:avLst/>
          </a:prstGeom>
          <a:solidFill>
            <a:srgbClr val="2BD676">
              <a:alpha val="80000"/>
            </a:srgbClr>
          </a:solidFill>
          <a:ln w="13970">
            <a:solidFill>
              <a:srgbClr val="2BD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5786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64208" y="25328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Arquitectura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2532888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El firmware dejó de ser monolítico y pasó a módulos con responsabilidades claras.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" y="3063240"/>
            <a:ext cx="9966960" cy="0"/>
          </a:xfrm>
          <a:prstGeom prst="line">
            <a:avLst/>
          </a:prstGeom>
          <a:noFill/>
          <a:ln w="10160">
            <a:solidFill>
              <a:srgbClr val="2038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255264"/>
            <a:ext cx="475488" cy="475488"/>
          </a:xfrm>
          <a:prstGeom prst="ellipse">
            <a:avLst/>
          </a:prstGeom>
          <a:solidFill>
            <a:srgbClr val="FFD24A">
              <a:alpha val="80000"/>
            </a:srgbClr>
          </a:solidFill>
          <a:ln w="13970">
            <a:solidFill>
              <a:srgbClr val="FFD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3284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64208" y="32826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4A"/>
                </a:solidFill>
              </a:rPr>
              <a:t>Control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282696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El PWM fijo mostró límites; la planta se midió; la simulación orientó el ajuste.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1560" y="3813048"/>
            <a:ext cx="9966960" cy="0"/>
          </a:xfrm>
          <a:prstGeom prst="line">
            <a:avLst/>
          </a:prstGeom>
          <a:noFill/>
          <a:ln w="10160">
            <a:solidFill>
              <a:srgbClr val="2038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4005072"/>
            <a:ext cx="475488" cy="475488"/>
          </a:xfrm>
          <a:prstGeom prst="ellipse">
            <a:avLst/>
          </a:prstGeom>
          <a:solidFill>
            <a:srgbClr val="FF9A3D">
              <a:alpha val="80000"/>
            </a:srgbClr>
          </a:solidFill>
          <a:ln w="13970">
            <a:solidFill>
              <a:srgbClr val="FF9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0782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64208" y="40325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A3D"/>
                </a:solidFill>
              </a:rPr>
              <a:t>Diagnóstico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4032504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El caso motor nuevo + LED mostró cómo aislar variables y revisar hipótesis.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51560" y="4562856"/>
            <a:ext cx="9966960" cy="0"/>
          </a:xfrm>
          <a:prstGeom prst="line">
            <a:avLst/>
          </a:prstGeom>
          <a:noFill/>
          <a:ln w="10160">
            <a:solidFill>
              <a:srgbClr val="2038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754880"/>
            <a:ext cx="475488" cy="475488"/>
          </a:xfrm>
          <a:prstGeom prst="ellipse">
            <a:avLst/>
          </a:prstGeom>
          <a:solidFill>
            <a:srgbClr val="9B6BFF">
              <a:alpha val="80000"/>
            </a:srgbClr>
          </a:solidFill>
          <a:ln w="13970">
            <a:solidFill>
              <a:srgbClr val="9B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8280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64208" y="47823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BFF"/>
                </a:solidFill>
              </a:rPr>
              <a:t>Producto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26280" y="4782312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La app expuso operación, diagnóstico y configuración sin reemplazar la lógica del firmware.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188720" y="6016752"/>
            <a:ext cx="9784080" cy="502920"/>
          </a:xfrm>
          <a:prstGeom prst="roundRect">
            <a:avLst>
              <a:gd name="adj" fmla="val 18182"/>
            </a:avLst>
          </a:prstGeom>
          <a:solidFill>
            <a:srgbClr val="0D1A2C"/>
          </a:solidFill>
          <a:ln w="13970">
            <a:solidFill>
              <a:srgbClr val="2EE7F0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44752" y="6245352"/>
            <a:ext cx="927201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La instrumentación entrega datos. El criterio técnico decide qué significan y qué prueba sigue.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El recorrido importó tanto como el resultado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Cada etapa dejó una baseline y una razón para avanzar.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pic>
        <p:nvPicPr>
          <p:cNvPr id="8" name="Image 0" descr="/mnt/data/evolución_del_proyecto_hoja_de_ruta_tecnológ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325880"/>
            <a:ext cx="739255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8064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Este orden evitó saltar directo a PID, app o producto sin entender primero la planta real.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La arquitectura fue una herramienta de I+D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No fue prolijidad estética: permitió probar, aislar y volver atrás sin perder lo validado.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pic>
        <p:nvPicPr>
          <p:cNvPr id="8" name="Image 0" descr="/mnt/data/arquitectura_del_sistema_embeb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21969"/>
            <a:ext cx="7132320" cy="401406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09560" y="1444752"/>
            <a:ext cx="3566160" cy="3986784"/>
          </a:xfrm>
          <a:prstGeom prst="roundRect">
            <a:avLst>
              <a:gd name="adj" fmla="val 2051"/>
            </a:avLst>
          </a:prstGeom>
          <a:solidFill>
            <a:srgbClr val="0D1A2C"/>
          </a:solidFill>
          <a:ln w="12700">
            <a:solidFill>
              <a:srgbClr val="2141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83880" y="17373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E7F0"/>
                </a:solidFill>
              </a:rPr>
              <a:t>Qué habilitó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183880" y="2075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03336" y="2057400"/>
            <a:ext cx="270662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mantener motion_mode=0 como baseline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183880" y="25146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03336" y="2496312"/>
            <a:ext cx="270662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cambiar estrategias sin reescribir todo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183880" y="29535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03336" y="2935224"/>
            <a:ext cx="270662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simular movimiento de LED sin motor real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183880" y="33924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403336" y="3374136"/>
            <a:ext cx="270662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separar comunicación, memoria y FSM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83880" y="38313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03336" y="3813048"/>
            <a:ext cx="270662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diagnosticar fallas por comparación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60120" y="5806440"/>
            <a:ext cx="10241280" cy="502920"/>
          </a:xfrm>
          <a:prstGeom prst="roundRect">
            <a:avLst>
              <a:gd name="adj" fmla="val 18182"/>
            </a:avLst>
          </a:prstGeom>
          <a:solidFill>
            <a:srgbClr val="0D1A2C"/>
          </a:solidFill>
          <a:ln w="13970">
            <a:solidFill>
              <a:srgbClr val="2BD676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16152" y="6035040"/>
            <a:ext cx="972921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Arquitectura escalable = capacidad de investigar sin destruir la evidencia anterior.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Control: la pregunta no es “¿tiene PID?”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La pregunta correcta es: ¿qué necesita esta planta para comportarse bien?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4592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0C1729"/>
          </a:solidFill>
          <a:ln w="12700">
            <a:solidFill>
              <a:srgbClr val="4FA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4752" y="1874520"/>
            <a:ext cx="475488" cy="475488"/>
          </a:xfrm>
          <a:prstGeom prst="ellipse">
            <a:avLst/>
          </a:prstGeom>
          <a:solidFill>
            <a:srgbClr val="4FA8FF">
              <a:alpha val="80000"/>
            </a:srgbClr>
          </a:solidFill>
          <a:ln w="13970">
            <a:solidFill>
              <a:srgbClr val="4F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1947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A8FF"/>
                </a:solidFill>
              </a:rPr>
              <a:t>PWM fijo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1691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mueve, pero depende de carga, sentido e inercia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164592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0C1729"/>
          </a:solidFill>
          <a:ln w="12700">
            <a:solidFill>
              <a:srgbClr val="FFD2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5032" y="1874520"/>
            <a:ext cx="475488" cy="475488"/>
          </a:xfrm>
          <a:prstGeom prst="ellipse">
            <a:avLst/>
          </a:prstGeom>
          <a:solidFill>
            <a:srgbClr val="FFD24A">
              <a:alpha val="80000"/>
            </a:srgbClr>
          </a:solidFill>
          <a:ln w="13970">
            <a:solidFill>
              <a:srgbClr val="FFD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1947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24A"/>
                </a:solidFill>
              </a:rPr>
              <a:t>Approach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2880360"/>
            <a:ext cx="1691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mejora arranque, pero aumenta parámetros empíricos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164592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0C1729"/>
          </a:solidFill>
          <a:ln w="12700">
            <a:solidFill>
              <a:srgbClr val="2BD6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25312" y="1874520"/>
            <a:ext cx="475488" cy="475488"/>
          </a:xfrm>
          <a:prstGeom prst="ellipse">
            <a:avLst/>
          </a:prstGeom>
          <a:solidFill>
            <a:srgbClr val="2BD676">
              <a:alpha val="80000"/>
            </a:srgbClr>
          </a:solidFill>
          <a:ln w="13970">
            <a:solidFill>
              <a:srgbClr val="2BD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1947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Planta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1691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medir antes de ajustar: PWM → velocidad → travel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164592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0C1729"/>
          </a:solidFill>
          <a:ln w="12700">
            <a:solidFill>
              <a:srgbClr val="9B6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65592" y="1874520"/>
            <a:ext cx="475488" cy="475488"/>
          </a:xfrm>
          <a:prstGeom prst="ellipse">
            <a:avLst/>
          </a:prstGeom>
          <a:solidFill>
            <a:srgbClr val="9B6BFF">
              <a:alpha val="80000"/>
            </a:srgbClr>
          </a:solidFill>
          <a:ln w="13970">
            <a:solidFill>
              <a:srgbClr val="9B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947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8952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6BFF"/>
                </a:solidFill>
              </a:rPr>
              <a:t>Simulación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2880360"/>
            <a:ext cx="1691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reduce búsqueda, no reemplaza el hardware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46920" y="164592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0C1729"/>
          </a:solidFill>
          <a:ln w="12700">
            <a:solidFill>
              <a:srgbClr val="2E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05872" y="1874520"/>
            <a:ext cx="475488" cy="475488"/>
          </a:xfrm>
          <a:prstGeom prst="ellipse">
            <a:avLst/>
          </a:prstGeom>
          <a:solidFill>
            <a:srgbClr val="2EE7F0">
              <a:alpha val="80000"/>
            </a:srgbClr>
          </a:solidFill>
          <a:ln w="13970">
            <a:solidFill>
              <a:srgbClr val="2E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05872" y="1947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29800" y="2514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E7F0"/>
                </a:solidFill>
              </a:rPr>
              <a:t>Control real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29800" y="2880360"/>
            <a:ext cx="1691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la evidencia posterior simplificó a 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400" y="4343400"/>
            <a:ext cx="10378440" cy="685800"/>
          </a:xfrm>
          <a:prstGeom prst="roundRect">
            <a:avLst>
              <a:gd name="adj" fmla="val 13333"/>
            </a:avLst>
          </a:prstGeom>
          <a:solidFill>
            <a:srgbClr val="0D1A2C"/>
          </a:solidFill>
          <a:ln w="13970">
            <a:solidFill>
              <a:srgbClr val="2EE7F0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4572000"/>
            <a:ext cx="9866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La simulación estuvo cerca porque antes se hizo bien el trabajo: identificar la planta, simular y conservar baseline.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468880" y="534924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120C1E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553212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A3D"/>
                </a:solidFill>
              </a:rPr>
              <a:t>Próxima decisión técnica: qué hacer definitivamente con D en esta planta y cómo justificarlo con medición.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El software mínimo ya no es una sola FSM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Dispositivo, posicionamiento y LED conviven en un superloop cooperativo.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pic>
        <p:nvPicPr>
          <p:cNvPr id="8" name="Image 0" descr="/mnt/data/ci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070" y="1371600"/>
            <a:ext cx="10909100" cy="2971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4800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C1729"/>
          </a:solidFill>
          <a:ln w="12700">
            <a:solidFill>
              <a:srgbClr val="2BD6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" y="49743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D676"/>
                </a:solidFill>
              </a:rPr>
              <a:t>FSM superior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0392" y="5285232"/>
            <a:ext cx="23042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decide qué estados del producto son válidos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93008" y="4800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C1729"/>
          </a:solidFill>
          <a:ln w="12700">
            <a:solidFill>
              <a:srgbClr val="2EE7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49743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E7F0"/>
                </a:solidFill>
              </a:rPr>
              <a:t>DoorMotion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657600" y="5285232"/>
            <a:ext cx="23042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ejecuta target, control, llegada, stall y settle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300216" y="4800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C1729"/>
          </a:solidFill>
          <a:ln w="12700">
            <a:solidFill>
              <a:srgbClr val="FFD2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49743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24A"/>
                </a:solidFill>
              </a:rPr>
              <a:t>LedStrip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64808" y="5285232"/>
            <a:ext cx="23042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muestra estado y sentido sin bloquear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07424" y="4800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C1729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53728" y="49743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4D6D"/>
                </a:solidFill>
              </a:rPr>
              <a:t>Switch DANGER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272016" y="5285232"/>
            <a:ext cx="23042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evento aceptado solo cuando la FSM superior lo permite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68680" y="6016752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Lección: el paralelismo útil no es “todo al mismo tiempo”, sino estados independientes actualizados sin bloquear.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La app abre el primer frente de producto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Ya no alcanza con que el firmware funcione: el operador necesita interpretar, configurar y diagnosticar.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pic>
        <p:nvPicPr>
          <p:cNvPr id="8" name="Image 0" descr="/mnt/data/image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7191" y="1371600"/>
            <a:ext cx="6661419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553212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0D1A2C"/>
          </a:solidFill>
          <a:ln w="12700">
            <a:solidFill>
              <a:srgbClr val="2EE7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57332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EE7F0"/>
                </a:solidFill>
              </a:rPr>
              <a:t>La app debe seguir los estados reales del firmware, no inferirlos por intuición.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6446520" y="553212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170D17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57332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9A3D"/>
                </a:solidFill>
              </a:rPr>
              <a:t>Pendiente inmediato: corregir comportamientos ante desconexión y recuperación.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Próxima etapa técnica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Lo que sigue ya no es “agregar una feature”: es empezar a acercarse a ingeniería de producto.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0C1729"/>
          </a:solidFill>
          <a:ln w="12700">
            <a:solidFill>
              <a:srgbClr val="9B6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691640"/>
            <a:ext cx="475488" cy="475488"/>
          </a:xfrm>
          <a:prstGeom prst="ellipse">
            <a:avLst/>
          </a:prstGeom>
          <a:solidFill>
            <a:srgbClr val="9B6BFF">
              <a:alpha val="80000"/>
            </a:srgbClr>
          </a:solidFill>
          <a:ln w="13970">
            <a:solidFill>
              <a:srgbClr val="9B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7647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6BFF"/>
                </a:solidFill>
              </a:rPr>
              <a:t>Control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212848"/>
            <a:ext cx="21488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decidir qué hacer con D y cómo demostrarlo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0C1729"/>
          </a:solidFill>
          <a:ln w="12700">
            <a:solidFill>
              <a:srgbClr val="4FA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7992" y="1691640"/>
            <a:ext cx="475488" cy="475488"/>
          </a:xfrm>
          <a:prstGeom prst="ellipse">
            <a:avLst/>
          </a:prstGeom>
          <a:solidFill>
            <a:srgbClr val="4FA8FF">
              <a:alpha val="80000"/>
            </a:srgbClr>
          </a:solidFill>
          <a:ln w="13970">
            <a:solidFill>
              <a:srgbClr val="4F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7647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A8FF"/>
                </a:solidFill>
              </a:rPr>
              <a:t>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212848"/>
            <a:ext cx="21488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robustecer desconexión, estados y recuperación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0" y="14630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0C1729"/>
          </a:solidFill>
          <a:ln w="12700">
            <a:solidFill>
              <a:srgbClr val="2BD6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28432" y="1691640"/>
            <a:ext cx="475488" cy="475488"/>
          </a:xfrm>
          <a:prstGeom prst="ellipse">
            <a:avLst/>
          </a:prstGeom>
          <a:solidFill>
            <a:srgbClr val="2BD676">
              <a:alpha val="80000"/>
            </a:srgbClr>
          </a:solidFill>
          <a:ln w="13970">
            <a:solidFill>
              <a:srgbClr val="2BD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17647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4108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676"/>
                </a:solidFill>
              </a:rPr>
              <a:t>Escala real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41080" y="2212848"/>
            <a:ext cx="21488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prototipo representativo y verificación del controlador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3703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0C1729"/>
          </a:solidFill>
          <a:ln w="12700">
            <a:solidFill>
              <a:srgbClr val="FFD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3931920"/>
            <a:ext cx="475488" cy="475488"/>
          </a:xfrm>
          <a:prstGeom prst="ellipse">
            <a:avLst/>
          </a:prstGeom>
          <a:solidFill>
            <a:srgbClr val="FFD24A">
              <a:alpha val="80000"/>
            </a:srgbClr>
          </a:solidFill>
          <a:ln w="13970">
            <a:solidFill>
              <a:srgbClr val="FFD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0050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0020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4A"/>
                </a:solidFill>
              </a:rPr>
              <a:t>Mecánica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0200" y="4453128"/>
            <a:ext cx="21488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embrague, solenoide y bloqueo si debe impedir paso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43400" y="3703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0C1729"/>
          </a:solidFill>
          <a:ln w="12700">
            <a:solidFill>
              <a:srgbClr val="2E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7992" y="3931920"/>
            <a:ext cx="475488" cy="475488"/>
          </a:xfrm>
          <a:prstGeom prst="ellipse">
            <a:avLst/>
          </a:prstGeom>
          <a:solidFill>
            <a:srgbClr val="2EE7F0">
              <a:alpha val="80000"/>
            </a:srgbClr>
          </a:solidFill>
          <a:ln w="13970">
            <a:solidFill>
              <a:srgbClr val="2E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40050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2064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7F0"/>
                </a:solidFill>
              </a:rPr>
              <a:t>Hardware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20640" y="4453128"/>
            <a:ext cx="21488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nuevo controlador, protecciones, conectores, PCB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63840" y="37033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0C1729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28432" y="3931920"/>
            <a:ext cx="475488" cy="475488"/>
          </a:xfrm>
          <a:prstGeom prst="ellipse">
            <a:avLst/>
          </a:prstGeom>
          <a:solidFill>
            <a:srgbClr val="FF9A3D">
              <a:alpha val="80000"/>
            </a:srgbClr>
          </a:solidFill>
          <a:ln w="13970">
            <a:solidFill>
              <a:srgbClr val="FF9A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40050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64108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A3D"/>
                </a:solidFill>
              </a:rPr>
              <a:t>Costo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641080" y="4453128"/>
            <a:ext cx="21488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BOM real, proveedores, montaje, repetibilidad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Escala real: cambia la planta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El mini modelo valida el camino; una puerta real agrega masa, rozamiento, tolerancias y seguridad.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0C1729"/>
          </a:solidFill>
          <a:ln w="12700">
            <a:solidFill>
              <a:srgbClr val="4FA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830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A8FF"/>
                </a:solidFill>
              </a:rPr>
              <a:t>Mini prototipo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" y="2167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8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62456" y="2148840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motor N20 pequeño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8FF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62456" y="2587752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cargas acotadas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8FF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62456" y="3026664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piezas impresas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3483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8FF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62456" y="3465576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sin embrague ni traba real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3922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8FF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62456" y="3904488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gran valor para aprender y validar arquitectura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86600" y="150876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0C1729"/>
          </a:solidFill>
          <a:ln w="12700">
            <a:solidFill>
              <a:srgbClr val="2BD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830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D676"/>
                </a:solidFill>
              </a:rPr>
              <a:t>Equipo real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06640" y="2167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26096" y="2148840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motor/eje/acople dimensionados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06640" y="2606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6096" y="2587752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puerta, rodamientos y estructura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06640" y="30449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6096" y="3026664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variaciones entre unidades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06640" y="3483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26096" y="3465576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BOM, proveedores y procesos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06640" y="3922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D676"/>
                </a:solidFill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26096" y="3904488"/>
            <a:ext cx="33467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seguridad mecánica y normativa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0" y="3154680"/>
            <a:ext cx="1005840" cy="566928"/>
          </a:xfrm>
          <a:prstGeom prst="rightArrow">
            <a:avLst/>
          </a:prstGeom>
          <a:solidFill>
            <a:srgbClr val="2EE7F0"/>
          </a:solidFill>
          <a:ln w="12700">
            <a:solidFill>
              <a:srgbClr val="2E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5925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La sintonía real se vuelve una decisión de población de plantas, no de una unidad aislada.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Prototipo no es producción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El entusiasmo construye el primer prototipo; la disciplina industrial sostiene el producto.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63040"/>
            <a:ext cx="10972800" cy="4206240"/>
          </a:xfrm>
          <a:prstGeom prst="roundRect">
            <a:avLst>
              <a:gd name="adj" fmla="val 1739"/>
            </a:avLst>
          </a:prstGeom>
          <a:solidFill>
            <a:srgbClr val="0D1A2C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830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A3D"/>
                </a:solidFill>
              </a:rPr>
              <a:t>En experiencia real, llevar un equipo a producción puede tomar años.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423160"/>
            <a:ext cx="9509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Un equipo de 6 personas con experiencia puede pasar largos ciclos resolviendo detalles de fabricación, proveedores, tooling, repetibilidad, pruebas y documentación.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17320" y="370332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0C1729"/>
          </a:solidFill>
          <a:ln w="12700">
            <a:solidFill>
              <a:srgbClr val="2BD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39044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D676"/>
                </a:solidFill>
              </a:rPr>
              <a:t>Prototipo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18488" y="4279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funciona una vez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453128" y="40873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718E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74920" y="370332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0C1729"/>
          </a:solidFill>
          <a:ln w="12700">
            <a:solidFill>
              <a:srgbClr val="FFD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9044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D24A"/>
                </a:solidFill>
              </a:rPr>
              <a:t>Pre-serie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76088" y="4279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funciona muchas veces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110728" y="40873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718E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732520" y="370332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0C1729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39044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4D6D"/>
                </a:solidFill>
              </a:rPr>
              <a:t>Producción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933688" y="4279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funciona repetible, seguro y costo viable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60120" y="591616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C3D8"/>
                </a:solidFill>
              </a:rPr>
              <a:t>A veces el desafío no es diseñar la pieza: es fabricar la pieza correcta cuando el proveedor intenta llevarte a la pieza que a él le conviene.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10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Las partes que vienen pesan más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2064" y="86868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3D8"/>
                </a:solidFill>
              </a:rPr>
              <a:t>Cuando se acerca el producto real, crece la presión y bajan los márgenes para improvisar.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5875">
            <a:solidFill>
              <a:srgbClr val="2E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45920"/>
            <a:ext cx="4937760" cy="4023360"/>
          </a:xfrm>
          <a:prstGeom prst="roundRect">
            <a:avLst>
              <a:gd name="adj" fmla="val 1818"/>
            </a:avLst>
          </a:prstGeom>
          <a:solidFill>
            <a:srgbClr val="0C1729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965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6D"/>
                </a:solidFill>
              </a:rPr>
              <a:t>Presión técnica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" y="24414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62456" y="242316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seguridad de personas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944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62456" y="292608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fallas repetibles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472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62456" y="342900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ensayos formales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9502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62456" y="393192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documentación y trazabilidad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53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62456" y="443484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BOM y costo objetivo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1645920"/>
            <a:ext cx="4937760" cy="4023360"/>
          </a:xfrm>
          <a:prstGeom prst="roundRect">
            <a:avLst>
              <a:gd name="adj" fmla="val 1818"/>
            </a:avLst>
          </a:prstGeom>
          <a:solidFill>
            <a:srgbClr val="0C1729"/>
          </a:solidFill>
          <a:ln w="12700">
            <a:solidFill>
              <a:srgbClr val="2E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965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E7F0"/>
                </a:solidFill>
              </a:rPr>
              <a:t>Presión industrial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24414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7F0"/>
                </a:solidFill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86016" y="242316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proveedores y fabricación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944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7F0"/>
                </a:solidFill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86016" y="292608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jigs / fixtures de test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34472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7F0"/>
                </a:solidFill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86016" y="342900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firmware actualizable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9502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7F0"/>
                </a:solidFill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86016" y="393192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tolerancias mecánicas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4453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7F0"/>
                </a:solidFill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86016" y="4434840"/>
            <a:ext cx="39867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criterio de aceptación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1560" y="5961888"/>
            <a:ext cx="10058400" cy="502920"/>
          </a:xfrm>
          <a:prstGeom prst="roundRect">
            <a:avLst>
              <a:gd name="adj" fmla="val 18182"/>
            </a:avLst>
          </a:prstGeom>
          <a:solidFill>
            <a:srgbClr val="0D1A2C"/>
          </a:solidFill>
          <a:ln w="13970">
            <a:solidFill>
              <a:srgbClr val="2EE7F0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07592" y="6190488"/>
            <a:ext cx="95463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El proyecto académico muestra el camino. El proyecto profesional exige repetirlo con evidencia, seguridad y escala.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11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7F0">
              <a:alpha val="90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E7F0">
              <a:alpha val="75000"/>
            </a:srgbClr>
          </a:solidFill>
          <a:ln w="12700">
            <a:solidFill>
              <a:srgbClr val="2EE7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498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Conclusión final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44475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EE7F0"/>
                </a:solidFill>
              </a:rPr>
              <a:t>No cerramos un producto. Construimos una base seria para empezar uno.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28016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D676"/>
                </a:solidFill>
              </a:rPr>
              <a:t>Se validó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2880360"/>
            <a:ext cx="685800" cy="0"/>
          </a:xfrm>
          <a:prstGeom prst="line">
            <a:avLst/>
          </a:prstGeom>
          <a:noFill/>
          <a:ln w="15240">
            <a:solidFill>
              <a:srgbClr val="2BD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2743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que la plataforma puede moverse, medirse y configurarse.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24A"/>
                </a:solidFill>
              </a:rPr>
              <a:t>Se aprendió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3447288"/>
            <a:ext cx="685800" cy="0"/>
          </a:xfrm>
          <a:prstGeom prst="line">
            <a:avLst/>
          </a:prstGeom>
          <a:noFill/>
          <a:ln w="15240">
            <a:solidFill>
              <a:srgbClr val="FFD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3310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que la planta real manda sobre la teoría.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8016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9A3D"/>
                </a:solidFill>
              </a:rPr>
              <a:t>Se demostró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4014216"/>
            <a:ext cx="685800" cy="0"/>
          </a:xfrm>
          <a:prstGeom prst="line">
            <a:avLst/>
          </a:prstGeom>
          <a:noFill/>
          <a:ln w="15240">
            <a:solidFill>
              <a:srgbClr val="FF9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38770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que arquitectura y modos de prueba aceleran el diagnóstico.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B6BFF"/>
                </a:solidFill>
              </a:rPr>
              <a:t>Se abrió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4581144"/>
            <a:ext cx="685800" cy="0"/>
          </a:xfrm>
          <a:prstGeom prst="line">
            <a:avLst/>
          </a:prstGeom>
          <a:noFill/>
          <a:ln w="15240">
            <a:solidFill>
              <a:srgbClr val="9B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44439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el camino hacia escala real, seguridad, BOM y producción.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56692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Recién empieza.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esp32-motorized-door-controller · conclusiones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190A7"/>
                </a:solidFill>
              </a:rPr>
              <a:t>12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Conclusiones - Puerta motorizada ESP32</dc:title>
  <dc:subject>Conclusiones y próximos pasos - ESP32 Motorized Door Controller</dc:subject>
  <dc:creator>OpenAI</dc:creator>
  <cp:lastModifiedBy>OpenAI</cp:lastModifiedBy>
  <cp:revision>1</cp:revision>
  <dcterms:created xsi:type="dcterms:W3CDTF">2026-08-09T15:12:50Z</dcterms:created>
  <dcterms:modified xsi:type="dcterms:W3CDTF">2026-08-09T15:12:50Z</dcterms:modified>
</cp:coreProperties>
</file>